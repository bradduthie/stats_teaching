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86" r:id="rId3"/>
    <p:sldId id="293" r:id="rId4"/>
    <p:sldId id="294" r:id="rId5"/>
    <p:sldId id="295" r:id="rId6"/>
    <p:sldId id="296" r:id="rId7"/>
    <p:sldId id="263" r:id="rId8"/>
    <p:sldId id="297" r:id="rId9"/>
    <p:sldId id="298" r:id="rId10"/>
    <p:sldId id="299" r:id="rId11"/>
    <p:sldId id="300" r:id="rId12"/>
    <p:sldId id="301" r:id="rId13"/>
    <p:sldId id="302" r:id="rId14"/>
    <p:sldId id="303" r:id="rId15"/>
    <p:sldId id="304" r:id="rId16"/>
    <p:sldId id="305" r:id="rId17"/>
    <p:sldId id="292" r:id="rId18"/>
    <p:sldId id="306" r:id="rId19"/>
    <p:sldId id="307" r:id="rId20"/>
    <p:sldId id="308" r:id="rId21"/>
    <p:sldId id="309" r:id="rId22"/>
    <p:sldId id="310" r:id="rId23"/>
    <p:sldId id="311" r:id="rId24"/>
    <p:sldId id="312" r:id="rId25"/>
    <p:sldId id="313" r:id="rId26"/>
    <p:sldId id="314" r:id="rId27"/>
    <p:sldId id="315" r:id="rId28"/>
    <p:sldId id="316" r:id="rId29"/>
    <p:sldId id="317" r:id="rId30"/>
    <p:sldId id="318" r:id="rId31"/>
    <p:sldId id="319" r:id="rId32"/>
    <p:sldId id="320" r:id="rId33"/>
    <p:sldId id="321" r:id="rId34"/>
    <p:sldId id="322" r:id="rId35"/>
    <p:sldId id="323" r:id="rId36"/>
    <p:sldId id="324" r:id="rId37"/>
    <p:sldId id="273" r:id="rId38"/>
    <p:sldId id="278" r:id="rId39"/>
    <p:sldId id="325" r:id="rId40"/>
    <p:sldId id="326" r:id="rId41"/>
    <p:sldId id="327" r:id="rId42"/>
    <p:sldId id="328" r:id="rId43"/>
    <p:sldId id="329" r:id="rId44"/>
    <p:sldId id="330" r:id="rId45"/>
    <p:sldId id="331" r:id="rId46"/>
    <p:sldId id="332" r:id="rId47"/>
    <p:sldId id="333" r:id="rId48"/>
    <p:sldId id="334" r:id="rId49"/>
    <p:sldId id="335"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68F6DE-D5BE-72C1-69D0-E3FD499DE6EB}" v="3" dt="2026-04-18T16:30:13.40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ad Duthie" userId="S::ad78@stir.ac.uk::91f2dfe8-4ab1-472c-bdc2-755eae2f61cc" providerId="AD" clId="Web-{C268F6DE-D5BE-72C1-69D0-E3FD499DE6EB}"/>
    <pc:docChg chg="modSld">
      <pc:chgData name="Brad Duthie" userId="S::ad78@stir.ac.uk::91f2dfe8-4ab1-472c-bdc2-755eae2f61cc" providerId="AD" clId="Web-{C268F6DE-D5BE-72C1-69D0-E3FD499DE6EB}" dt="2026-04-18T16:30:13.404" v="2"/>
      <pc:docMkLst>
        <pc:docMk/>
      </pc:docMkLst>
      <pc:sldChg chg="addSp delSp modSp">
        <pc:chgData name="Brad Duthie" userId="S::ad78@stir.ac.uk::91f2dfe8-4ab1-472c-bdc2-755eae2f61cc" providerId="AD" clId="Web-{C268F6DE-D5BE-72C1-69D0-E3FD499DE6EB}" dt="2026-04-18T16:30:13.404" v="2"/>
        <pc:sldMkLst>
          <pc:docMk/>
          <pc:sldMk cId="109857222" sldId="256"/>
        </pc:sldMkLst>
        <pc:spChg chg="mod">
          <ac:chgData name="Brad Duthie" userId="S::ad78@stir.ac.uk::91f2dfe8-4ab1-472c-bdc2-755eae2f61cc" providerId="AD" clId="Web-{C268F6DE-D5BE-72C1-69D0-E3FD499DE6EB}" dt="2026-04-18T16:30:04.420" v="0" actId="20577"/>
          <ac:spMkLst>
            <pc:docMk/>
            <pc:sldMk cId="109857222" sldId="256"/>
            <ac:spMk id="2" creationId="{00000000-0000-0000-0000-000000000000}"/>
          </ac:spMkLst>
        </pc:spChg>
        <pc:spChg chg="del">
          <ac:chgData name="Brad Duthie" userId="S::ad78@stir.ac.uk::91f2dfe8-4ab1-472c-bdc2-755eae2f61cc" providerId="AD" clId="Web-{C268F6DE-D5BE-72C1-69D0-E3FD499DE6EB}" dt="2026-04-18T16:30:08.154" v="1"/>
          <ac:spMkLst>
            <pc:docMk/>
            <pc:sldMk cId="109857222" sldId="256"/>
            <ac:spMk id="3" creationId="{00000000-0000-0000-0000-000000000000}"/>
          </ac:spMkLst>
        </pc:spChg>
        <pc:spChg chg="add del mod">
          <ac:chgData name="Brad Duthie" userId="S::ad78@stir.ac.uk::91f2dfe8-4ab1-472c-bdc2-755eae2f61cc" providerId="AD" clId="Web-{C268F6DE-D5BE-72C1-69D0-E3FD499DE6EB}" dt="2026-04-18T16:30:13.404" v="2"/>
          <ac:spMkLst>
            <pc:docMk/>
            <pc:sldMk cId="109857222" sldId="256"/>
            <ac:spMk id="5" creationId="{0245F933-E561-CEBC-1A42-8C56D7763C79}"/>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4/18/2026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4/18/2026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4/18/2026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4/18/2026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4/18/2026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doi.org/10.1080/00031305.1996.10473566"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bradduthie.github.io/stats/app/forest/" TargetMode="External"/><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bradduthie.github.io/stats/app/normal_pos_neg/"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64567" y="1122363"/>
            <a:ext cx="10035395" cy="2301337"/>
          </a:xfrm>
        </p:spPr>
        <p:txBody>
          <a:bodyPr/>
          <a:lstStyle/>
          <a:p>
            <a:r>
              <a:rPr lang="en-US">
                <a:ea typeface="+mj-lt"/>
                <a:cs typeface="+mj-lt"/>
              </a:rPr>
              <a:t>Central tendency and </a:t>
            </a:r>
            <a:r>
              <a:rPr lang="en-US" dirty="0">
                <a:ea typeface="+mj-lt"/>
                <a:cs typeface="+mj-lt"/>
              </a:rPr>
              <a:t>measures of spread</a:t>
            </a:r>
            <a:endParaRPr lang="en-US" dirty="0"/>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548E0-1B90-456B-E73A-69E0C2922D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A075AE-2443-3373-B47D-6BF6FBEF236D}"/>
              </a:ext>
            </a:extLst>
          </p:cNvPr>
          <p:cNvSpPr>
            <a:spLocks noGrp="1"/>
          </p:cNvSpPr>
          <p:nvPr>
            <p:ph type="title"/>
          </p:nvPr>
        </p:nvSpPr>
        <p:spPr>
          <a:xfrm>
            <a:off x="4313" y="5691"/>
            <a:ext cx="10515600" cy="922997"/>
          </a:xfrm>
        </p:spPr>
        <p:txBody>
          <a:bodyPr/>
          <a:lstStyle/>
          <a:p>
            <a:r>
              <a:rPr lang="en-US" dirty="0">
                <a:cs typeface="Calibri Light"/>
              </a:rPr>
              <a:t>Descriptive versus inferential statistics</a:t>
            </a:r>
            <a:endParaRPr lang="en-US" dirty="0"/>
          </a:p>
        </p:txBody>
      </p:sp>
      <p:sp>
        <p:nvSpPr>
          <p:cNvPr id="3" name="Content Placeholder 2">
            <a:extLst>
              <a:ext uri="{FF2B5EF4-FFF2-40B4-BE49-F238E27FC236}">
                <a16:creationId xmlns:a16="http://schemas.microsoft.com/office/drawing/2014/main" id="{D7A4AAE3-E744-FB91-2C55-92F85FE3D0A7}"/>
              </a:ext>
            </a:extLst>
          </p:cNvPr>
          <p:cNvSpPr>
            <a:spLocks noGrp="1"/>
          </p:cNvSpPr>
          <p:nvPr>
            <p:ph idx="1"/>
          </p:nvPr>
        </p:nvSpPr>
        <p:spPr>
          <a:xfrm>
            <a:off x="205597" y="1063625"/>
            <a:ext cx="11780806" cy="5616545"/>
          </a:xfrm>
        </p:spPr>
        <p:txBody>
          <a:bodyPr vert="horz" lIns="91440" tIns="45720" rIns="91440" bIns="45720" rtlCol="0" anchor="t">
            <a:normAutofit lnSpcReduction="10000"/>
          </a:bodyPr>
          <a:lstStyle/>
          <a:p>
            <a:pPr marL="0" indent="0">
              <a:buNone/>
            </a:pPr>
            <a:r>
              <a:rPr lang="en-US" sz="5400" b="1" dirty="0">
                <a:ea typeface="Calibri"/>
                <a:cs typeface="Calibri"/>
              </a:rPr>
              <a:t>Descriptive Statistics</a:t>
            </a:r>
          </a:p>
          <a:p>
            <a:r>
              <a:rPr lang="en-US" sz="5400" dirty="0">
                <a:ea typeface="Calibri"/>
                <a:cs typeface="Calibri"/>
              </a:rPr>
              <a:t> </a:t>
            </a:r>
            <a:r>
              <a:rPr lang="en-US" sz="5400" dirty="0" err="1">
                <a:ea typeface="Calibri"/>
                <a:cs typeface="Calibri"/>
              </a:rPr>
              <a:t>Summarise</a:t>
            </a:r>
            <a:r>
              <a:rPr lang="en-US" sz="5400" dirty="0">
                <a:ea typeface="Calibri"/>
                <a:cs typeface="Calibri"/>
              </a:rPr>
              <a:t> observations</a:t>
            </a:r>
          </a:p>
          <a:p>
            <a:r>
              <a:rPr lang="en-US" sz="5400" dirty="0">
                <a:ea typeface="Calibri"/>
                <a:cs typeface="Calibri"/>
              </a:rPr>
              <a:t> E.g., average monthly temperature</a:t>
            </a:r>
          </a:p>
          <a:p>
            <a:pPr marL="0" indent="0">
              <a:buNone/>
            </a:pPr>
            <a:endParaRPr lang="en-US" sz="5400" dirty="0">
              <a:ea typeface="Calibri"/>
              <a:cs typeface="Calibri"/>
            </a:endParaRPr>
          </a:p>
          <a:p>
            <a:pPr marL="0" indent="0">
              <a:buNone/>
            </a:pPr>
            <a:r>
              <a:rPr lang="en-US" sz="5400" b="1" dirty="0">
                <a:ea typeface="Calibri"/>
                <a:cs typeface="Calibri"/>
              </a:rPr>
              <a:t>Inferential Statistics</a:t>
            </a:r>
          </a:p>
          <a:p>
            <a:r>
              <a:rPr lang="en-US" sz="5400" dirty="0">
                <a:ea typeface="Calibri"/>
                <a:cs typeface="Calibri"/>
              </a:rPr>
              <a:t> Make estimates or predictions</a:t>
            </a:r>
          </a:p>
          <a:p>
            <a:r>
              <a:rPr lang="en-US" sz="5400" dirty="0">
                <a:ea typeface="Calibri"/>
                <a:cs typeface="Calibri"/>
              </a:rPr>
              <a:t> E.g., predict temperature from latitude</a:t>
            </a:r>
          </a:p>
        </p:txBody>
      </p:sp>
    </p:spTree>
    <p:extLst>
      <p:ext uri="{BB962C8B-B14F-4D97-AF65-F5344CB8AC3E}">
        <p14:creationId xmlns:p14="http://schemas.microsoft.com/office/powerpoint/2010/main" val="2529808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A8167-683F-E739-4CCC-D375698FF2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7FA41F-C19B-A66D-817E-195BF0A5F11B}"/>
              </a:ext>
            </a:extLst>
          </p:cNvPr>
          <p:cNvSpPr>
            <a:spLocks noGrp="1"/>
          </p:cNvSpPr>
          <p:nvPr>
            <p:ph type="title"/>
          </p:nvPr>
        </p:nvSpPr>
        <p:spPr>
          <a:xfrm>
            <a:off x="4313" y="5691"/>
            <a:ext cx="10515600" cy="922997"/>
          </a:xfrm>
        </p:spPr>
        <p:txBody>
          <a:bodyPr/>
          <a:lstStyle/>
          <a:p>
            <a:r>
              <a:rPr lang="en-US" dirty="0">
                <a:cs typeface="Calibri Light"/>
              </a:rPr>
              <a:t>Descriptive statistics in </a:t>
            </a:r>
            <a:r>
              <a:rPr lang="en-US" dirty="0" err="1">
                <a:cs typeface="Calibri Light"/>
              </a:rPr>
              <a:t>jamovi</a:t>
            </a:r>
            <a:endParaRPr lang="en-US" dirty="0" err="1"/>
          </a:p>
        </p:txBody>
      </p:sp>
      <p:pic>
        <p:nvPicPr>
          <p:cNvPr id="6" name="Picture 5" descr="Screenshot of jamovi interface for descriptive statistics with options on the left panel and output on the right panel">
            <a:extLst>
              <a:ext uri="{FF2B5EF4-FFF2-40B4-BE49-F238E27FC236}">
                <a16:creationId xmlns:a16="http://schemas.microsoft.com/office/drawing/2014/main" id="{BCCA69E1-C192-FEA4-1B0B-206DE51085CE}"/>
              </a:ext>
            </a:extLst>
          </p:cNvPr>
          <p:cNvPicPr>
            <a:picLocks noChangeAspect="1"/>
          </p:cNvPicPr>
          <p:nvPr/>
        </p:nvPicPr>
        <p:blipFill>
          <a:blip r:embed="rId2"/>
          <a:stretch>
            <a:fillRect/>
          </a:stretch>
        </p:blipFill>
        <p:spPr>
          <a:xfrm>
            <a:off x="1996269" y="934528"/>
            <a:ext cx="7753764" cy="5650302"/>
          </a:xfrm>
          <a:prstGeom prst="rect">
            <a:avLst/>
          </a:prstGeom>
        </p:spPr>
      </p:pic>
    </p:spTree>
    <p:extLst>
      <p:ext uri="{BB962C8B-B14F-4D97-AF65-F5344CB8AC3E}">
        <p14:creationId xmlns:p14="http://schemas.microsoft.com/office/powerpoint/2010/main" val="15207081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84F86-C7C0-E811-FFEA-4CBAB680DA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842290-2314-DD36-B116-C4FC9D7A232E}"/>
              </a:ext>
            </a:extLst>
          </p:cNvPr>
          <p:cNvSpPr>
            <a:spLocks noGrp="1"/>
          </p:cNvSpPr>
          <p:nvPr>
            <p:ph type="title"/>
          </p:nvPr>
        </p:nvSpPr>
        <p:spPr>
          <a:xfrm>
            <a:off x="4313" y="5691"/>
            <a:ext cx="10515600" cy="922997"/>
          </a:xfrm>
        </p:spPr>
        <p:txBody>
          <a:bodyPr/>
          <a:lstStyle/>
          <a:p>
            <a:r>
              <a:rPr lang="en-US" dirty="0">
                <a:cs typeface="Calibri Light"/>
              </a:rPr>
              <a:t>Descriptive statistics</a:t>
            </a:r>
            <a:endParaRPr lang="en-US" dirty="0"/>
          </a:p>
        </p:txBody>
      </p:sp>
      <p:sp>
        <p:nvSpPr>
          <p:cNvPr id="3" name="Content Placeholder 2">
            <a:extLst>
              <a:ext uri="{FF2B5EF4-FFF2-40B4-BE49-F238E27FC236}">
                <a16:creationId xmlns:a16="http://schemas.microsoft.com/office/drawing/2014/main" id="{B2418E28-CBFA-4F50-8A62-18495B2474B0}"/>
              </a:ext>
            </a:extLst>
          </p:cNvPr>
          <p:cNvSpPr>
            <a:spLocks noGrp="1"/>
          </p:cNvSpPr>
          <p:nvPr>
            <p:ph idx="1"/>
          </p:nvPr>
        </p:nvSpPr>
        <p:spPr>
          <a:xfrm>
            <a:off x="205597" y="1063625"/>
            <a:ext cx="11780806" cy="5616545"/>
          </a:xfrm>
        </p:spPr>
        <p:txBody>
          <a:bodyPr vert="horz" lIns="91440" tIns="45720" rIns="91440" bIns="45720" rtlCol="0" anchor="t">
            <a:normAutofit lnSpcReduction="10000"/>
          </a:bodyPr>
          <a:lstStyle/>
          <a:p>
            <a:pPr marL="0" indent="0">
              <a:buNone/>
            </a:pPr>
            <a:r>
              <a:rPr lang="en-US" sz="5400" b="1" dirty="0">
                <a:ea typeface="Calibri"/>
                <a:cs typeface="Calibri"/>
              </a:rPr>
              <a:t>Properties of distributions</a:t>
            </a:r>
            <a:endParaRPr lang="en-US" dirty="0"/>
          </a:p>
          <a:p>
            <a:r>
              <a:rPr lang="en-US" sz="5400" dirty="0">
                <a:ea typeface="Calibri"/>
                <a:cs typeface="Calibri"/>
              </a:rPr>
              <a:t> Central tendency</a:t>
            </a:r>
          </a:p>
          <a:p>
            <a:r>
              <a:rPr lang="en-US" sz="5400" dirty="0">
                <a:ea typeface="Calibri"/>
                <a:cs typeface="Calibri"/>
              </a:rPr>
              <a:t> Spread</a:t>
            </a:r>
          </a:p>
          <a:p>
            <a:r>
              <a:rPr lang="en-US" sz="5400" dirty="0">
                <a:ea typeface="Calibri"/>
                <a:cs typeface="Calibri"/>
              </a:rPr>
              <a:t> Skew &amp; Kurtosis</a:t>
            </a:r>
          </a:p>
          <a:p>
            <a:pPr marL="0" indent="0">
              <a:buNone/>
            </a:pPr>
            <a:endParaRPr lang="en-US" sz="5400" dirty="0">
              <a:ea typeface="Calibri"/>
              <a:cs typeface="Calibri"/>
            </a:endParaRPr>
          </a:p>
          <a:p>
            <a:pPr marL="0" indent="0">
              <a:buNone/>
            </a:pPr>
            <a:r>
              <a:rPr lang="en-US" sz="5400" b="1" dirty="0">
                <a:ea typeface="Calibri"/>
                <a:cs typeface="Calibri"/>
              </a:rPr>
              <a:t>Will focus on </a:t>
            </a:r>
            <a:r>
              <a:rPr lang="en-US" sz="5400" b="1" i="1" dirty="0">
                <a:ea typeface="Calibri"/>
                <a:cs typeface="Calibri"/>
              </a:rPr>
              <a:t>samples</a:t>
            </a:r>
            <a:r>
              <a:rPr lang="en-US" sz="5400" b="1" dirty="0">
                <a:ea typeface="Calibri"/>
                <a:cs typeface="Calibri"/>
              </a:rPr>
              <a:t> rather than populations</a:t>
            </a:r>
            <a:endParaRPr lang="en-US" dirty="0"/>
          </a:p>
        </p:txBody>
      </p:sp>
    </p:spTree>
    <p:extLst>
      <p:ext uri="{BB962C8B-B14F-4D97-AF65-F5344CB8AC3E}">
        <p14:creationId xmlns:p14="http://schemas.microsoft.com/office/powerpoint/2010/main" val="7840443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0EAB7-90B5-AA9D-7B36-0B35DDAAD5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9F9E3E-FF7B-55BD-FD9A-D6F1601444D7}"/>
              </a:ext>
            </a:extLst>
          </p:cNvPr>
          <p:cNvSpPr>
            <a:spLocks noGrp="1"/>
          </p:cNvSpPr>
          <p:nvPr>
            <p:ph type="title"/>
          </p:nvPr>
        </p:nvSpPr>
        <p:spPr>
          <a:xfrm>
            <a:off x="4313" y="5691"/>
            <a:ext cx="10515600" cy="922997"/>
          </a:xfrm>
        </p:spPr>
        <p:txBody>
          <a:bodyPr/>
          <a:lstStyle/>
          <a:p>
            <a:r>
              <a:rPr lang="en-US" dirty="0">
                <a:cs typeface="Calibri Light"/>
              </a:rPr>
              <a:t>Descriptive statistics: Central tendency</a:t>
            </a:r>
            <a:endParaRPr lang="en-US" dirty="0"/>
          </a:p>
        </p:txBody>
      </p:sp>
      <p:sp>
        <p:nvSpPr>
          <p:cNvPr id="3" name="Content Placeholder 2">
            <a:extLst>
              <a:ext uri="{FF2B5EF4-FFF2-40B4-BE49-F238E27FC236}">
                <a16:creationId xmlns:a16="http://schemas.microsoft.com/office/drawing/2014/main" id="{CD48C63F-09E6-85C7-9EF2-D4E05E7C0499}"/>
              </a:ext>
            </a:extLst>
          </p:cNvPr>
          <p:cNvSpPr>
            <a:spLocks noGrp="1"/>
          </p:cNvSpPr>
          <p:nvPr>
            <p:ph idx="1"/>
          </p:nvPr>
        </p:nvSpPr>
        <p:spPr>
          <a:xfrm>
            <a:off x="4314" y="6124455"/>
            <a:ext cx="11780806" cy="728244"/>
          </a:xfrm>
        </p:spPr>
        <p:txBody>
          <a:bodyPr vert="horz" lIns="91440" tIns="45720" rIns="91440" bIns="45720" rtlCol="0" anchor="t">
            <a:normAutofit fontScale="92500" lnSpcReduction="10000"/>
          </a:bodyPr>
          <a:lstStyle/>
          <a:p>
            <a:pPr marL="0" indent="0">
              <a:buNone/>
            </a:pPr>
            <a:r>
              <a:rPr lang="en-US" sz="5400" b="1" dirty="0">
                <a:ea typeface="Calibri"/>
                <a:cs typeface="Calibri"/>
              </a:rPr>
              <a:t>Mean, median, and mode</a:t>
            </a:r>
            <a:endParaRPr lang="en-US" dirty="0"/>
          </a:p>
        </p:txBody>
      </p:sp>
      <p:pic>
        <p:nvPicPr>
          <p:cNvPr id="4" name="Picture 3" descr="Screenshot of jamovi interface for descriptive statistics with options on the left panel and output on the right panel; central tendency check boxes are highlighted.">
            <a:extLst>
              <a:ext uri="{FF2B5EF4-FFF2-40B4-BE49-F238E27FC236}">
                <a16:creationId xmlns:a16="http://schemas.microsoft.com/office/drawing/2014/main" id="{7E65F4ED-79C9-591E-5BD4-2EE9EA66CE2B}"/>
              </a:ext>
            </a:extLst>
          </p:cNvPr>
          <p:cNvPicPr>
            <a:picLocks noChangeAspect="1"/>
          </p:cNvPicPr>
          <p:nvPr/>
        </p:nvPicPr>
        <p:blipFill>
          <a:blip r:embed="rId2"/>
          <a:stretch>
            <a:fillRect/>
          </a:stretch>
        </p:blipFill>
        <p:spPr>
          <a:xfrm>
            <a:off x="2485099" y="934527"/>
            <a:ext cx="6833613" cy="4974567"/>
          </a:xfrm>
          <a:prstGeom prst="rect">
            <a:avLst/>
          </a:prstGeom>
        </p:spPr>
      </p:pic>
    </p:spTree>
    <p:extLst>
      <p:ext uri="{BB962C8B-B14F-4D97-AF65-F5344CB8AC3E}">
        <p14:creationId xmlns:p14="http://schemas.microsoft.com/office/powerpoint/2010/main" val="14740994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C6738-B05A-CFB5-D548-0398CA12D1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32E055-EC4E-680A-C7BC-EAC235D31C11}"/>
              </a:ext>
            </a:extLst>
          </p:cNvPr>
          <p:cNvSpPr>
            <a:spLocks noGrp="1"/>
          </p:cNvSpPr>
          <p:nvPr>
            <p:ph type="title"/>
          </p:nvPr>
        </p:nvSpPr>
        <p:spPr>
          <a:xfrm>
            <a:off x="4313" y="5691"/>
            <a:ext cx="10515600" cy="922997"/>
          </a:xfrm>
        </p:spPr>
        <p:txBody>
          <a:bodyPr/>
          <a:lstStyle/>
          <a:p>
            <a:r>
              <a:rPr lang="en-US" dirty="0">
                <a:cs typeface="Calibri Light"/>
              </a:rPr>
              <a:t>Arithmetic mean</a:t>
            </a:r>
            <a:endParaRPr lang="en-US" dirty="0"/>
          </a:p>
        </p:txBody>
      </p:sp>
      <p:sp>
        <p:nvSpPr>
          <p:cNvPr id="3" name="Content Placeholder 2">
            <a:extLst>
              <a:ext uri="{FF2B5EF4-FFF2-40B4-BE49-F238E27FC236}">
                <a16:creationId xmlns:a16="http://schemas.microsoft.com/office/drawing/2014/main" id="{A6B9ECA8-1CA1-424F-17B9-8B1581324772}"/>
              </a:ext>
            </a:extLst>
          </p:cNvPr>
          <p:cNvSpPr>
            <a:spLocks noGrp="1"/>
          </p:cNvSpPr>
          <p:nvPr>
            <p:ph idx="1"/>
          </p:nvPr>
        </p:nvSpPr>
        <p:spPr>
          <a:xfrm>
            <a:off x="205597" y="1063625"/>
            <a:ext cx="11780806" cy="5616545"/>
          </a:xfrm>
        </p:spPr>
        <p:txBody>
          <a:bodyPr vert="horz" lIns="91440" tIns="45720" rIns="91440" bIns="45720" rtlCol="0" anchor="t">
            <a:normAutofit/>
          </a:bodyPr>
          <a:lstStyle/>
          <a:p>
            <a:pPr marL="0" indent="0">
              <a:buNone/>
            </a:pPr>
            <a:r>
              <a:rPr lang="en-US" sz="5400" dirty="0">
                <a:ea typeface="Calibri"/>
                <a:cs typeface="Calibri"/>
              </a:rPr>
              <a:t>Add values, divide by number (</a:t>
            </a:r>
            <a:r>
              <a:rPr lang="en-US" sz="5400" i="1" dirty="0">
                <a:ea typeface="Calibri"/>
                <a:cs typeface="Calibri"/>
              </a:rPr>
              <a:t>N</a:t>
            </a:r>
            <a:r>
              <a:rPr lang="en-US" sz="5400" dirty="0">
                <a:ea typeface="Calibri"/>
                <a:cs typeface="Calibri"/>
              </a:rPr>
              <a:t>)</a:t>
            </a:r>
            <a:endParaRPr lang="en-US" dirty="0">
              <a:ea typeface="Calibri"/>
              <a:cs typeface="Calibri"/>
            </a:endParaRPr>
          </a:p>
          <a:p>
            <a:pPr marL="0" indent="0">
              <a:buNone/>
            </a:pPr>
            <a:r>
              <a:rPr lang="en-US" sz="5400" b="1" dirty="0">
                <a:ea typeface="Calibri"/>
                <a:cs typeface="Calibri"/>
              </a:rPr>
              <a:t>For example, </a:t>
            </a:r>
            <a:r>
              <a:rPr lang="en-US" sz="5400" b="1" i="1" dirty="0">
                <a:ea typeface="Calibri"/>
                <a:cs typeface="Calibri"/>
              </a:rPr>
              <a:t>N</a:t>
            </a:r>
            <a:r>
              <a:rPr lang="en-US" sz="5400" b="1" dirty="0">
                <a:ea typeface="Calibri"/>
                <a:cs typeface="Calibri"/>
              </a:rPr>
              <a:t> = 3 temperatures:</a:t>
            </a:r>
          </a:p>
          <a:p>
            <a:pPr marL="685800" indent="-685800"/>
            <a:r>
              <a:rPr lang="en-US" sz="5400" dirty="0">
                <a:ea typeface="Calibri"/>
                <a:cs typeface="Calibri"/>
              </a:rPr>
              <a:t>12.5 °C</a:t>
            </a:r>
          </a:p>
          <a:p>
            <a:pPr marL="685800" indent="-685800"/>
            <a:r>
              <a:rPr lang="en-US" sz="5400" dirty="0">
                <a:ea typeface="Calibri"/>
                <a:cs typeface="Calibri"/>
              </a:rPr>
              <a:t>13.4 °C</a:t>
            </a:r>
          </a:p>
          <a:p>
            <a:pPr marL="685800" indent="-685800"/>
            <a:r>
              <a:rPr lang="en-US" sz="5400" dirty="0">
                <a:ea typeface="Calibri"/>
                <a:cs typeface="Calibri"/>
              </a:rPr>
              <a:t>14.0 °C</a:t>
            </a:r>
            <a:endParaRPr lang="en-US" dirty="0">
              <a:ea typeface="Calibri" panose="020F0502020204030204"/>
              <a:cs typeface="Calibri" panose="020F0502020204030204"/>
            </a:endParaRPr>
          </a:p>
        </p:txBody>
      </p:sp>
      <p:pic>
        <p:nvPicPr>
          <p:cNvPr id="4" name="Picture 3" descr="Equation for mean taking (12.5+13.4+14.0)/3 = 13.3.">
            <a:extLst>
              <a:ext uri="{FF2B5EF4-FFF2-40B4-BE49-F238E27FC236}">
                <a16:creationId xmlns:a16="http://schemas.microsoft.com/office/drawing/2014/main" id="{0F0C5BC1-4E9D-5413-41AD-7E76BC567A40}"/>
              </a:ext>
            </a:extLst>
          </p:cNvPr>
          <p:cNvPicPr>
            <a:picLocks noChangeAspect="1"/>
          </p:cNvPicPr>
          <p:nvPr/>
        </p:nvPicPr>
        <p:blipFill>
          <a:blip r:embed="rId2"/>
          <a:stretch>
            <a:fillRect/>
          </a:stretch>
        </p:blipFill>
        <p:spPr>
          <a:xfrm>
            <a:off x="4042913" y="4206276"/>
            <a:ext cx="7010400" cy="1809750"/>
          </a:xfrm>
          <a:prstGeom prst="rect">
            <a:avLst/>
          </a:prstGeom>
        </p:spPr>
      </p:pic>
    </p:spTree>
    <p:extLst>
      <p:ext uri="{BB962C8B-B14F-4D97-AF65-F5344CB8AC3E}">
        <p14:creationId xmlns:p14="http://schemas.microsoft.com/office/powerpoint/2010/main" val="42521993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E4FA8-225E-55BE-DB60-1B0739911A9F}"/>
              </a:ext>
            </a:extLst>
          </p:cNvPr>
          <p:cNvSpPr>
            <a:spLocks noGrp="1"/>
          </p:cNvSpPr>
          <p:nvPr>
            <p:ph type="title"/>
          </p:nvPr>
        </p:nvSpPr>
        <p:spPr>
          <a:xfrm>
            <a:off x="4313" y="5691"/>
            <a:ext cx="12111486" cy="764847"/>
          </a:xfrm>
        </p:spPr>
        <p:txBody>
          <a:bodyPr/>
          <a:lstStyle/>
          <a:p>
            <a:r>
              <a:rPr lang="en-US" dirty="0">
                <a:cs typeface="Calibri Light"/>
              </a:rPr>
              <a:t>Calculating the mean of 7 temperatures °C</a:t>
            </a:r>
            <a:endParaRPr lang="en-US" dirty="0"/>
          </a:p>
        </p:txBody>
      </p:sp>
      <p:graphicFrame>
        <p:nvGraphicFramePr>
          <p:cNvPr id="4" name="Table 4">
            <a:extLst>
              <a:ext uri="{FF2B5EF4-FFF2-40B4-BE49-F238E27FC236}">
                <a16:creationId xmlns:a16="http://schemas.microsoft.com/office/drawing/2014/main" id="{E8AC3046-33CD-8332-B7F7-09DE5A4A6B64}"/>
              </a:ext>
            </a:extLst>
          </p:cNvPr>
          <p:cNvGraphicFramePr>
            <a:graphicFrameLocks noGrp="1"/>
          </p:cNvGraphicFramePr>
          <p:nvPr>
            <p:ph idx="1"/>
            <p:extLst>
              <p:ext uri="{D42A27DB-BD31-4B8C-83A1-F6EECF244321}">
                <p14:modId xmlns:p14="http://schemas.microsoft.com/office/powerpoint/2010/main" val="3161638512"/>
              </p:ext>
            </p:extLst>
          </p:nvPr>
        </p:nvGraphicFramePr>
        <p:xfrm>
          <a:off x="129395" y="1710905"/>
          <a:ext cx="11578248" cy="1158240"/>
        </p:xfrm>
        <a:graphic>
          <a:graphicData uri="http://schemas.openxmlformats.org/drawingml/2006/table">
            <a:tbl>
              <a:tblPr firstRow="1" bandRow="1">
                <a:tableStyleId>{5C22544A-7EE6-4342-B048-85BDC9FD1C3A}</a:tableStyleId>
              </a:tblPr>
              <a:tblGrid>
                <a:gridCol w="1704412">
                  <a:extLst>
                    <a:ext uri="{9D8B030D-6E8A-4147-A177-3AD203B41FA5}">
                      <a16:colId xmlns:a16="http://schemas.microsoft.com/office/drawing/2014/main" val="1440659236"/>
                    </a:ext>
                  </a:extLst>
                </a:gridCol>
                <a:gridCol w="1523998">
                  <a:extLst>
                    <a:ext uri="{9D8B030D-6E8A-4147-A177-3AD203B41FA5}">
                      <a16:colId xmlns:a16="http://schemas.microsoft.com/office/drawing/2014/main" val="3595805577"/>
                    </a:ext>
                  </a:extLst>
                </a:gridCol>
                <a:gridCol w="1750976">
                  <a:extLst>
                    <a:ext uri="{9D8B030D-6E8A-4147-A177-3AD203B41FA5}">
                      <a16:colId xmlns:a16="http://schemas.microsoft.com/office/drawing/2014/main" val="3384190090"/>
                    </a:ext>
                  </a:extLst>
                </a:gridCol>
                <a:gridCol w="1799615">
                  <a:extLst>
                    <a:ext uri="{9D8B030D-6E8A-4147-A177-3AD203B41FA5}">
                      <a16:colId xmlns:a16="http://schemas.microsoft.com/office/drawing/2014/main" val="2776619890"/>
                    </a:ext>
                  </a:extLst>
                </a:gridCol>
                <a:gridCol w="1572638">
                  <a:extLst>
                    <a:ext uri="{9D8B030D-6E8A-4147-A177-3AD203B41FA5}">
                      <a16:colId xmlns:a16="http://schemas.microsoft.com/office/drawing/2014/main" val="2732717286"/>
                    </a:ext>
                  </a:extLst>
                </a:gridCol>
                <a:gridCol w="1686127">
                  <a:extLst>
                    <a:ext uri="{9D8B030D-6E8A-4147-A177-3AD203B41FA5}">
                      <a16:colId xmlns:a16="http://schemas.microsoft.com/office/drawing/2014/main" val="514508494"/>
                    </a:ext>
                  </a:extLst>
                </a:gridCol>
                <a:gridCol w="1540482">
                  <a:extLst>
                    <a:ext uri="{9D8B030D-6E8A-4147-A177-3AD203B41FA5}">
                      <a16:colId xmlns:a16="http://schemas.microsoft.com/office/drawing/2014/main" val="3803948661"/>
                    </a:ext>
                  </a:extLst>
                </a:gridCol>
              </a:tblGrid>
              <a:tr h="370840">
                <a:tc>
                  <a:txBody>
                    <a:bodyPr/>
                    <a:lstStyle/>
                    <a:p>
                      <a:r>
                        <a:rPr lang="en-US" sz="3200" dirty="0"/>
                        <a:t>x</a:t>
                      </a:r>
                      <a:r>
                        <a:rPr lang="en-US" sz="3200" baseline="-25000" dirty="0"/>
                        <a:t>1</a:t>
                      </a:r>
                    </a:p>
                  </a:txBody>
                  <a:tcPr/>
                </a:tc>
                <a:tc>
                  <a:txBody>
                    <a:bodyPr/>
                    <a:lstStyle/>
                    <a:p>
                      <a:pPr lvl="0">
                        <a:buNone/>
                      </a:pPr>
                      <a:r>
                        <a:rPr lang="en-US" sz="3200" dirty="0"/>
                        <a:t>x</a:t>
                      </a:r>
                      <a:r>
                        <a:rPr lang="en-US" sz="3200" baseline="-25000" dirty="0"/>
                        <a:t>2</a:t>
                      </a:r>
                    </a:p>
                  </a:txBody>
                  <a:tcPr/>
                </a:tc>
                <a:tc>
                  <a:txBody>
                    <a:bodyPr/>
                    <a:lstStyle/>
                    <a:p>
                      <a:pPr lvl="0">
                        <a:buNone/>
                      </a:pPr>
                      <a:r>
                        <a:rPr lang="en-US" sz="3200" dirty="0"/>
                        <a:t>x</a:t>
                      </a:r>
                      <a:r>
                        <a:rPr lang="en-US" sz="3200" baseline="-25000" dirty="0"/>
                        <a:t>3</a:t>
                      </a:r>
                    </a:p>
                  </a:txBody>
                  <a:tcPr/>
                </a:tc>
                <a:tc>
                  <a:txBody>
                    <a:bodyPr/>
                    <a:lstStyle/>
                    <a:p>
                      <a:pPr lvl="0">
                        <a:buNone/>
                      </a:pPr>
                      <a:r>
                        <a:rPr lang="en-US" sz="3200" dirty="0"/>
                        <a:t>x</a:t>
                      </a:r>
                      <a:r>
                        <a:rPr lang="en-US" sz="3200" baseline="-25000" dirty="0"/>
                        <a:t>4</a:t>
                      </a:r>
                    </a:p>
                  </a:txBody>
                  <a:tcPr/>
                </a:tc>
                <a:tc>
                  <a:txBody>
                    <a:bodyPr/>
                    <a:lstStyle/>
                    <a:p>
                      <a:pPr lvl="0">
                        <a:buNone/>
                      </a:pPr>
                      <a:r>
                        <a:rPr lang="en-US" sz="3200" dirty="0"/>
                        <a:t>x</a:t>
                      </a:r>
                      <a:r>
                        <a:rPr lang="en-US" sz="3200" baseline="-25000" dirty="0"/>
                        <a:t>5</a:t>
                      </a:r>
                    </a:p>
                  </a:txBody>
                  <a:tcPr/>
                </a:tc>
                <a:tc>
                  <a:txBody>
                    <a:bodyPr/>
                    <a:lstStyle/>
                    <a:p>
                      <a:pPr lvl="0">
                        <a:buNone/>
                      </a:pPr>
                      <a:r>
                        <a:rPr lang="en-US" sz="3200" dirty="0"/>
                        <a:t>x</a:t>
                      </a:r>
                      <a:r>
                        <a:rPr lang="en-US" sz="3200" baseline="-25000" dirty="0"/>
                        <a:t>6</a:t>
                      </a:r>
                    </a:p>
                  </a:txBody>
                  <a:tcPr/>
                </a:tc>
                <a:tc>
                  <a:txBody>
                    <a:bodyPr/>
                    <a:lstStyle/>
                    <a:p>
                      <a:pPr lvl="0">
                        <a:buNone/>
                      </a:pPr>
                      <a:r>
                        <a:rPr lang="en-US" sz="3200" dirty="0"/>
                        <a:t>x</a:t>
                      </a:r>
                      <a:r>
                        <a:rPr lang="en-US" sz="3200" baseline="-25000" dirty="0"/>
                        <a:t>7</a:t>
                      </a:r>
                    </a:p>
                  </a:txBody>
                  <a:tcPr/>
                </a:tc>
                <a:extLst>
                  <a:ext uri="{0D108BD9-81ED-4DB2-BD59-A6C34878D82A}">
                    <a16:rowId xmlns:a16="http://schemas.microsoft.com/office/drawing/2014/main" val="407627465"/>
                  </a:ext>
                </a:extLst>
              </a:tr>
              <a:tr h="370840">
                <a:tc>
                  <a:txBody>
                    <a:bodyPr/>
                    <a:lstStyle/>
                    <a:p>
                      <a:pPr lvl="0">
                        <a:buNone/>
                      </a:pPr>
                      <a:r>
                        <a:rPr lang="en-US" sz="3200" dirty="0"/>
                        <a:t>17.1</a:t>
                      </a:r>
                    </a:p>
                  </a:txBody>
                  <a:tcPr/>
                </a:tc>
                <a:tc>
                  <a:txBody>
                    <a:bodyPr/>
                    <a:lstStyle/>
                    <a:p>
                      <a:pPr lvl="0">
                        <a:buNone/>
                      </a:pPr>
                      <a:r>
                        <a:rPr lang="en-US" sz="3200" dirty="0"/>
                        <a:t>15.2</a:t>
                      </a:r>
                    </a:p>
                  </a:txBody>
                  <a:tcPr/>
                </a:tc>
                <a:tc>
                  <a:txBody>
                    <a:bodyPr/>
                    <a:lstStyle/>
                    <a:p>
                      <a:pPr lvl="0">
                        <a:buNone/>
                      </a:pPr>
                      <a:r>
                        <a:rPr lang="en-US" sz="3200" dirty="0"/>
                        <a:t>14.9</a:t>
                      </a:r>
                    </a:p>
                  </a:txBody>
                  <a:tcPr/>
                </a:tc>
                <a:tc>
                  <a:txBody>
                    <a:bodyPr/>
                    <a:lstStyle/>
                    <a:p>
                      <a:pPr lvl="0">
                        <a:buNone/>
                      </a:pPr>
                      <a:r>
                        <a:rPr lang="en-US" sz="3200" dirty="0"/>
                        <a:t>12.6</a:t>
                      </a:r>
                    </a:p>
                  </a:txBody>
                  <a:tcPr/>
                </a:tc>
                <a:tc>
                  <a:txBody>
                    <a:bodyPr/>
                    <a:lstStyle/>
                    <a:p>
                      <a:pPr lvl="0">
                        <a:buNone/>
                      </a:pPr>
                      <a:r>
                        <a:rPr lang="en-US" sz="3200" dirty="0"/>
                        <a:t>15.2</a:t>
                      </a:r>
                    </a:p>
                  </a:txBody>
                  <a:tcPr/>
                </a:tc>
                <a:tc>
                  <a:txBody>
                    <a:bodyPr/>
                    <a:lstStyle/>
                    <a:p>
                      <a:pPr lvl="0">
                        <a:buNone/>
                      </a:pPr>
                      <a:r>
                        <a:rPr lang="en-US" sz="3200" dirty="0"/>
                        <a:t>10.3</a:t>
                      </a:r>
                      <a:endParaRPr lang="en-US" dirty="0"/>
                    </a:p>
                  </a:txBody>
                  <a:tcPr/>
                </a:tc>
                <a:tc>
                  <a:txBody>
                    <a:bodyPr/>
                    <a:lstStyle/>
                    <a:p>
                      <a:pPr lvl="0">
                        <a:buNone/>
                      </a:pPr>
                      <a:r>
                        <a:rPr lang="en-US" sz="3200" dirty="0"/>
                        <a:t>12.7</a:t>
                      </a:r>
                    </a:p>
                  </a:txBody>
                  <a:tcPr/>
                </a:tc>
                <a:extLst>
                  <a:ext uri="{0D108BD9-81ED-4DB2-BD59-A6C34878D82A}">
                    <a16:rowId xmlns:a16="http://schemas.microsoft.com/office/drawing/2014/main" val="2749489767"/>
                  </a:ext>
                </a:extLst>
              </a:tr>
            </a:tbl>
          </a:graphicData>
        </a:graphic>
      </p:graphicFrame>
      <p:sp>
        <p:nvSpPr>
          <p:cNvPr id="3" name="TextBox 2">
            <a:extLst>
              <a:ext uri="{FF2B5EF4-FFF2-40B4-BE49-F238E27FC236}">
                <a16:creationId xmlns:a16="http://schemas.microsoft.com/office/drawing/2014/main" id="{753B7645-AEBA-FCF2-4EA3-3C9041714871}"/>
              </a:ext>
            </a:extLst>
          </p:cNvPr>
          <p:cNvSpPr txBox="1"/>
          <p:nvPr/>
        </p:nvSpPr>
        <p:spPr>
          <a:xfrm>
            <a:off x="1009780" y="1055053"/>
            <a:ext cx="9371162"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dirty="0">
                <a:ea typeface="Calibri"/>
                <a:cs typeface="Calibri"/>
              </a:rPr>
              <a:t>Table 1: Seven values (x) of soil temperature ( °C  ) at a site.</a:t>
            </a:r>
            <a:endParaRPr lang="en-US" sz="2400" dirty="0">
              <a:ea typeface="Calibri" panose="020F0502020204030204"/>
              <a:cs typeface="Calibri" panose="020F0502020204030204"/>
            </a:endParaRPr>
          </a:p>
        </p:txBody>
      </p:sp>
      <p:pic>
        <p:nvPicPr>
          <p:cNvPr id="5" name="Picture 4" descr="Equation for the mean of x showing (17.1 + 15.2 + 14.9 + 12.6 + 15.2 + 10.3 + 12.7)/7 equals 14.">
            <a:extLst>
              <a:ext uri="{FF2B5EF4-FFF2-40B4-BE49-F238E27FC236}">
                <a16:creationId xmlns:a16="http://schemas.microsoft.com/office/drawing/2014/main" id="{04553DDB-20CD-2D08-D2AF-52817E87B301}"/>
              </a:ext>
            </a:extLst>
          </p:cNvPr>
          <p:cNvPicPr>
            <a:picLocks noChangeAspect="1"/>
          </p:cNvPicPr>
          <p:nvPr/>
        </p:nvPicPr>
        <p:blipFill>
          <a:blip r:embed="rId2"/>
          <a:stretch>
            <a:fillRect/>
          </a:stretch>
        </p:blipFill>
        <p:spPr>
          <a:xfrm>
            <a:off x="1519238" y="3434122"/>
            <a:ext cx="9153525" cy="3152775"/>
          </a:xfrm>
          <a:prstGeom prst="rect">
            <a:avLst/>
          </a:prstGeom>
        </p:spPr>
      </p:pic>
    </p:spTree>
    <p:extLst>
      <p:ext uri="{BB962C8B-B14F-4D97-AF65-F5344CB8AC3E}">
        <p14:creationId xmlns:p14="http://schemas.microsoft.com/office/powerpoint/2010/main" val="34540417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9C73C-0105-9023-8A9D-DE88F439D8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5A91C3-6CBB-32B9-EA4D-EF9C4B5882AE}"/>
              </a:ext>
            </a:extLst>
          </p:cNvPr>
          <p:cNvSpPr>
            <a:spLocks noGrp="1"/>
          </p:cNvSpPr>
          <p:nvPr>
            <p:ph type="title"/>
          </p:nvPr>
        </p:nvSpPr>
        <p:spPr>
          <a:xfrm>
            <a:off x="4313" y="5691"/>
            <a:ext cx="10515600" cy="922997"/>
          </a:xfrm>
        </p:spPr>
        <p:txBody>
          <a:bodyPr/>
          <a:lstStyle/>
          <a:p>
            <a:r>
              <a:rPr lang="en-US" dirty="0">
                <a:cs typeface="Calibri Light"/>
              </a:rPr>
              <a:t>Arithmetic mean </a:t>
            </a:r>
            <a:r>
              <a:rPr lang="en-US" dirty="0" err="1">
                <a:cs typeface="Calibri Light"/>
              </a:rPr>
              <a:t>visualisation</a:t>
            </a:r>
            <a:r>
              <a:rPr lang="en-US" dirty="0">
                <a:cs typeface="Calibri Light"/>
              </a:rPr>
              <a:t> (histogram)</a:t>
            </a:r>
            <a:endParaRPr lang="en-US" dirty="0"/>
          </a:p>
        </p:txBody>
      </p:sp>
      <p:pic>
        <p:nvPicPr>
          <p:cNvPr id="7" name="Picture 6" descr="Sparse histogram with 5 bars showing temperature in degrees C and a mean of 14.">
            <a:extLst>
              <a:ext uri="{FF2B5EF4-FFF2-40B4-BE49-F238E27FC236}">
                <a16:creationId xmlns:a16="http://schemas.microsoft.com/office/drawing/2014/main" id="{B0552FF4-AAD1-36EA-442C-68C433613DEE}"/>
              </a:ext>
            </a:extLst>
          </p:cNvPr>
          <p:cNvPicPr>
            <a:picLocks noChangeAspect="1"/>
          </p:cNvPicPr>
          <p:nvPr/>
        </p:nvPicPr>
        <p:blipFill>
          <a:blip r:embed="rId2"/>
          <a:stretch>
            <a:fillRect/>
          </a:stretch>
        </p:blipFill>
        <p:spPr>
          <a:xfrm>
            <a:off x="1524000" y="1127455"/>
            <a:ext cx="9144000" cy="5724525"/>
          </a:xfrm>
          <a:prstGeom prst="rect">
            <a:avLst/>
          </a:prstGeom>
        </p:spPr>
      </p:pic>
    </p:spTree>
    <p:extLst>
      <p:ext uri="{BB962C8B-B14F-4D97-AF65-F5344CB8AC3E}">
        <p14:creationId xmlns:p14="http://schemas.microsoft.com/office/powerpoint/2010/main" val="25955009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FB713-0CAB-B0DD-E3F7-DE466B9442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4FF0DC-ADC1-05AF-00FE-4C609C6FD0D4}"/>
              </a:ext>
            </a:extLst>
          </p:cNvPr>
          <p:cNvSpPr>
            <a:spLocks noGrp="1"/>
          </p:cNvSpPr>
          <p:nvPr>
            <p:ph type="title"/>
          </p:nvPr>
        </p:nvSpPr>
        <p:spPr>
          <a:xfrm>
            <a:off x="4313" y="5691"/>
            <a:ext cx="10515600" cy="922997"/>
          </a:xfrm>
        </p:spPr>
        <p:txBody>
          <a:bodyPr/>
          <a:lstStyle/>
          <a:p>
            <a:r>
              <a:rPr lang="en-US" dirty="0">
                <a:cs typeface="Calibri Light"/>
              </a:rPr>
              <a:t>General formula for arithmetic mean</a:t>
            </a:r>
            <a:endParaRPr lang="en-US" dirty="0"/>
          </a:p>
        </p:txBody>
      </p:sp>
      <p:sp>
        <p:nvSpPr>
          <p:cNvPr id="3" name="Content Placeholder 2">
            <a:extLst>
              <a:ext uri="{FF2B5EF4-FFF2-40B4-BE49-F238E27FC236}">
                <a16:creationId xmlns:a16="http://schemas.microsoft.com/office/drawing/2014/main" id="{F2F085C9-E4C6-7A6D-3DF5-158ACB06CD56}"/>
              </a:ext>
            </a:extLst>
          </p:cNvPr>
          <p:cNvSpPr>
            <a:spLocks noGrp="1"/>
          </p:cNvSpPr>
          <p:nvPr>
            <p:ph idx="1"/>
          </p:nvPr>
        </p:nvSpPr>
        <p:spPr>
          <a:xfrm>
            <a:off x="205597" y="1063625"/>
            <a:ext cx="11780806" cy="5616545"/>
          </a:xfrm>
        </p:spPr>
        <p:txBody>
          <a:bodyPr vert="horz" lIns="91440" tIns="45720" rIns="91440" bIns="45720" rtlCol="0" anchor="t">
            <a:normAutofit/>
          </a:bodyPr>
          <a:lstStyle/>
          <a:p>
            <a:pPr marL="685800" indent="-685800"/>
            <a:r>
              <a:rPr lang="en-US" sz="5400" dirty="0">
                <a:ea typeface="Calibri"/>
                <a:cs typeface="Calibri"/>
              </a:rPr>
              <a:t>Sample mean: </a:t>
            </a:r>
            <a:endParaRPr lang="en-US"/>
          </a:p>
          <a:p>
            <a:pPr marL="685800" indent="-685800"/>
            <a:r>
              <a:rPr lang="en-US" sz="5400" dirty="0">
                <a:ea typeface="Calibri"/>
                <a:cs typeface="Calibri"/>
              </a:rPr>
              <a:t>Sample size: </a:t>
            </a:r>
            <a:r>
              <a:rPr lang="en-US" sz="5400" i="1" dirty="0">
                <a:ea typeface="Calibri"/>
                <a:cs typeface="Calibri"/>
              </a:rPr>
              <a:t>N</a:t>
            </a:r>
          </a:p>
        </p:txBody>
      </p:sp>
      <p:pic>
        <p:nvPicPr>
          <p:cNvPr id="5" name="Picture 4" descr="Maths shows text 'x' with a bar over it, then in brackets the Greek mu with a hat over it and a subscript of 'x'.">
            <a:extLst>
              <a:ext uri="{FF2B5EF4-FFF2-40B4-BE49-F238E27FC236}">
                <a16:creationId xmlns:a16="http://schemas.microsoft.com/office/drawing/2014/main" id="{31598C53-A091-0E97-87AD-1A14D844C7F5}"/>
              </a:ext>
            </a:extLst>
          </p:cNvPr>
          <p:cNvPicPr>
            <a:picLocks noChangeAspect="1"/>
          </p:cNvPicPr>
          <p:nvPr/>
        </p:nvPicPr>
        <p:blipFill>
          <a:blip r:embed="rId2"/>
          <a:stretch>
            <a:fillRect/>
          </a:stretch>
        </p:blipFill>
        <p:spPr>
          <a:xfrm>
            <a:off x="5094167" y="1069227"/>
            <a:ext cx="2981325" cy="923925"/>
          </a:xfrm>
          <a:prstGeom prst="rect">
            <a:avLst/>
          </a:prstGeom>
        </p:spPr>
      </p:pic>
      <p:pic>
        <p:nvPicPr>
          <p:cNvPr id="6" name="Picture 5" descr="Calculation of mean (x bar) as x1 plus x2 plus ... up to x sub N, all divided by N.">
            <a:extLst>
              <a:ext uri="{FF2B5EF4-FFF2-40B4-BE49-F238E27FC236}">
                <a16:creationId xmlns:a16="http://schemas.microsoft.com/office/drawing/2014/main" id="{9271226B-1F9A-DEDD-E8AB-094D86EAFB0D}"/>
              </a:ext>
            </a:extLst>
          </p:cNvPr>
          <p:cNvPicPr>
            <a:picLocks noChangeAspect="1"/>
          </p:cNvPicPr>
          <p:nvPr/>
        </p:nvPicPr>
        <p:blipFill>
          <a:blip r:embed="rId3"/>
          <a:stretch>
            <a:fillRect/>
          </a:stretch>
        </p:blipFill>
        <p:spPr>
          <a:xfrm>
            <a:off x="349729" y="3875776"/>
            <a:ext cx="11104352" cy="2269466"/>
          </a:xfrm>
          <a:prstGeom prst="rect">
            <a:avLst/>
          </a:prstGeom>
        </p:spPr>
      </p:pic>
    </p:spTree>
    <p:extLst>
      <p:ext uri="{BB962C8B-B14F-4D97-AF65-F5344CB8AC3E}">
        <p14:creationId xmlns:p14="http://schemas.microsoft.com/office/powerpoint/2010/main" val="17515200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23F15-E868-AA5E-F821-109D5825DA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F2F91A-8BA1-3851-DFD6-0B94431C5CAE}"/>
              </a:ext>
            </a:extLst>
          </p:cNvPr>
          <p:cNvSpPr>
            <a:spLocks noGrp="1"/>
          </p:cNvSpPr>
          <p:nvPr>
            <p:ph type="title"/>
          </p:nvPr>
        </p:nvSpPr>
        <p:spPr>
          <a:xfrm>
            <a:off x="4313" y="5691"/>
            <a:ext cx="10515600" cy="922997"/>
          </a:xfrm>
        </p:spPr>
        <p:txBody>
          <a:bodyPr/>
          <a:lstStyle/>
          <a:p>
            <a:r>
              <a:rPr lang="en-US" dirty="0">
                <a:cs typeface="Calibri Light"/>
              </a:rPr>
              <a:t>General formula for arithmetic mean</a:t>
            </a:r>
            <a:endParaRPr lang="en-US" dirty="0"/>
          </a:p>
        </p:txBody>
      </p:sp>
      <p:pic>
        <p:nvPicPr>
          <p:cNvPr id="8" name="Picture 7" descr="General mathematical formula is shown to calculate the mean, including the introduction of the capital Sigma symbol to represent summation over indices.">
            <a:extLst>
              <a:ext uri="{FF2B5EF4-FFF2-40B4-BE49-F238E27FC236}">
                <a16:creationId xmlns:a16="http://schemas.microsoft.com/office/drawing/2014/main" id="{00ED082F-E0DF-F8BF-7D94-6CAC11B2BA5B}"/>
              </a:ext>
            </a:extLst>
          </p:cNvPr>
          <p:cNvPicPr>
            <a:picLocks noChangeAspect="1"/>
          </p:cNvPicPr>
          <p:nvPr/>
        </p:nvPicPr>
        <p:blipFill>
          <a:blip r:embed="rId2"/>
          <a:stretch>
            <a:fillRect/>
          </a:stretch>
        </p:blipFill>
        <p:spPr>
          <a:xfrm>
            <a:off x="1552126" y="934528"/>
            <a:ext cx="8153220" cy="5923471"/>
          </a:xfrm>
          <a:prstGeom prst="rect">
            <a:avLst/>
          </a:prstGeom>
        </p:spPr>
      </p:pic>
    </p:spTree>
    <p:extLst>
      <p:ext uri="{BB962C8B-B14F-4D97-AF65-F5344CB8AC3E}">
        <p14:creationId xmlns:p14="http://schemas.microsoft.com/office/powerpoint/2010/main" val="34004867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1C228-3A61-8746-ED15-AA3C8FA7EF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E1A5F2-F623-C08E-40B1-9B9CEDF50D82}"/>
              </a:ext>
            </a:extLst>
          </p:cNvPr>
          <p:cNvSpPr>
            <a:spLocks noGrp="1"/>
          </p:cNvSpPr>
          <p:nvPr>
            <p:ph type="title"/>
          </p:nvPr>
        </p:nvSpPr>
        <p:spPr>
          <a:xfrm>
            <a:off x="4313" y="5691"/>
            <a:ext cx="12111486" cy="764847"/>
          </a:xfrm>
        </p:spPr>
        <p:txBody>
          <a:bodyPr/>
          <a:lstStyle/>
          <a:p>
            <a:r>
              <a:rPr lang="en-US" dirty="0">
                <a:cs typeface="Calibri Light"/>
              </a:rPr>
              <a:t>The mode</a:t>
            </a:r>
            <a:endParaRPr lang="en-US" dirty="0"/>
          </a:p>
        </p:txBody>
      </p:sp>
      <p:graphicFrame>
        <p:nvGraphicFramePr>
          <p:cNvPr id="4" name="Table 4">
            <a:extLst>
              <a:ext uri="{FF2B5EF4-FFF2-40B4-BE49-F238E27FC236}">
                <a16:creationId xmlns:a16="http://schemas.microsoft.com/office/drawing/2014/main" id="{48A4CFE6-A4CE-756E-7E7B-5D12D8092771}"/>
              </a:ext>
            </a:extLst>
          </p:cNvPr>
          <p:cNvGraphicFramePr>
            <a:graphicFrameLocks noGrp="1"/>
          </p:cNvGraphicFramePr>
          <p:nvPr>
            <p:ph idx="1"/>
            <p:extLst>
              <p:ext uri="{D42A27DB-BD31-4B8C-83A1-F6EECF244321}">
                <p14:modId xmlns:p14="http://schemas.microsoft.com/office/powerpoint/2010/main" val="2193906733"/>
              </p:ext>
            </p:extLst>
          </p:nvPr>
        </p:nvGraphicFramePr>
        <p:xfrm>
          <a:off x="129395" y="1710905"/>
          <a:ext cx="11578248" cy="1158240"/>
        </p:xfrm>
        <a:graphic>
          <a:graphicData uri="http://schemas.openxmlformats.org/drawingml/2006/table">
            <a:tbl>
              <a:tblPr firstRow="1" bandRow="1">
                <a:tableStyleId>{5C22544A-7EE6-4342-B048-85BDC9FD1C3A}</a:tableStyleId>
              </a:tblPr>
              <a:tblGrid>
                <a:gridCol w="1704412">
                  <a:extLst>
                    <a:ext uri="{9D8B030D-6E8A-4147-A177-3AD203B41FA5}">
                      <a16:colId xmlns:a16="http://schemas.microsoft.com/office/drawing/2014/main" val="1440659236"/>
                    </a:ext>
                  </a:extLst>
                </a:gridCol>
                <a:gridCol w="1523998">
                  <a:extLst>
                    <a:ext uri="{9D8B030D-6E8A-4147-A177-3AD203B41FA5}">
                      <a16:colId xmlns:a16="http://schemas.microsoft.com/office/drawing/2014/main" val="3595805577"/>
                    </a:ext>
                  </a:extLst>
                </a:gridCol>
                <a:gridCol w="1750976">
                  <a:extLst>
                    <a:ext uri="{9D8B030D-6E8A-4147-A177-3AD203B41FA5}">
                      <a16:colId xmlns:a16="http://schemas.microsoft.com/office/drawing/2014/main" val="3384190090"/>
                    </a:ext>
                  </a:extLst>
                </a:gridCol>
                <a:gridCol w="1799615">
                  <a:extLst>
                    <a:ext uri="{9D8B030D-6E8A-4147-A177-3AD203B41FA5}">
                      <a16:colId xmlns:a16="http://schemas.microsoft.com/office/drawing/2014/main" val="2776619890"/>
                    </a:ext>
                  </a:extLst>
                </a:gridCol>
                <a:gridCol w="1572638">
                  <a:extLst>
                    <a:ext uri="{9D8B030D-6E8A-4147-A177-3AD203B41FA5}">
                      <a16:colId xmlns:a16="http://schemas.microsoft.com/office/drawing/2014/main" val="2732717286"/>
                    </a:ext>
                  </a:extLst>
                </a:gridCol>
                <a:gridCol w="1686127">
                  <a:extLst>
                    <a:ext uri="{9D8B030D-6E8A-4147-A177-3AD203B41FA5}">
                      <a16:colId xmlns:a16="http://schemas.microsoft.com/office/drawing/2014/main" val="514508494"/>
                    </a:ext>
                  </a:extLst>
                </a:gridCol>
                <a:gridCol w="1540482">
                  <a:extLst>
                    <a:ext uri="{9D8B030D-6E8A-4147-A177-3AD203B41FA5}">
                      <a16:colId xmlns:a16="http://schemas.microsoft.com/office/drawing/2014/main" val="3803948661"/>
                    </a:ext>
                  </a:extLst>
                </a:gridCol>
              </a:tblGrid>
              <a:tr h="370840">
                <a:tc>
                  <a:txBody>
                    <a:bodyPr/>
                    <a:lstStyle/>
                    <a:p>
                      <a:r>
                        <a:rPr lang="en-US" sz="3200" dirty="0"/>
                        <a:t>x</a:t>
                      </a:r>
                      <a:r>
                        <a:rPr lang="en-US" sz="3200" baseline="-25000" dirty="0"/>
                        <a:t>1</a:t>
                      </a:r>
                    </a:p>
                  </a:txBody>
                  <a:tcPr/>
                </a:tc>
                <a:tc>
                  <a:txBody>
                    <a:bodyPr/>
                    <a:lstStyle/>
                    <a:p>
                      <a:pPr lvl="0">
                        <a:buNone/>
                      </a:pPr>
                      <a:r>
                        <a:rPr lang="en-US" sz="3200" dirty="0"/>
                        <a:t>x</a:t>
                      </a:r>
                      <a:r>
                        <a:rPr lang="en-US" sz="3200" baseline="-25000" dirty="0"/>
                        <a:t>2</a:t>
                      </a:r>
                    </a:p>
                  </a:txBody>
                  <a:tcPr/>
                </a:tc>
                <a:tc>
                  <a:txBody>
                    <a:bodyPr/>
                    <a:lstStyle/>
                    <a:p>
                      <a:pPr lvl="0">
                        <a:buNone/>
                      </a:pPr>
                      <a:r>
                        <a:rPr lang="en-US" sz="3200" dirty="0"/>
                        <a:t>x</a:t>
                      </a:r>
                      <a:r>
                        <a:rPr lang="en-US" sz="3200" baseline="-25000" dirty="0"/>
                        <a:t>3</a:t>
                      </a:r>
                    </a:p>
                  </a:txBody>
                  <a:tcPr/>
                </a:tc>
                <a:tc>
                  <a:txBody>
                    <a:bodyPr/>
                    <a:lstStyle/>
                    <a:p>
                      <a:pPr lvl="0">
                        <a:buNone/>
                      </a:pPr>
                      <a:r>
                        <a:rPr lang="en-US" sz="3200" dirty="0"/>
                        <a:t>x</a:t>
                      </a:r>
                      <a:r>
                        <a:rPr lang="en-US" sz="3200" baseline="-25000" dirty="0"/>
                        <a:t>4</a:t>
                      </a:r>
                    </a:p>
                  </a:txBody>
                  <a:tcPr/>
                </a:tc>
                <a:tc>
                  <a:txBody>
                    <a:bodyPr/>
                    <a:lstStyle/>
                    <a:p>
                      <a:pPr lvl="0">
                        <a:buNone/>
                      </a:pPr>
                      <a:r>
                        <a:rPr lang="en-US" sz="3200" dirty="0"/>
                        <a:t>x</a:t>
                      </a:r>
                      <a:r>
                        <a:rPr lang="en-US" sz="3200" baseline="-25000" dirty="0"/>
                        <a:t>5</a:t>
                      </a:r>
                    </a:p>
                  </a:txBody>
                  <a:tcPr/>
                </a:tc>
                <a:tc>
                  <a:txBody>
                    <a:bodyPr/>
                    <a:lstStyle/>
                    <a:p>
                      <a:pPr lvl="0">
                        <a:buNone/>
                      </a:pPr>
                      <a:r>
                        <a:rPr lang="en-US" sz="3200" dirty="0"/>
                        <a:t>x</a:t>
                      </a:r>
                      <a:r>
                        <a:rPr lang="en-US" sz="3200" baseline="-25000" dirty="0"/>
                        <a:t>6</a:t>
                      </a:r>
                    </a:p>
                  </a:txBody>
                  <a:tcPr/>
                </a:tc>
                <a:tc>
                  <a:txBody>
                    <a:bodyPr/>
                    <a:lstStyle/>
                    <a:p>
                      <a:pPr lvl="0">
                        <a:buNone/>
                      </a:pPr>
                      <a:r>
                        <a:rPr lang="en-US" sz="3200" dirty="0"/>
                        <a:t>x</a:t>
                      </a:r>
                      <a:r>
                        <a:rPr lang="en-US" sz="3200" baseline="-25000" dirty="0"/>
                        <a:t>7</a:t>
                      </a:r>
                    </a:p>
                  </a:txBody>
                  <a:tcPr/>
                </a:tc>
                <a:extLst>
                  <a:ext uri="{0D108BD9-81ED-4DB2-BD59-A6C34878D82A}">
                    <a16:rowId xmlns:a16="http://schemas.microsoft.com/office/drawing/2014/main" val="407627465"/>
                  </a:ext>
                </a:extLst>
              </a:tr>
              <a:tr h="370840">
                <a:tc>
                  <a:txBody>
                    <a:bodyPr/>
                    <a:lstStyle/>
                    <a:p>
                      <a:pPr lvl="0">
                        <a:buNone/>
                      </a:pPr>
                      <a:r>
                        <a:rPr lang="en-US" sz="3200" dirty="0"/>
                        <a:t>17.1</a:t>
                      </a:r>
                    </a:p>
                  </a:txBody>
                  <a:tcPr/>
                </a:tc>
                <a:tc>
                  <a:txBody>
                    <a:bodyPr/>
                    <a:lstStyle/>
                    <a:p>
                      <a:pPr lvl="0">
                        <a:buNone/>
                      </a:pPr>
                      <a:r>
                        <a:rPr lang="en-US" sz="3200" b="1" dirty="0"/>
                        <a:t>15.2</a:t>
                      </a:r>
                    </a:p>
                  </a:txBody>
                  <a:tcPr/>
                </a:tc>
                <a:tc>
                  <a:txBody>
                    <a:bodyPr/>
                    <a:lstStyle/>
                    <a:p>
                      <a:pPr lvl="0">
                        <a:buNone/>
                      </a:pPr>
                      <a:r>
                        <a:rPr lang="en-US" sz="3200" dirty="0"/>
                        <a:t>14.9</a:t>
                      </a:r>
                    </a:p>
                  </a:txBody>
                  <a:tcPr/>
                </a:tc>
                <a:tc>
                  <a:txBody>
                    <a:bodyPr/>
                    <a:lstStyle/>
                    <a:p>
                      <a:pPr lvl="0">
                        <a:buNone/>
                      </a:pPr>
                      <a:r>
                        <a:rPr lang="en-US" sz="3200" dirty="0"/>
                        <a:t>12.6</a:t>
                      </a:r>
                    </a:p>
                  </a:txBody>
                  <a:tcPr/>
                </a:tc>
                <a:tc>
                  <a:txBody>
                    <a:bodyPr/>
                    <a:lstStyle/>
                    <a:p>
                      <a:pPr lvl="0">
                        <a:buNone/>
                      </a:pPr>
                      <a:r>
                        <a:rPr lang="en-US" sz="3200" b="1" dirty="0"/>
                        <a:t>15.2</a:t>
                      </a:r>
                    </a:p>
                  </a:txBody>
                  <a:tcPr/>
                </a:tc>
                <a:tc>
                  <a:txBody>
                    <a:bodyPr/>
                    <a:lstStyle/>
                    <a:p>
                      <a:pPr lvl="0">
                        <a:buNone/>
                      </a:pPr>
                      <a:r>
                        <a:rPr lang="en-US" sz="3200" dirty="0"/>
                        <a:t>10.3</a:t>
                      </a:r>
                      <a:endParaRPr lang="en-US" dirty="0"/>
                    </a:p>
                  </a:txBody>
                  <a:tcPr/>
                </a:tc>
                <a:tc>
                  <a:txBody>
                    <a:bodyPr/>
                    <a:lstStyle/>
                    <a:p>
                      <a:pPr lvl="0">
                        <a:buNone/>
                      </a:pPr>
                      <a:r>
                        <a:rPr lang="en-US" sz="3200" dirty="0"/>
                        <a:t>12.7</a:t>
                      </a:r>
                    </a:p>
                  </a:txBody>
                  <a:tcPr/>
                </a:tc>
                <a:extLst>
                  <a:ext uri="{0D108BD9-81ED-4DB2-BD59-A6C34878D82A}">
                    <a16:rowId xmlns:a16="http://schemas.microsoft.com/office/drawing/2014/main" val="2749489767"/>
                  </a:ext>
                </a:extLst>
              </a:tr>
            </a:tbl>
          </a:graphicData>
        </a:graphic>
      </p:graphicFrame>
      <p:sp>
        <p:nvSpPr>
          <p:cNvPr id="3" name="TextBox 2">
            <a:extLst>
              <a:ext uri="{FF2B5EF4-FFF2-40B4-BE49-F238E27FC236}">
                <a16:creationId xmlns:a16="http://schemas.microsoft.com/office/drawing/2014/main" id="{0A797C00-514A-2A5D-94DA-06B7ECF70D61}"/>
              </a:ext>
            </a:extLst>
          </p:cNvPr>
          <p:cNvSpPr txBox="1"/>
          <p:nvPr/>
        </p:nvSpPr>
        <p:spPr>
          <a:xfrm>
            <a:off x="837252" y="997544"/>
            <a:ext cx="9371162"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dirty="0">
                <a:ea typeface="Calibri"/>
                <a:cs typeface="Calibri"/>
              </a:rPr>
              <a:t>Most frequently occurring observation</a:t>
            </a:r>
            <a:endParaRPr lang="en-US" sz="4000">
              <a:ea typeface="Calibri"/>
              <a:cs typeface="Calibri"/>
            </a:endParaRPr>
          </a:p>
        </p:txBody>
      </p:sp>
      <p:graphicFrame>
        <p:nvGraphicFramePr>
          <p:cNvPr id="7" name="Table 4">
            <a:extLst>
              <a:ext uri="{FF2B5EF4-FFF2-40B4-BE49-F238E27FC236}">
                <a16:creationId xmlns:a16="http://schemas.microsoft.com/office/drawing/2014/main" id="{C72698F5-558B-4D3C-06EB-5ED66A3BB50B}"/>
              </a:ext>
            </a:extLst>
          </p:cNvPr>
          <p:cNvGraphicFramePr>
            <a:graphicFrameLocks/>
          </p:cNvGraphicFramePr>
          <p:nvPr>
            <p:extLst>
              <p:ext uri="{D42A27DB-BD31-4B8C-83A1-F6EECF244321}">
                <p14:modId xmlns:p14="http://schemas.microsoft.com/office/powerpoint/2010/main" val="3384863057"/>
              </p:ext>
            </p:extLst>
          </p:nvPr>
        </p:nvGraphicFramePr>
        <p:xfrm>
          <a:off x="209908" y="4781909"/>
          <a:ext cx="10037766" cy="1158240"/>
        </p:xfrm>
        <a:graphic>
          <a:graphicData uri="http://schemas.openxmlformats.org/drawingml/2006/table">
            <a:tbl>
              <a:tblPr firstRow="1" bandRow="1">
                <a:tableStyleId>{5C22544A-7EE6-4342-B048-85BDC9FD1C3A}</a:tableStyleId>
              </a:tblPr>
              <a:tblGrid>
                <a:gridCol w="1704412">
                  <a:extLst>
                    <a:ext uri="{9D8B030D-6E8A-4147-A177-3AD203B41FA5}">
                      <a16:colId xmlns:a16="http://schemas.microsoft.com/office/drawing/2014/main" val="1440659236"/>
                    </a:ext>
                  </a:extLst>
                </a:gridCol>
                <a:gridCol w="1523998">
                  <a:extLst>
                    <a:ext uri="{9D8B030D-6E8A-4147-A177-3AD203B41FA5}">
                      <a16:colId xmlns:a16="http://schemas.microsoft.com/office/drawing/2014/main" val="3595805577"/>
                    </a:ext>
                  </a:extLst>
                </a:gridCol>
                <a:gridCol w="1750976">
                  <a:extLst>
                    <a:ext uri="{9D8B030D-6E8A-4147-A177-3AD203B41FA5}">
                      <a16:colId xmlns:a16="http://schemas.microsoft.com/office/drawing/2014/main" val="3384190090"/>
                    </a:ext>
                  </a:extLst>
                </a:gridCol>
                <a:gridCol w="1799615">
                  <a:extLst>
                    <a:ext uri="{9D8B030D-6E8A-4147-A177-3AD203B41FA5}">
                      <a16:colId xmlns:a16="http://schemas.microsoft.com/office/drawing/2014/main" val="2776619890"/>
                    </a:ext>
                  </a:extLst>
                </a:gridCol>
                <a:gridCol w="1572638">
                  <a:extLst>
                    <a:ext uri="{9D8B030D-6E8A-4147-A177-3AD203B41FA5}">
                      <a16:colId xmlns:a16="http://schemas.microsoft.com/office/drawing/2014/main" val="2732717286"/>
                    </a:ext>
                  </a:extLst>
                </a:gridCol>
                <a:gridCol w="1686127">
                  <a:extLst>
                    <a:ext uri="{9D8B030D-6E8A-4147-A177-3AD203B41FA5}">
                      <a16:colId xmlns:a16="http://schemas.microsoft.com/office/drawing/2014/main" val="514508494"/>
                    </a:ext>
                  </a:extLst>
                </a:gridCol>
              </a:tblGrid>
              <a:tr h="370840">
                <a:tc>
                  <a:txBody>
                    <a:bodyPr/>
                    <a:lstStyle/>
                    <a:p>
                      <a:r>
                        <a:rPr lang="en-US" sz="3200" dirty="0"/>
                        <a:t>x</a:t>
                      </a:r>
                      <a:r>
                        <a:rPr lang="en-US" sz="3200" baseline="-25000" dirty="0"/>
                        <a:t>1</a:t>
                      </a:r>
                    </a:p>
                  </a:txBody>
                  <a:tcPr/>
                </a:tc>
                <a:tc>
                  <a:txBody>
                    <a:bodyPr/>
                    <a:lstStyle/>
                    <a:p>
                      <a:pPr lvl="0">
                        <a:buNone/>
                      </a:pPr>
                      <a:r>
                        <a:rPr lang="en-US" sz="3200" dirty="0"/>
                        <a:t>x</a:t>
                      </a:r>
                      <a:r>
                        <a:rPr lang="en-US" sz="3200" baseline="-25000" dirty="0"/>
                        <a:t>2</a:t>
                      </a:r>
                    </a:p>
                  </a:txBody>
                  <a:tcPr/>
                </a:tc>
                <a:tc>
                  <a:txBody>
                    <a:bodyPr/>
                    <a:lstStyle/>
                    <a:p>
                      <a:pPr lvl="0">
                        <a:buNone/>
                      </a:pPr>
                      <a:r>
                        <a:rPr lang="en-US" sz="3200" dirty="0"/>
                        <a:t>x</a:t>
                      </a:r>
                      <a:r>
                        <a:rPr lang="en-US" sz="3200" baseline="-25000" dirty="0"/>
                        <a:t>3</a:t>
                      </a:r>
                    </a:p>
                  </a:txBody>
                  <a:tcPr/>
                </a:tc>
                <a:tc>
                  <a:txBody>
                    <a:bodyPr/>
                    <a:lstStyle/>
                    <a:p>
                      <a:pPr lvl="0">
                        <a:buNone/>
                      </a:pPr>
                      <a:r>
                        <a:rPr lang="en-US" sz="3200" dirty="0"/>
                        <a:t>x</a:t>
                      </a:r>
                      <a:r>
                        <a:rPr lang="en-US" sz="3200" baseline="-25000" dirty="0"/>
                        <a:t>4</a:t>
                      </a:r>
                    </a:p>
                  </a:txBody>
                  <a:tcPr/>
                </a:tc>
                <a:tc>
                  <a:txBody>
                    <a:bodyPr/>
                    <a:lstStyle/>
                    <a:p>
                      <a:pPr lvl="0">
                        <a:buNone/>
                      </a:pPr>
                      <a:r>
                        <a:rPr lang="en-US" sz="3200" dirty="0"/>
                        <a:t>x</a:t>
                      </a:r>
                      <a:r>
                        <a:rPr lang="en-US" sz="3200" baseline="-25000" dirty="0"/>
                        <a:t>5</a:t>
                      </a:r>
                    </a:p>
                  </a:txBody>
                  <a:tcPr/>
                </a:tc>
                <a:tc>
                  <a:txBody>
                    <a:bodyPr/>
                    <a:lstStyle/>
                    <a:p>
                      <a:pPr lvl="0">
                        <a:buNone/>
                      </a:pPr>
                      <a:r>
                        <a:rPr lang="en-US" sz="3200" dirty="0"/>
                        <a:t>x</a:t>
                      </a:r>
                      <a:r>
                        <a:rPr lang="en-US" sz="3200" baseline="-25000" dirty="0"/>
                        <a:t>6</a:t>
                      </a:r>
                    </a:p>
                  </a:txBody>
                  <a:tcPr/>
                </a:tc>
                <a:extLst>
                  <a:ext uri="{0D108BD9-81ED-4DB2-BD59-A6C34878D82A}">
                    <a16:rowId xmlns:a16="http://schemas.microsoft.com/office/drawing/2014/main" val="407627465"/>
                  </a:ext>
                </a:extLst>
              </a:tr>
              <a:tr h="370840">
                <a:tc>
                  <a:txBody>
                    <a:bodyPr/>
                    <a:lstStyle/>
                    <a:p>
                      <a:pPr lvl="0">
                        <a:buNone/>
                      </a:pPr>
                      <a:r>
                        <a:rPr lang="en-US" sz="3200" dirty="0"/>
                        <a:t>dog</a:t>
                      </a:r>
                    </a:p>
                  </a:txBody>
                  <a:tcPr/>
                </a:tc>
                <a:tc>
                  <a:txBody>
                    <a:bodyPr/>
                    <a:lstStyle/>
                    <a:p>
                      <a:pPr lvl="0">
                        <a:buNone/>
                      </a:pPr>
                      <a:r>
                        <a:rPr lang="en-US" sz="3200" b="1" dirty="0"/>
                        <a:t>cat</a:t>
                      </a:r>
                    </a:p>
                  </a:txBody>
                  <a:tcPr/>
                </a:tc>
                <a:tc>
                  <a:txBody>
                    <a:bodyPr/>
                    <a:lstStyle/>
                    <a:p>
                      <a:pPr lvl="0">
                        <a:buNone/>
                      </a:pPr>
                      <a:r>
                        <a:rPr lang="en-US" sz="3200" dirty="0"/>
                        <a:t>bird</a:t>
                      </a:r>
                    </a:p>
                  </a:txBody>
                  <a:tcPr/>
                </a:tc>
                <a:tc>
                  <a:txBody>
                    <a:bodyPr/>
                    <a:lstStyle/>
                    <a:p>
                      <a:pPr lvl="0">
                        <a:buNone/>
                      </a:pPr>
                      <a:r>
                        <a:rPr lang="en-US" sz="3200" b="1" dirty="0"/>
                        <a:t>cat</a:t>
                      </a:r>
                    </a:p>
                  </a:txBody>
                  <a:tcPr/>
                </a:tc>
                <a:tc>
                  <a:txBody>
                    <a:bodyPr/>
                    <a:lstStyle/>
                    <a:p>
                      <a:pPr lvl="0">
                        <a:buNone/>
                      </a:pPr>
                      <a:r>
                        <a:rPr lang="en-US" sz="3200" b="1" dirty="0"/>
                        <a:t>cat</a:t>
                      </a:r>
                    </a:p>
                  </a:txBody>
                  <a:tcPr/>
                </a:tc>
                <a:tc>
                  <a:txBody>
                    <a:bodyPr/>
                    <a:lstStyle/>
                    <a:p>
                      <a:pPr lvl="0">
                        <a:buNone/>
                      </a:pPr>
                      <a:r>
                        <a:rPr lang="en-US" sz="3200" dirty="0"/>
                        <a:t>dog</a:t>
                      </a:r>
                      <a:endParaRPr lang="en-US" dirty="0"/>
                    </a:p>
                  </a:txBody>
                  <a:tcPr/>
                </a:tc>
                <a:extLst>
                  <a:ext uri="{0D108BD9-81ED-4DB2-BD59-A6C34878D82A}">
                    <a16:rowId xmlns:a16="http://schemas.microsoft.com/office/drawing/2014/main" val="2749489767"/>
                  </a:ext>
                </a:extLst>
              </a:tr>
            </a:tbl>
          </a:graphicData>
        </a:graphic>
      </p:graphicFrame>
      <p:sp>
        <p:nvSpPr>
          <p:cNvPr id="8" name="TextBox 7">
            <a:extLst>
              <a:ext uri="{FF2B5EF4-FFF2-40B4-BE49-F238E27FC236}">
                <a16:creationId xmlns:a16="http://schemas.microsoft.com/office/drawing/2014/main" id="{A5EF06AF-6552-5309-79CF-3C61F49E1201}"/>
              </a:ext>
            </a:extLst>
          </p:cNvPr>
          <p:cNvSpPr txBox="1"/>
          <p:nvPr/>
        </p:nvSpPr>
        <p:spPr>
          <a:xfrm>
            <a:off x="909138" y="4059921"/>
            <a:ext cx="9371162"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dirty="0">
                <a:ea typeface="Calibri"/>
                <a:cs typeface="Calibri"/>
              </a:rPr>
              <a:t>Also applies to categorical data</a:t>
            </a:r>
            <a:endParaRPr lang="en-US" dirty="0"/>
          </a:p>
        </p:txBody>
      </p:sp>
    </p:spTree>
    <p:extLst>
      <p:ext uri="{BB962C8B-B14F-4D97-AF65-F5344CB8AC3E}">
        <p14:creationId xmlns:p14="http://schemas.microsoft.com/office/powerpoint/2010/main" val="38581957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FA552-98BF-31EA-AB74-4D82A84CF2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B2DACF-2DBA-72DE-23D8-F3F1A565BAD1}"/>
              </a:ext>
            </a:extLst>
          </p:cNvPr>
          <p:cNvSpPr>
            <a:spLocks noGrp="1"/>
          </p:cNvSpPr>
          <p:nvPr>
            <p:ph type="title"/>
          </p:nvPr>
        </p:nvSpPr>
        <p:spPr>
          <a:xfrm>
            <a:off x="4313" y="5691"/>
            <a:ext cx="10515600" cy="922997"/>
          </a:xfrm>
        </p:spPr>
        <p:txBody>
          <a:bodyPr/>
          <a:lstStyle/>
          <a:p>
            <a:r>
              <a:rPr lang="en-US" dirty="0" err="1">
                <a:cs typeface="Calibri Light"/>
              </a:rPr>
              <a:t>Visualising</a:t>
            </a:r>
            <a:r>
              <a:rPr lang="en-US" dirty="0">
                <a:cs typeface="Calibri Light"/>
              </a:rPr>
              <a:t> the mode</a:t>
            </a:r>
            <a:endParaRPr lang="en-US" dirty="0"/>
          </a:p>
        </p:txBody>
      </p:sp>
      <p:sp>
        <p:nvSpPr>
          <p:cNvPr id="3" name="Content Placeholder 2">
            <a:extLst>
              <a:ext uri="{FF2B5EF4-FFF2-40B4-BE49-F238E27FC236}">
                <a16:creationId xmlns:a16="http://schemas.microsoft.com/office/drawing/2014/main" id="{D0D0E6C4-91CF-87D1-55D5-D092279C1AF1}"/>
              </a:ext>
            </a:extLst>
          </p:cNvPr>
          <p:cNvSpPr>
            <a:spLocks noGrp="1"/>
          </p:cNvSpPr>
          <p:nvPr>
            <p:ph idx="1"/>
          </p:nvPr>
        </p:nvSpPr>
        <p:spPr>
          <a:xfrm>
            <a:off x="4314" y="6124455"/>
            <a:ext cx="11780806" cy="728244"/>
          </a:xfrm>
        </p:spPr>
        <p:txBody>
          <a:bodyPr vert="horz" lIns="91440" tIns="45720" rIns="91440" bIns="45720" rtlCol="0" anchor="t">
            <a:normAutofit fontScale="62500" lnSpcReduction="20000"/>
          </a:bodyPr>
          <a:lstStyle/>
          <a:p>
            <a:pPr marL="0" indent="0">
              <a:buNone/>
            </a:pPr>
            <a:r>
              <a:rPr lang="en-US" sz="5400" dirty="0">
                <a:ea typeface="Calibri"/>
                <a:cs typeface="Calibri"/>
              </a:rPr>
              <a:t>Figure 1: Hypothetical dataset that has a bimodal distribution</a:t>
            </a:r>
            <a:endParaRPr lang="en-US" dirty="0"/>
          </a:p>
        </p:txBody>
      </p:sp>
      <p:pic>
        <p:nvPicPr>
          <p:cNvPr id="5" name="Picture 4" descr="A histogram of simulated data is shown with two peaks.">
            <a:extLst>
              <a:ext uri="{FF2B5EF4-FFF2-40B4-BE49-F238E27FC236}">
                <a16:creationId xmlns:a16="http://schemas.microsoft.com/office/drawing/2014/main" id="{538E3935-2B03-9E17-13DD-355AB4354AB0}"/>
              </a:ext>
            </a:extLst>
          </p:cNvPr>
          <p:cNvPicPr>
            <a:picLocks noChangeAspect="1"/>
          </p:cNvPicPr>
          <p:nvPr/>
        </p:nvPicPr>
        <p:blipFill>
          <a:blip r:embed="rId2"/>
          <a:stretch>
            <a:fillRect/>
          </a:stretch>
        </p:blipFill>
        <p:spPr>
          <a:xfrm>
            <a:off x="2098645" y="1037416"/>
            <a:ext cx="7031427" cy="4768790"/>
          </a:xfrm>
          <a:prstGeom prst="rect">
            <a:avLst/>
          </a:prstGeom>
        </p:spPr>
      </p:pic>
    </p:spTree>
    <p:extLst>
      <p:ext uri="{BB962C8B-B14F-4D97-AF65-F5344CB8AC3E}">
        <p14:creationId xmlns:p14="http://schemas.microsoft.com/office/powerpoint/2010/main" val="36241730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B1CCF-7BAF-E0E4-C2EC-37CF51E0B8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482D5D-794F-CFD5-7199-5ECF19078284}"/>
              </a:ext>
            </a:extLst>
          </p:cNvPr>
          <p:cNvSpPr>
            <a:spLocks noGrp="1"/>
          </p:cNvSpPr>
          <p:nvPr>
            <p:ph type="title"/>
          </p:nvPr>
        </p:nvSpPr>
        <p:spPr>
          <a:xfrm>
            <a:off x="4313" y="5691"/>
            <a:ext cx="10515600" cy="922997"/>
          </a:xfrm>
        </p:spPr>
        <p:txBody>
          <a:bodyPr/>
          <a:lstStyle/>
          <a:p>
            <a:r>
              <a:rPr lang="en-US" dirty="0">
                <a:cs typeface="Calibri Light"/>
              </a:rPr>
              <a:t>The median</a:t>
            </a:r>
            <a:endParaRPr lang="en-US" dirty="0"/>
          </a:p>
        </p:txBody>
      </p:sp>
      <p:sp>
        <p:nvSpPr>
          <p:cNvPr id="3" name="Content Placeholder 2">
            <a:extLst>
              <a:ext uri="{FF2B5EF4-FFF2-40B4-BE49-F238E27FC236}">
                <a16:creationId xmlns:a16="http://schemas.microsoft.com/office/drawing/2014/main" id="{ADFB54C7-2DEF-B628-95D4-1978FAB9A905}"/>
              </a:ext>
            </a:extLst>
          </p:cNvPr>
          <p:cNvSpPr>
            <a:spLocks noGrp="1"/>
          </p:cNvSpPr>
          <p:nvPr>
            <p:ph idx="1"/>
          </p:nvPr>
        </p:nvSpPr>
        <p:spPr>
          <a:xfrm>
            <a:off x="205597" y="1063625"/>
            <a:ext cx="11780806" cy="5616545"/>
          </a:xfrm>
        </p:spPr>
        <p:txBody>
          <a:bodyPr vert="horz" lIns="91440" tIns="45720" rIns="91440" bIns="45720" rtlCol="0" anchor="t">
            <a:normAutofit/>
          </a:bodyPr>
          <a:lstStyle/>
          <a:p>
            <a:pPr marL="685800" indent="-685800"/>
            <a:r>
              <a:rPr lang="en-US" sz="5400" dirty="0">
                <a:ea typeface="Calibri"/>
                <a:cs typeface="Calibri"/>
              </a:rPr>
              <a:t>Observation in the middle when the observations are arranged in ascending order</a:t>
            </a:r>
            <a:endParaRPr lang="en-US" dirty="0"/>
          </a:p>
          <a:p>
            <a:pPr marL="685800" indent="-685800"/>
            <a:r>
              <a:rPr lang="en-US" sz="5400" dirty="0">
                <a:ea typeface="Calibri"/>
                <a:cs typeface="Calibri"/>
              </a:rPr>
              <a:t>There are an equal number of observations lower and higher than the median</a:t>
            </a:r>
          </a:p>
        </p:txBody>
      </p:sp>
    </p:spTree>
    <p:extLst>
      <p:ext uri="{BB962C8B-B14F-4D97-AF65-F5344CB8AC3E}">
        <p14:creationId xmlns:p14="http://schemas.microsoft.com/office/powerpoint/2010/main" val="41652747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5CCBA-9AA6-D940-1F2D-DA3F63EF81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E6A856-EEA0-F376-E642-3BC4B02DDF90}"/>
              </a:ext>
            </a:extLst>
          </p:cNvPr>
          <p:cNvSpPr>
            <a:spLocks noGrp="1"/>
          </p:cNvSpPr>
          <p:nvPr>
            <p:ph type="title"/>
          </p:nvPr>
        </p:nvSpPr>
        <p:spPr>
          <a:xfrm>
            <a:off x="4313" y="5691"/>
            <a:ext cx="12111486" cy="764847"/>
          </a:xfrm>
        </p:spPr>
        <p:txBody>
          <a:bodyPr/>
          <a:lstStyle/>
          <a:p>
            <a:r>
              <a:rPr lang="en-US" dirty="0">
                <a:cs typeface="Calibri Light"/>
              </a:rPr>
              <a:t>The median</a:t>
            </a:r>
            <a:endParaRPr lang="en-US" dirty="0"/>
          </a:p>
        </p:txBody>
      </p:sp>
      <p:graphicFrame>
        <p:nvGraphicFramePr>
          <p:cNvPr id="4" name="Table 4">
            <a:extLst>
              <a:ext uri="{FF2B5EF4-FFF2-40B4-BE49-F238E27FC236}">
                <a16:creationId xmlns:a16="http://schemas.microsoft.com/office/drawing/2014/main" id="{0EFE1008-ED4E-E672-05E3-3FD34C9D0A38}"/>
              </a:ext>
            </a:extLst>
          </p:cNvPr>
          <p:cNvGraphicFramePr>
            <a:graphicFrameLocks noGrp="1"/>
          </p:cNvGraphicFramePr>
          <p:nvPr>
            <p:ph idx="1"/>
            <p:extLst>
              <p:ext uri="{D42A27DB-BD31-4B8C-83A1-F6EECF244321}">
                <p14:modId xmlns:p14="http://schemas.microsoft.com/office/powerpoint/2010/main" val="2907835362"/>
              </p:ext>
            </p:extLst>
          </p:nvPr>
        </p:nvGraphicFramePr>
        <p:xfrm>
          <a:off x="316301" y="1308339"/>
          <a:ext cx="11578248" cy="1158240"/>
        </p:xfrm>
        <a:graphic>
          <a:graphicData uri="http://schemas.openxmlformats.org/drawingml/2006/table">
            <a:tbl>
              <a:tblPr firstRow="1" bandRow="1">
                <a:tableStyleId>{5C22544A-7EE6-4342-B048-85BDC9FD1C3A}</a:tableStyleId>
              </a:tblPr>
              <a:tblGrid>
                <a:gridCol w="1704412">
                  <a:extLst>
                    <a:ext uri="{9D8B030D-6E8A-4147-A177-3AD203B41FA5}">
                      <a16:colId xmlns:a16="http://schemas.microsoft.com/office/drawing/2014/main" val="1440659236"/>
                    </a:ext>
                  </a:extLst>
                </a:gridCol>
                <a:gridCol w="1523998">
                  <a:extLst>
                    <a:ext uri="{9D8B030D-6E8A-4147-A177-3AD203B41FA5}">
                      <a16:colId xmlns:a16="http://schemas.microsoft.com/office/drawing/2014/main" val="3595805577"/>
                    </a:ext>
                  </a:extLst>
                </a:gridCol>
                <a:gridCol w="1750976">
                  <a:extLst>
                    <a:ext uri="{9D8B030D-6E8A-4147-A177-3AD203B41FA5}">
                      <a16:colId xmlns:a16="http://schemas.microsoft.com/office/drawing/2014/main" val="3384190090"/>
                    </a:ext>
                  </a:extLst>
                </a:gridCol>
                <a:gridCol w="1799615">
                  <a:extLst>
                    <a:ext uri="{9D8B030D-6E8A-4147-A177-3AD203B41FA5}">
                      <a16:colId xmlns:a16="http://schemas.microsoft.com/office/drawing/2014/main" val="2776619890"/>
                    </a:ext>
                  </a:extLst>
                </a:gridCol>
                <a:gridCol w="1572638">
                  <a:extLst>
                    <a:ext uri="{9D8B030D-6E8A-4147-A177-3AD203B41FA5}">
                      <a16:colId xmlns:a16="http://schemas.microsoft.com/office/drawing/2014/main" val="2732717286"/>
                    </a:ext>
                  </a:extLst>
                </a:gridCol>
                <a:gridCol w="1686127">
                  <a:extLst>
                    <a:ext uri="{9D8B030D-6E8A-4147-A177-3AD203B41FA5}">
                      <a16:colId xmlns:a16="http://schemas.microsoft.com/office/drawing/2014/main" val="514508494"/>
                    </a:ext>
                  </a:extLst>
                </a:gridCol>
                <a:gridCol w="1540482">
                  <a:extLst>
                    <a:ext uri="{9D8B030D-6E8A-4147-A177-3AD203B41FA5}">
                      <a16:colId xmlns:a16="http://schemas.microsoft.com/office/drawing/2014/main" val="3803948661"/>
                    </a:ext>
                  </a:extLst>
                </a:gridCol>
              </a:tblGrid>
              <a:tr h="370840">
                <a:tc>
                  <a:txBody>
                    <a:bodyPr/>
                    <a:lstStyle/>
                    <a:p>
                      <a:r>
                        <a:rPr lang="en-US" sz="3200" dirty="0"/>
                        <a:t>x</a:t>
                      </a:r>
                      <a:r>
                        <a:rPr lang="en-US" sz="3200" baseline="-25000" dirty="0"/>
                        <a:t>1</a:t>
                      </a:r>
                    </a:p>
                  </a:txBody>
                  <a:tcPr/>
                </a:tc>
                <a:tc>
                  <a:txBody>
                    <a:bodyPr/>
                    <a:lstStyle/>
                    <a:p>
                      <a:pPr lvl="0">
                        <a:buNone/>
                      </a:pPr>
                      <a:r>
                        <a:rPr lang="en-US" sz="3200" dirty="0"/>
                        <a:t>x</a:t>
                      </a:r>
                      <a:r>
                        <a:rPr lang="en-US" sz="3200" baseline="-25000" dirty="0"/>
                        <a:t>2</a:t>
                      </a:r>
                    </a:p>
                  </a:txBody>
                  <a:tcPr/>
                </a:tc>
                <a:tc>
                  <a:txBody>
                    <a:bodyPr/>
                    <a:lstStyle/>
                    <a:p>
                      <a:pPr lvl="0">
                        <a:buNone/>
                      </a:pPr>
                      <a:r>
                        <a:rPr lang="en-US" sz="3200" dirty="0"/>
                        <a:t>x</a:t>
                      </a:r>
                      <a:r>
                        <a:rPr lang="en-US" sz="3200" baseline="-25000" dirty="0"/>
                        <a:t>3</a:t>
                      </a:r>
                    </a:p>
                  </a:txBody>
                  <a:tcPr/>
                </a:tc>
                <a:tc>
                  <a:txBody>
                    <a:bodyPr/>
                    <a:lstStyle/>
                    <a:p>
                      <a:pPr lvl="0">
                        <a:buNone/>
                      </a:pPr>
                      <a:r>
                        <a:rPr lang="en-US" sz="3200" dirty="0"/>
                        <a:t>x</a:t>
                      </a:r>
                      <a:r>
                        <a:rPr lang="en-US" sz="3200" baseline="-25000" dirty="0"/>
                        <a:t>4</a:t>
                      </a:r>
                    </a:p>
                  </a:txBody>
                  <a:tcPr/>
                </a:tc>
                <a:tc>
                  <a:txBody>
                    <a:bodyPr/>
                    <a:lstStyle/>
                    <a:p>
                      <a:pPr lvl="0">
                        <a:buNone/>
                      </a:pPr>
                      <a:r>
                        <a:rPr lang="en-US" sz="3200" dirty="0"/>
                        <a:t>x</a:t>
                      </a:r>
                      <a:r>
                        <a:rPr lang="en-US" sz="3200" baseline="-25000" dirty="0"/>
                        <a:t>5</a:t>
                      </a:r>
                    </a:p>
                  </a:txBody>
                  <a:tcPr/>
                </a:tc>
                <a:tc>
                  <a:txBody>
                    <a:bodyPr/>
                    <a:lstStyle/>
                    <a:p>
                      <a:pPr lvl="0">
                        <a:buNone/>
                      </a:pPr>
                      <a:r>
                        <a:rPr lang="en-US" sz="3200" dirty="0"/>
                        <a:t>x</a:t>
                      </a:r>
                      <a:r>
                        <a:rPr lang="en-US" sz="3200" baseline="-25000" dirty="0"/>
                        <a:t>6</a:t>
                      </a:r>
                    </a:p>
                  </a:txBody>
                  <a:tcPr/>
                </a:tc>
                <a:tc>
                  <a:txBody>
                    <a:bodyPr/>
                    <a:lstStyle/>
                    <a:p>
                      <a:pPr lvl="0">
                        <a:buNone/>
                      </a:pPr>
                      <a:r>
                        <a:rPr lang="en-US" sz="3200" dirty="0"/>
                        <a:t>x</a:t>
                      </a:r>
                      <a:r>
                        <a:rPr lang="en-US" sz="3200" baseline="-25000" dirty="0"/>
                        <a:t>7</a:t>
                      </a:r>
                    </a:p>
                  </a:txBody>
                  <a:tcPr/>
                </a:tc>
                <a:extLst>
                  <a:ext uri="{0D108BD9-81ED-4DB2-BD59-A6C34878D82A}">
                    <a16:rowId xmlns:a16="http://schemas.microsoft.com/office/drawing/2014/main" val="407627465"/>
                  </a:ext>
                </a:extLst>
              </a:tr>
              <a:tr h="370840">
                <a:tc>
                  <a:txBody>
                    <a:bodyPr/>
                    <a:lstStyle/>
                    <a:p>
                      <a:pPr lvl="0">
                        <a:buNone/>
                      </a:pPr>
                      <a:r>
                        <a:rPr lang="en-US" sz="3200" dirty="0"/>
                        <a:t>17.1</a:t>
                      </a:r>
                    </a:p>
                  </a:txBody>
                  <a:tcPr/>
                </a:tc>
                <a:tc>
                  <a:txBody>
                    <a:bodyPr/>
                    <a:lstStyle/>
                    <a:p>
                      <a:pPr lvl="0">
                        <a:buNone/>
                      </a:pPr>
                      <a:r>
                        <a:rPr lang="en-US" sz="3200" b="0" dirty="0"/>
                        <a:t>15.2</a:t>
                      </a:r>
                    </a:p>
                  </a:txBody>
                  <a:tcPr/>
                </a:tc>
                <a:tc>
                  <a:txBody>
                    <a:bodyPr/>
                    <a:lstStyle/>
                    <a:p>
                      <a:pPr lvl="0">
                        <a:buNone/>
                      </a:pPr>
                      <a:r>
                        <a:rPr lang="en-US" sz="3200" dirty="0"/>
                        <a:t>14.9</a:t>
                      </a:r>
                    </a:p>
                  </a:txBody>
                  <a:tcPr/>
                </a:tc>
                <a:tc>
                  <a:txBody>
                    <a:bodyPr/>
                    <a:lstStyle/>
                    <a:p>
                      <a:pPr lvl="0">
                        <a:buNone/>
                      </a:pPr>
                      <a:r>
                        <a:rPr lang="en-US" sz="3200" dirty="0"/>
                        <a:t>12.6</a:t>
                      </a:r>
                    </a:p>
                  </a:txBody>
                  <a:tcPr/>
                </a:tc>
                <a:tc>
                  <a:txBody>
                    <a:bodyPr/>
                    <a:lstStyle/>
                    <a:p>
                      <a:pPr lvl="0">
                        <a:buNone/>
                      </a:pPr>
                      <a:r>
                        <a:rPr lang="en-US" sz="3200" b="0" dirty="0"/>
                        <a:t>15.2</a:t>
                      </a:r>
                    </a:p>
                  </a:txBody>
                  <a:tcPr/>
                </a:tc>
                <a:tc>
                  <a:txBody>
                    <a:bodyPr/>
                    <a:lstStyle/>
                    <a:p>
                      <a:pPr lvl="0">
                        <a:buNone/>
                      </a:pPr>
                      <a:r>
                        <a:rPr lang="en-US" sz="3200" dirty="0"/>
                        <a:t>10.3</a:t>
                      </a:r>
                      <a:endParaRPr lang="en-US" dirty="0"/>
                    </a:p>
                  </a:txBody>
                  <a:tcPr/>
                </a:tc>
                <a:tc>
                  <a:txBody>
                    <a:bodyPr/>
                    <a:lstStyle/>
                    <a:p>
                      <a:pPr lvl="0">
                        <a:buNone/>
                      </a:pPr>
                      <a:r>
                        <a:rPr lang="en-US" sz="3200" dirty="0"/>
                        <a:t>12.7</a:t>
                      </a:r>
                    </a:p>
                  </a:txBody>
                  <a:tcPr/>
                </a:tc>
                <a:extLst>
                  <a:ext uri="{0D108BD9-81ED-4DB2-BD59-A6C34878D82A}">
                    <a16:rowId xmlns:a16="http://schemas.microsoft.com/office/drawing/2014/main" val="2749489767"/>
                  </a:ext>
                </a:extLst>
              </a:tr>
            </a:tbl>
          </a:graphicData>
        </a:graphic>
      </p:graphicFrame>
      <p:sp>
        <p:nvSpPr>
          <p:cNvPr id="8" name="TextBox 7">
            <a:extLst>
              <a:ext uri="{FF2B5EF4-FFF2-40B4-BE49-F238E27FC236}">
                <a16:creationId xmlns:a16="http://schemas.microsoft.com/office/drawing/2014/main" id="{41AC3757-618B-F345-B958-4F0381A529A0}"/>
              </a:ext>
            </a:extLst>
          </p:cNvPr>
          <p:cNvSpPr txBox="1"/>
          <p:nvPr/>
        </p:nvSpPr>
        <p:spPr>
          <a:xfrm>
            <a:off x="535327" y="3772374"/>
            <a:ext cx="9371162"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dirty="0">
                <a:ea typeface="Calibri"/>
                <a:cs typeface="Calibri"/>
              </a:rPr>
              <a:t>Sorting the data:</a:t>
            </a:r>
            <a:endParaRPr lang="en-US" dirty="0"/>
          </a:p>
        </p:txBody>
      </p:sp>
      <p:graphicFrame>
        <p:nvGraphicFramePr>
          <p:cNvPr id="6" name="Table 4">
            <a:extLst>
              <a:ext uri="{FF2B5EF4-FFF2-40B4-BE49-F238E27FC236}">
                <a16:creationId xmlns:a16="http://schemas.microsoft.com/office/drawing/2014/main" id="{9549DE84-7E10-E0DC-7AC1-C62214272091}"/>
              </a:ext>
            </a:extLst>
          </p:cNvPr>
          <p:cNvGraphicFramePr>
            <a:graphicFrameLocks/>
          </p:cNvGraphicFramePr>
          <p:nvPr>
            <p:extLst>
              <p:ext uri="{D42A27DB-BD31-4B8C-83A1-F6EECF244321}">
                <p14:modId xmlns:p14="http://schemas.microsoft.com/office/powerpoint/2010/main" val="971592829"/>
              </p:ext>
            </p:extLst>
          </p:nvPr>
        </p:nvGraphicFramePr>
        <p:xfrm>
          <a:off x="281796" y="4652513"/>
          <a:ext cx="11578248" cy="1158240"/>
        </p:xfrm>
        <a:graphic>
          <a:graphicData uri="http://schemas.openxmlformats.org/drawingml/2006/table">
            <a:tbl>
              <a:tblPr firstRow="1" bandRow="1">
                <a:tableStyleId>{5C22544A-7EE6-4342-B048-85BDC9FD1C3A}</a:tableStyleId>
              </a:tblPr>
              <a:tblGrid>
                <a:gridCol w="1704412">
                  <a:extLst>
                    <a:ext uri="{9D8B030D-6E8A-4147-A177-3AD203B41FA5}">
                      <a16:colId xmlns:a16="http://schemas.microsoft.com/office/drawing/2014/main" val="1440659236"/>
                    </a:ext>
                  </a:extLst>
                </a:gridCol>
                <a:gridCol w="1523998">
                  <a:extLst>
                    <a:ext uri="{9D8B030D-6E8A-4147-A177-3AD203B41FA5}">
                      <a16:colId xmlns:a16="http://schemas.microsoft.com/office/drawing/2014/main" val="3595805577"/>
                    </a:ext>
                  </a:extLst>
                </a:gridCol>
                <a:gridCol w="1750976">
                  <a:extLst>
                    <a:ext uri="{9D8B030D-6E8A-4147-A177-3AD203B41FA5}">
                      <a16:colId xmlns:a16="http://schemas.microsoft.com/office/drawing/2014/main" val="3384190090"/>
                    </a:ext>
                  </a:extLst>
                </a:gridCol>
                <a:gridCol w="1799615">
                  <a:extLst>
                    <a:ext uri="{9D8B030D-6E8A-4147-A177-3AD203B41FA5}">
                      <a16:colId xmlns:a16="http://schemas.microsoft.com/office/drawing/2014/main" val="2776619890"/>
                    </a:ext>
                  </a:extLst>
                </a:gridCol>
                <a:gridCol w="1572638">
                  <a:extLst>
                    <a:ext uri="{9D8B030D-6E8A-4147-A177-3AD203B41FA5}">
                      <a16:colId xmlns:a16="http://schemas.microsoft.com/office/drawing/2014/main" val="2732717286"/>
                    </a:ext>
                  </a:extLst>
                </a:gridCol>
                <a:gridCol w="1686127">
                  <a:extLst>
                    <a:ext uri="{9D8B030D-6E8A-4147-A177-3AD203B41FA5}">
                      <a16:colId xmlns:a16="http://schemas.microsoft.com/office/drawing/2014/main" val="514508494"/>
                    </a:ext>
                  </a:extLst>
                </a:gridCol>
                <a:gridCol w="1540482">
                  <a:extLst>
                    <a:ext uri="{9D8B030D-6E8A-4147-A177-3AD203B41FA5}">
                      <a16:colId xmlns:a16="http://schemas.microsoft.com/office/drawing/2014/main" val="3803948661"/>
                    </a:ext>
                  </a:extLst>
                </a:gridCol>
              </a:tblGrid>
              <a:tr h="370840">
                <a:tc>
                  <a:txBody>
                    <a:bodyPr/>
                    <a:lstStyle/>
                    <a:p>
                      <a:r>
                        <a:rPr lang="en-US" sz="3200" dirty="0"/>
                        <a:t>x</a:t>
                      </a:r>
                      <a:r>
                        <a:rPr lang="en-US" sz="3200" baseline="-25000" dirty="0"/>
                        <a:t>6</a:t>
                      </a:r>
                    </a:p>
                  </a:txBody>
                  <a:tcPr/>
                </a:tc>
                <a:tc>
                  <a:txBody>
                    <a:bodyPr/>
                    <a:lstStyle/>
                    <a:p>
                      <a:pPr lvl="0">
                        <a:buNone/>
                      </a:pPr>
                      <a:r>
                        <a:rPr lang="en-US" sz="3200" dirty="0"/>
                        <a:t>x</a:t>
                      </a:r>
                      <a:r>
                        <a:rPr lang="en-US" sz="3200" baseline="-25000" dirty="0"/>
                        <a:t>4</a:t>
                      </a:r>
                    </a:p>
                  </a:txBody>
                  <a:tcPr/>
                </a:tc>
                <a:tc>
                  <a:txBody>
                    <a:bodyPr/>
                    <a:lstStyle/>
                    <a:p>
                      <a:pPr lvl="0">
                        <a:buNone/>
                      </a:pPr>
                      <a:r>
                        <a:rPr lang="en-US" sz="3200" dirty="0"/>
                        <a:t>x</a:t>
                      </a:r>
                      <a:r>
                        <a:rPr lang="en-US" sz="3200" baseline="-25000" dirty="0"/>
                        <a:t>7</a:t>
                      </a:r>
                    </a:p>
                  </a:txBody>
                  <a:tcPr/>
                </a:tc>
                <a:tc>
                  <a:txBody>
                    <a:bodyPr/>
                    <a:lstStyle/>
                    <a:p>
                      <a:pPr lvl="0">
                        <a:buNone/>
                      </a:pPr>
                      <a:r>
                        <a:rPr lang="en-US" sz="3200" dirty="0"/>
                        <a:t>x</a:t>
                      </a:r>
                      <a:r>
                        <a:rPr lang="en-US" sz="3200" baseline="-25000" dirty="0"/>
                        <a:t>3</a:t>
                      </a:r>
                    </a:p>
                  </a:txBody>
                  <a:tcPr/>
                </a:tc>
                <a:tc>
                  <a:txBody>
                    <a:bodyPr/>
                    <a:lstStyle/>
                    <a:p>
                      <a:pPr lvl="0">
                        <a:buNone/>
                      </a:pPr>
                      <a:r>
                        <a:rPr lang="en-US" sz="3200" dirty="0"/>
                        <a:t>x</a:t>
                      </a:r>
                      <a:r>
                        <a:rPr lang="en-US" sz="3200" baseline="-25000" dirty="0"/>
                        <a:t>2</a:t>
                      </a:r>
                    </a:p>
                  </a:txBody>
                  <a:tcPr/>
                </a:tc>
                <a:tc>
                  <a:txBody>
                    <a:bodyPr/>
                    <a:lstStyle/>
                    <a:p>
                      <a:pPr lvl="0">
                        <a:buNone/>
                      </a:pPr>
                      <a:r>
                        <a:rPr lang="en-US" sz="3200" dirty="0"/>
                        <a:t>x</a:t>
                      </a:r>
                      <a:r>
                        <a:rPr lang="en-US" sz="3200" baseline="-25000" dirty="0"/>
                        <a:t>5</a:t>
                      </a:r>
                    </a:p>
                  </a:txBody>
                  <a:tcPr/>
                </a:tc>
                <a:tc>
                  <a:txBody>
                    <a:bodyPr/>
                    <a:lstStyle/>
                    <a:p>
                      <a:pPr lvl="0">
                        <a:buNone/>
                      </a:pPr>
                      <a:r>
                        <a:rPr lang="en-US" sz="3200" dirty="0"/>
                        <a:t>x</a:t>
                      </a:r>
                      <a:r>
                        <a:rPr lang="en-US" sz="3200" baseline="-25000" dirty="0"/>
                        <a:t>1</a:t>
                      </a:r>
                    </a:p>
                  </a:txBody>
                  <a:tcPr/>
                </a:tc>
                <a:extLst>
                  <a:ext uri="{0D108BD9-81ED-4DB2-BD59-A6C34878D82A}">
                    <a16:rowId xmlns:a16="http://schemas.microsoft.com/office/drawing/2014/main" val="407627465"/>
                  </a:ext>
                </a:extLst>
              </a:tr>
              <a:tr h="370840">
                <a:tc>
                  <a:txBody>
                    <a:bodyPr/>
                    <a:lstStyle/>
                    <a:p>
                      <a:pPr lvl="0">
                        <a:buNone/>
                      </a:pPr>
                      <a:r>
                        <a:rPr lang="en-US" sz="3200" dirty="0"/>
                        <a:t>10.3</a:t>
                      </a:r>
                    </a:p>
                  </a:txBody>
                  <a:tcPr/>
                </a:tc>
                <a:tc>
                  <a:txBody>
                    <a:bodyPr/>
                    <a:lstStyle/>
                    <a:p>
                      <a:pPr lvl="0">
                        <a:buNone/>
                      </a:pPr>
                      <a:r>
                        <a:rPr lang="en-US" sz="3200" b="0" dirty="0"/>
                        <a:t>12.6</a:t>
                      </a:r>
                    </a:p>
                  </a:txBody>
                  <a:tcPr/>
                </a:tc>
                <a:tc>
                  <a:txBody>
                    <a:bodyPr/>
                    <a:lstStyle/>
                    <a:p>
                      <a:pPr lvl="0">
                        <a:buNone/>
                      </a:pPr>
                      <a:r>
                        <a:rPr lang="en-US" sz="3200" dirty="0"/>
                        <a:t>12.7</a:t>
                      </a:r>
                    </a:p>
                  </a:txBody>
                  <a:tcPr/>
                </a:tc>
                <a:tc>
                  <a:txBody>
                    <a:bodyPr/>
                    <a:lstStyle/>
                    <a:p>
                      <a:pPr lvl="0">
                        <a:buNone/>
                      </a:pPr>
                      <a:r>
                        <a:rPr lang="en-US" sz="3200" b="1" dirty="0"/>
                        <a:t>14.9</a:t>
                      </a:r>
                    </a:p>
                  </a:txBody>
                  <a:tcPr/>
                </a:tc>
                <a:tc>
                  <a:txBody>
                    <a:bodyPr/>
                    <a:lstStyle/>
                    <a:p>
                      <a:pPr lvl="0">
                        <a:buNone/>
                      </a:pPr>
                      <a:r>
                        <a:rPr lang="en-US" sz="3200" b="0" dirty="0"/>
                        <a:t>15.2</a:t>
                      </a:r>
                    </a:p>
                  </a:txBody>
                  <a:tcPr/>
                </a:tc>
                <a:tc>
                  <a:txBody>
                    <a:bodyPr/>
                    <a:lstStyle/>
                    <a:p>
                      <a:pPr lvl="0">
                        <a:buNone/>
                      </a:pPr>
                      <a:r>
                        <a:rPr lang="en-US" sz="3200" dirty="0"/>
                        <a:t>15.2</a:t>
                      </a:r>
                      <a:endParaRPr lang="en-US" dirty="0"/>
                    </a:p>
                  </a:txBody>
                  <a:tcPr/>
                </a:tc>
                <a:tc>
                  <a:txBody>
                    <a:bodyPr/>
                    <a:lstStyle/>
                    <a:p>
                      <a:pPr lvl="0">
                        <a:buNone/>
                      </a:pPr>
                      <a:r>
                        <a:rPr lang="en-US" sz="3200" dirty="0"/>
                        <a:t>17.1</a:t>
                      </a:r>
                    </a:p>
                  </a:txBody>
                  <a:tcPr/>
                </a:tc>
                <a:extLst>
                  <a:ext uri="{0D108BD9-81ED-4DB2-BD59-A6C34878D82A}">
                    <a16:rowId xmlns:a16="http://schemas.microsoft.com/office/drawing/2014/main" val="2749489767"/>
                  </a:ext>
                </a:extLst>
              </a:tr>
            </a:tbl>
          </a:graphicData>
        </a:graphic>
      </p:graphicFrame>
    </p:spTree>
    <p:extLst>
      <p:ext uri="{BB962C8B-B14F-4D97-AF65-F5344CB8AC3E}">
        <p14:creationId xmlns:p14="http://schemas.microsoft.com/office/powerpoint/2010/main" val="2800212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573A3-8838-9F4B-C8FC-766C9CB328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A39C65-BE2F-FC65-3E37-A31A7505272B}"/>
              </a:ext>
            </a:extLst>
          </p:cNvPr>
          <p:cNvSpPr>
            <a:spLocks noGrp="1"/>
          </p:cNvSpPr>
          <p:nvPr>
            <p:ph type="title"/>
          </p:nvPr>
        </p:nvSpPr>
        <p:spPr>
          <a:xfrm>
            <a:off x="4313" y="5691"/>
            <a:ext cx="12111486" cy="764847"/>
          </a:xfrm>
        </p:spPr>
        <p:txBody>
          <a:bodyPr/>
          <a:lstStyle/>
          <a:p>
            <a:r>
              <a:rPr lang="en-US" dirty="0">
                <a:cs typeface="Calibri Light"/>
              </a:rPr>
              <a:t>The median</a:t>
            </a:r>
            <a:endParaRPr lang="en-US" dirty="0"/>
          </a:p>
        </p:txBody>
      </p:sp>
      <p:sp>
        <p:nvSpPr>
          <p:cNvPr id="3" name="TextBox 2">
            <a:extLst>
              <a:ext uri="{FF2B5EF4-FFF2-40B4-BE49-F238E27FC236}">
                <a16:creationId xmlns:a16="http://schemas.microsoft.com/office/drawing/2014/main" id="{BB3DF053-A255-9898-5A42-29ABF9986749}"/>
              </a:ext>
            </a:extLst>
          </p:cNvPr>
          <p:cNvSpPr txBox="1"/>
          <p:nvPr/>
        </p:nvSpPr>
        <p:spPr>
          <a:xfrm>
            <a:off x="334044" y="1227582"/>
            <a:ext cx="10995803" cy="31700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dirty="0">
                <a:ea typeface="Calibri"/>
                <a:cs typeface="Calibri"/>
              </a:rPr>
              <a:t>Median is a type of </a:t>
            </a:r>
            <a:r>
              <a:rPr lang="en-US" sz="4000" b="1" dirty="0">
                <a:ea typeface="Calibri"/>
                <a:cs typeface="Calibri"/>
              </a:rPr>
              <a:t>quantile </a:t>
            </a:r>
            <a:r>
              <a:rPr lang="en-US" sz="4000" dirty="0">
                <a:ea typeface="Calibri"/>
                <a:cs typeface="Calibri"/>
              </a:rPr>
              <a:t>(50%)</a:t>
            </a:r>
          </a:p>
          <a:p>
            <a:pPr marL="571500" indent="-571500">
              <a:buFont typeface="Arial"/>
              <a:buChar char="•"/>
            </a:pPr>
            <a:r>
              <a:rPr lang="en-US" sz="4000" dirty="0">
                <a:ea typeface="Calibri"/>
                <a:cs typeface="Calibri"/>
              </a:rPr>
              <a:t>Can break distributions into other quantiles</a:t>
            </a:r>
          </a:p>
          <a:p>
            <a:pPr marL="1028700" lvl="1" indent="-571500">
              <a:buFont typeface="Courier New"/>
              <a:buChar char="o"/>
            </a:pPr>
            <a:r>
              <a:rPr lang="en-US" sz="4000" dirty="0">
                <a:ea typeface="Calibri"/>
                <a:cs typeface="Calibri"/>
              </a:rPr>
              <a:t>First </a:t>
            </a:r>
            <a:r>
              <a:rPr lang="en-US" sz="4000" b="1" dirty="0">
                <a:ea typeface="Calibri"/>
                <a:cs typeface="Calibri"/>
              </a:rPr>
              <a:t>quartile </a:t>
            </a:r>
            <a:r>
              <a:rPr lang="en-US" sz="4000" dirty="0">
                <a:ea typeface="Calibri"/>
                <a:cs typeface="Calibri"/>
              </a:rPr>
              <a:t>(25% quantile)</a:t>
            </a:r>
          </a:p>
          <a:p>
            <a:pPr marL="1028700" lvl="1" indent="-571500">
              <a:buFont typeface="Courier New"/>
              <a:buChar char="o"/>
            </a:pPr>
            <a:r>
              <a:rPr lang="en-US" sz="4000" dirty="0">
                <a:ea typeface="Calibri"/>
                <a:cs typeface="Calibri"/>
              </a:rPr>
              <a:t>Third </a:t>
            </a:r>
            <a:r>
              <a:rPr lang="en-US" sz="4000" b="1" dirty="0">
                <a:ea typeface="Calibri"/>
                <a:cs typeface="Calibri"/>
              </a:rPr>
              <a:t>quartile </a:t>
            </a:r>
            <a:r>
              <a:rPr lang="en-US" sz="4000" dirty="0">
                <a:ea typeface="Calibri"/>
                <a:cs typeface="Calibri"/>
              </a:rPr>
              <a:t>(75% quantile)</a:t>
            </a:r>
          </a:p>
          <a:p>
            <a:pPr marL="571500" indent="-571500">
              <a:buFont typeface="Arial"/>
              <a:buChar char="•"/>
            </a:pPr>
            <a:r>
              <a:rPr lang="en-US" sz="4000" dirty="0">
                <a:ea typeface="Calibri"/>
                <a:cs typeface="Calibri"/>
              </a:rPr>
              <a:t>Quantiles also called 'percentiles'</a:t>
            </a:r>
          </a:p>
        </p:txBody>
      </p:sp>
      <p:graphicFrame>
        <p:nvGraphicFramePr>
          <p:cNvPr id="7" name="Table 4">
            <a:extLst>
              <a:ext uri="{FF2B5EF4-FFF2-40B4-BE49-F238E27FC236}">
                <a16:creationId xmlns:a16="http://schemas.microsoft.com/office/drawing/2014/main" id="{B431555D-FC69-7E82-D2A8-60245AE577BB}"/>
              </a:ext>
            </a:extLst>
          </p:cNvPr>
          <p:cNvGraphicFramePr>
            <a:graphicFrameLocks/>
          </p:cNvGraphicFramePr>
          <p:nvPr>
            <p:extLst>
              <p:ext uri="{D42A27DB-BD31-4B8C-83A1-F6EECF244321}">
                <p14:modId xmlns:p14="http://schemas.microsoft.com/office/powerpoint/2010/main" val="2699650510"/>
              </p:ext>
            </p:extLst>
          </p:nvPr>
        </p:nvGraphicFramePr>
        <p:xfrm>
          <a:off x="842512" y="5285117"/>
          <a:ext cx="8351639" cy="1158240"/>
        </p:xfrm>
        <a:graphic>
          <a:graphicData uri="http://schemas.openxmlformats.org/drawingml/2006/table">
            <a:tbl>
              <a:tblPr firstRow="1" bandRow="1">
                <a:tableStyleId>{5C22544A-7EE6-4342-B048-85BDC9FD1C3A}</a:tableStyleId>
              </a:tblPr>
              <a:tblGrid>
                <a:gridCol w="1704412">
                  <a:extLst>
                    <a:ext uri="{9D8B030D-6E8A-4147-A177-3AD203B41FA5}">
                      <a16:colId xmlns:a16="http://schemas.microsoft.com/office/drawing/2014/main" val="1440659236"/>
                    </a:ext>
                  </a:extLst>
                </a:gridCol>
                <a:gridCol w="1523998">
                  <a:extLst>
                    <a:ext uri="{9D8B030D-6E8A-4147-A177-3AD203B41FA5}">
                      <a16:colId xmlns:a16="http://schemas.microsoft.com/office/drawing/2014/main" val="3595805577"/>
                    </a:ext>
                  </a:extLst>
                </a:gridCol>
                <a:gridCol w="1750976">
                  <a:extLst>
                    <a:ext uri="{9D8B030D-6E8A-4147-A177-3AD203B41FA5}">
                      <a16:colId xmlns:a16="http://schemas.microsoft.com/office/drawing/2014/main" val="3384190090"/>
                    </a:ext>
                  </a:extLst>
                </a:gridCol>
                <a:gridCol w="1799615">
                  <a:extLst>
                    <a:ext uri="{9D8B030D-6E8A-4147-A177-3AD203B41FA5}">
                      <a16:colId xmlns:a16="http://schemas.microsoft.com/office/drawing/2014/main" val="2776619890"/>
                    </a:ext>
                  </a:extLst>
                </a:gridCol>
                <a:gridCol w="1572638">
                  <a:extLst>
                    <a:ext uri="{9D8B030D-6E8A-4147-A177-3AD203B41FA5}">
                      <a16:colId xmlns:a16="http://schemas.microsoft.com/office/drawing/2014/main" val="2732717286"/>
                    </a:ext>
                  </a:extLst>
                </a:gridCol>
              </a:tblGrid>
              <a:tr h="370840">
                <a:tc>
                  <a:txBody>
                    <a:bodyPr/>
                    <a:lstStyle/>
                    <a:p>
                      <a:r>
                        <a:rPr lang="en-US" sz="3200" dirty="0"/>
                        <a:t>x</a:t>
                      </a:r>
                      <a:r>
                        <a:rPr lang="en-US" sz="3200" baseline="-25000" dirty="0"/>
                        <a:t>1</a:t>
                      </a:r>
                    </a:p>
                  </a:txBody>
                  <a:tcPr/>
                </a:tc>
                <a:tc>
                  <a:txBody>
                    <a:bodyPr/>
                    <a:lstStyle/>
                    <a:p>
                      <a:pPr lvl="0">
                        <a:buNone/>
                      </a:pPr>
                      <a:r>
                        <a:rPr lang="en-US" sz="3200" dirty="0"/>
                        <a:t>x</a:t>
                      </a:r>
                      <a:r>
                        <a:rPr lang="en-US" sz="3200" baseline="-25000" dirty="0"/>
                        <a:t>2</a:t>
                      </a:r>
                    </a:p>
                  </a:txBody>
                  <a:tcPr/>
                </a:tc>
                <a:tc>
                  <a:txBody>
                    <a:bodyPr/>
                    <a:lstStyle/>
                    <a:p>
                      <a:pPr lvl="0">
                        <a:buNone/>
                      </a:pPr>
                      <a:r>
                        <a:rPr lang="en-US" sz="3200" dirty="0"/>
                        <a:t>x</a:t>
                      </a:r>
                      <a:r>
                        <a:rPr lang="en-US" sz="3200" baseline="-25000" dirty="0"/>
                        <a:t>3</a:t>
                      </a:r>
                    </a:p>
                  </a:txBody>
                  <a:tcPr/>
                </a:tc>
                <a:tc>
                  <a:txBody>
                    <a:bodyPr/>
                    <a:lstStyle/>
                    <a:p>
                      <a:pPr lvl="0">
                        <a:buNone/>
                      </a:pPr>
                      <a:r>
                        <a:rPr lang="en-US" sz="3200" dirty="0"/>
                        <a:t>x</a:t>
                      </a:r>
                      <a:r>
                        <a:rPr lang="en-US" sz="3200" baseline="-25000" dirty="0"/>
                        <a:t>4</a:t>
                      </a:r>
                    </a:p>
                  </a:txBody>
                  <a:tcPr/>
                </a:tc>
                <a:tc>
                  <a:txBody>
                    <a:bodyPr/>
                    <a:lstStyle/>
                    <a:p>
                      <a:pPr lvl="0">
                        <a:buNone/>
                      </a:pPr>
                      <a:r>
                        <a:rPr lang="en-US" sz="3200" dirty="0"/>
                        <a:t>x</a:t>
                      </a:r>
                      <a:r>
                        <a:rPr lang="en-US" sz="3200" baseline="-25000" dirty="0"/>
                        <a:t>5</a:t>
                      </a:r>
                    </a:p>
                  </a:txBody>
                  <a:tcPr/>
                </a:tc>
                <a:extLst>
                  <a:ext uri="{0D108BD9-81ED-4DB2-BD59-A6C34878D82A}">
                    <a16:rowId xmlns:a16="http://schemas.microsoft.com/office/drawing/2014/main" val="407627465"/>
                  </a:ext>
                </a:extLst>
              </a:tr>
              <a:tr h="370840">
                <a:tc>
                  <a:txBody>
                    <a:bodyPr/>
                    <a:lstStyle/>
                    <a:p>
                      <a:pPr lvl="0">
                        <a:buNone/>
                      </a:pPr>
                      <a:r>
                        <a:rPr lang="en-US" sz="3200" dirty="0"/>
                        <a:t>2</a:t>
                      </a:r>
                    </a:p>
                  </a:txBody>
                  <a:tcPr/>
                </a:tc>
                <a:tc>
                  <a:txBody>
                    <a:bodyPr/>
                    <a:lstStyle/>
                    <a:p>
                      <a:pPr lvl="0">
                        <a:buNone/>
                      </a:pPr>
                      <a:r>
                        <a:rPr lang="en-US" sz="3200" b="1" dirty="0"/>
                        <a:t>4</a:t>
                      </a:r>
                    </a:p>
                  </a:txBody>
                  <a:tcPr/>
                </a:tc>
                <a:tc>
                  <a:txBody>
                    <a:bodyPr/>
                    <a:lstStyle/>
                    <a:p>
                      <a:pPr lvl="0">
                        <a:buNone/>
                      </a:pPr>
                      <a:r>
                        <a:rPr lang="en-US" sz="3200" dirty="0"/>
                        <a:t>5</a:t>
                      </a:r>
                    </a:p>
                  </a:txBody>
                  <a:tcPr/>
                </a:tc>
                <a:tc>
                  <a:txBody>
                    <a:bodyPr/>
                    <a:lstStyle/>
                    <a:p>
                      <a:pPr lvl="0">
                        <a:buNone/>
                      </a:pPr>
                      <a:r>
                        <a:rPr lang="en-US" sz="3200" b="0" dirty="0"/>
                        <a:t>6</a:t>
                      </a:r>
                    </a:p>
                  </a:txBody>
                  <a:tcPr/>
                </a:tc>
                <a:tc>
                  <a:txBody>
                    <a:bodyPr/>
                    <a:lstStyle/>
                    <a:p>
                      <a:pPr lvl="0">
                        <a:buNone/>
                      </a:pPr>
                      <a:r>
                        <a:rPr lang="en-US" sz="3200" b="0" dirty="0"/>
                        <a:t>8</a:t>
                      </a:r>
                    </a:p>
                  </a:txBody>
                  <a:tcPr/>
                </a:tc>
                <a:extLst>
                  <a:ext uri="{0D108BD9-81ED-4DB2-BD59-A6C34878D82A}">
                    <a16:rowId xmlns:a16="http://schemas.microsoft.com/office/drawing/2014/main" val="2749489767"/>
                  </a:ext>
                </a:extLst>
              </a:tr>
            </a:tbl>
          </a:graphicData>
        </a:graphic>
      </p:graphicFrame>
    </p:spTree>
    <p:extLst>
      <p:ext uri="{BB962C8B-B14F-4D97-AF65-F5344CB8AC3E}">
        <p14:creationId xmlns:p14="http://schemas.microsoft.com/office/powerpoint/2010/main" val="36378644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C444B-0C89-92E5-5C1A-D07D4B3396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4622A5-AC42-DDD3-66E5-5DEC40284F30}"/>
              </a:ext>
            </a:extLst>
          </p:cNvPr>
          <p:cNvSpPr>
            <a:spLocks noGrp="1"/>
          </p:cNvSpPr>
          <p:nvPr>
            <p:ph type="title"/>
          </p:nvPr>
        </p:nvSpPr>
        <p:spPr>
          <a:xfrm>
            <a:off x="4313" y="5691"/>
            <a:ext cx="12111486" cy="764847"/>
          </a:xfrm>
        </p:spPr>
        <p:txBody>
          <a:bodyPr/>
          <a:lstStyle/>
          <a:p>
            <a:r>
              <a:rPr lang="en-US" dirty="0">
                <a:cs typeface="Calibri Light"/>
              </a:rPr>
              <a:t>The median</a:t>
            </a:r>
            <a:endParaRPr lang="en-US" dirty="0"/>
          </a:p>
        </p:txBody>
      </p:sp>
      <p:sp>
        <p:nvSpPr>
          <p:cNvPr id="3" name="TextBox 2">
            <a:extLst>
              <a:ext uri="{FF2B5EF4-FFF2-40B4-BE49-F238E27FC236}">
                <a16:creationId xmlns:a16="http://schemas.microsoft.com/office/drawing/2014/main" id="{A2CA6F3F-DBC6-A801-D4D8-D64148A91B04}"/>
              </a:ext>
            </a:extLst>
          </p:cNvPr>
          <p:cNvSpPr txBox="1"/>
          <p:nvPr/>
        </p:nvSpPr>
        <p:spPr>
          <a:xfrm>
            <a:off x="334044" y="1227582"/>
            <a:ext cx="10995803"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dirty="0">
                <a:ea typeface="Calibri"/>
                <a:cs typeface="Calibri"/>
              </a:rPr>
              <a:t>If there is no middle value</a:t>
            </a:r>
            <a:endParaRPr lang="en-US" dirty="0"/>
          </a:p>
        </p:txBody>
      </p:sp>
      <p:graphicFrame>
        <p:nvGraphicFramePr>
          <p:cNvPr id="5" name="Table 4">
            <a:extLst>
              <a:ext uri="{FF2B5EF4-FFF2-40B4-BE49-F238E27FC236}">
                <a16:creationId xmlns:a16="http://schemas.microsoft.com/office/drawing/2014/main" id="{0E1D3FD0-78BB-650D-DC51-DF47E7874AA6}"/>
              </a:ext>
            </a:extLst>
          </p:cNvPr>
          <p:cNvGraphicFramePr>
            <a:graphicFrameLocks/>
          </p:cNvGraphicFramePr>
          <p:nvPr>
            <p:extLst>
              <p:ext uri="{D42A27DB-BD31-4B8C-83A1-F6EECF244321}">
                <p14:modId xmlns:p14="http://schemas.microsoft.com/office/powerpoint/2010/main" val="3486138790"/>
              </p:ext>
            </p:extLst>
          </p:nvPr>
        </p:nvGraphicFramePr>
        <p:xfrm>
          <a:off x="612474" y="1949569"/>
          <a:ext cx="10037766" cy="1158240"/>
        </p:xfrm>
        <a:graphic>
          <a:graphicData uri="http://schemas.openxmlformats.org/drawingml/2006/table">
            <a:tbl>
              <a:tblPr firstRow="1" bandRow="1">
                <a:tableStyleId>{5C22544A-7EE6-4342-B048-85BDC9FD1C3A}</a:tableStyleId>
              </a:tblPr>
              <a:tblGrid>
                <a:gridCol w="1704412">
                  <a:extLst>
                    <a:ext uri="{9D8B030D-6E8A-4147-A177-3AD203B41FA5}">
                      <a16:colId xmlns:a16="http://schemas.microsoft.com/office/drawing/2014/main" val="1440659236"/>
                    </a:ext>
                  </a:extLst>
                </a:gridCol>
                <a:gridCol w="1523998">
                  <a:extLst>
                    <a:ext uri="{9D8B030D-6E8A-4147-A177-3AD203B41FA5}">
                      <a16:colId xmlns:a16="http://schemas.microsoft.com/office/drawing/2014/main" val="3595805577"/>
                    </a:ext>
                  </a:extLst>
                </a:gridCol>
                <a:gridCol w="1750976">
                  <a:extLst>
                    <a:ext uri="{9D8B030D-6E8A-4147-A177-3AD203B41FA5}">
                      <a16:colId xmlns:a16="http://schemas.microsoft.com/office/drawing/2014/main" val="3384190090"/>
                    </a:ext>
                  </a:extLst>
                </a:gridCol>
                <a:gridCol w="1799615">
                  <a:extLst>
                    <a:ext uri="{9D8B030D-6E8A-4147-A177-3AD203B41FA5}">
                      <a16:colId xmlns:a16="http://schemas.microsoft.com/office/drawing/2014/main" val="2776619890"/>
                    </a:ext>
                  </a:extLst>
                </a:gridCol>
                <a:gridCol w="1572638">
                  <a:extLst>
                    <a:ext uri="{9D8B030D-6E8A-4147-A177-3AD203B41FA5}">
                      <a16:colId xmlns:a16="http://schemas.microsoft.com/office/drawing/2014/main" val="2732717286"/>
                    </a:ext>
                  </a:extLst>
                </a:gridCol>
                <a:gridCol w="1686127">
                  <a:extLst>
                    <a:ext uri="{9D8B030D-6E8A-4147-A177-3AD203B41FA5}">
                      <a16:colId xmlns:a16="http://schemas.microsoft.com/office/drawing/2014/main" val="514508494"/>
                    </a:ext>
                  </a:extLst>
                </a:gridCol>
              </a:tblGrid>
              <a:tr h="370840">
                <a:tc>
                  <a:txBody>
                    <a:bodyPr/>
                    <a:lstStyle/>
                    <a:p>
                      <a:r>
                        <a:rPr lang="en-US" sz="3200" dirty="0"/>
                        <a:t>x</a:t>
                      </a:r>
                      <a:r>
                        <a:rPr lang="en-US" sz="3200" baseline="-25000" dirty="0"/>
                        <a:t>1</a:t>
                      </a:r>
                    </a:p>
                  </a:txBody>
                  <a:tcPr/>
                </a:tc>
                <a:tc>
                  <a:txBody>
                    <a:bodyPr/>
                    <a:lstStyle/>
                    <a:p>
                      <a:pPr lvl="0">
                        <a:buNone/>
                      </a:pPr>
                      <a:r>
                        <a:rPr lang="en-US" sz="3200" dirty="0"/>
                        <a:t>x</a:t>
                      </a:r>
                      <a:r>
                        <a:rPr lang="en-US" sz="3200" baseline="-25000" dirty="0"/>
                        <a:t>2</a:t>
                      </a:r>
                    </a:p>
                  </a:txBody>
                  <a:tcPr/>
                </a:tc>
                <a:tc>
                  <a:txBody>
                    <a:bodyPr/>
                    <a:lstStyle/>
                    <a:p>
                      <a:pPr lvl="0">
                        <a:buNone/>
                      </a:pPr>
                      <a:r>
                        <a:rPr lang="en-US" sz="3200" dirty="0"/>
                        <a:t>x</a:t>
                      </a:r>
                      <a:r>
                        <a:rPr lang="en-US" sz="3200" baseline="-25000" dirty="0"/>
                        <a:t>3</a:t>
                      </a:r>
                    </a:p>
                  </a:txBody>
                  <a:tcPr/>
                </a:tc>
                <a:tc>
                  <a:txBody>
                    <a:bodyPr/>
                    <a:lstStyle/>
                    <a:p>
                      <a:pPr lvl="0">
                        <a:buNone/>
                      </a:pPr>
                      <a:r>
                        <a:rPr lang="en-US" sz="3200" dirty="0"/>
                        <a:t>x</a:t>
                      </a:r>
                      <a:r>
                        <a:rPr lang="en-US" sz="3200" baseline="-25000" dirty="0"/>
                        <a:t>4</a:t>
                      </a:r>
                    </a:p>
                  </a:txBody>
                  <a:tcPr/>
                </a:tc>
                <a:tc>
                  <a:txBody>
                    <a:bodyPr/>
                    <a:lstStyle/>
                    <a:p>
                      <a:pPr lvl="0">
                        <a:buNone/>
                      </a:pPr>
                      <a:r>
                        <a:rPr lang="en-US" sz="3200" dirty="0"/>
                        <a:t>x</a:t>
                      </a:r>
                      <a:r>
                        <a:rPr lang="en-US" sz="3200" baseline="-25000" dirty="0"/>
                        <a:t>5</a:t>
                      </a:r>
                    </a:p>
                  </a:txBody>
                  <a:tcPr/>
                </a:tc>
                <a:tc>
                  <a:txBody>
                    <a:bodyPr/>
                    <a:lstStyle/>
                    <a:p>
                      <a:pPr lvl="0">
                        <a:buNone/>
                      </a:pPr>
                      <a:r>
                        <a:rPr lang="en-US" sz="3200" dirty="0"/>
                        <a:t>x</a:t>
                      </a:r>
                      <a:r>
                        <a:rPr lang="en-US" sz="3200" baseline="-25000" dirty="0"/>
                        <a:t>6</a:t>
                      </a:r>
                    </a:p>
                  </a:txBody>
                  <a:tcPr/>
                </a:tc>
                <a:extLst>
                  <a:ext uri="{0D108BD9-81ED-4DB2-BD59-A6C34878D82A}">
                    <a16:rowId xmlns:a16="http://schemas.microsoft.com/office/drawing/2014/main" val="407627465"/>
                  </a:ext>
                </a:extLst>
              </a:tr>
              <a:tr h="370840">
                <a:tc>
                  <a:txBody>
                    <a:bodyPr/>
                    <a:lstStyle/>
                    <a:p>
                      <a:pPr lvl="0">
                        <a:buNone/>
                      </a:pPr>
                      <a:r>
                        <a:rPr lang="en-US" sz="3200" b="0"/>
                        <a:t>3.1</a:t>
                      </a:r>
                      <a:endParaRPr lang="en-US" sz="3200" b="0" dirty="0"/>
                    </a:p>
                  </a:txBody>
                  <a:tcPr/>
                </a:tc>
                <a:tc>
                  <a:txBody>
                    <a:bodyPr/>
                    <a:lstStyle/>
                    <a:p>
                      <a:pPr lvl="0">
                        <a:buNone/>
                      </a:pPr>
                      <a:r>
                        <a:rPr lang="en-US" sz="3200" b="0" dirty="0"/>
                        <a:t>3.5</a:t>
                      </a:r>
                    </a:p>
                  </a:txBody>
                  <a:tcPr/>
                </a:tc>
                <a:tc>
                  <a:txBody>
                    <a:bodyPr/>
                    <a:lstStyle/>
                    <a:p>
                      <a:pPr lvl="0">
                        <a:buNone/>
                      </a:pPr>
                      <a:r>
                        <a:rPr lang="en-US" sz="3200" b="0" dirty="0"/>
                        <a:t>3.8</a:t>
                      </a:r>
                    </a:p>
                  </a:txBody>
                  <a:tcPr/>
                </a:tc>
                <a:tc>
                  <a:txBody>
                    <a:bodyPr/>
                    <a:lstStyle/>
                    <a:p>
                      <a:pPr lvl="0">
                        <a:buNone/>
                      </a:pPr>
                      <a:r>
                        <a:rPr lang="en-US" sz="3200" b="0" dirty="0"/>
                        <a:t>4.0</a:t>
                      </a:r>
                    </a:p>
                  </a:txBody>
                  <a:tcPr/>
                </a:tc>
                <a:tc>
                  <a:txBody>
                    <a:bodyPr/>
                    <a:lstStyle/>
                    <a:p>
                      <a:pPr lvl="0">
                        <a:buNone/>
                      </a:pPr>
                      <a:r>
                        <a:rPr lang="en-US" sz="3200" b="0" dirty="0"/>
                        <a:t>4.2</a:t>
                      </a:r>
                    </a:p>
                  </a:txBody>
                  <a:tcPr/>
                </a:tc>
                <a:tc>
                  <a:txBody>
                    <a:bodyPr/>
                    <a:lstStyle/>
                    <a:p>
                      <a:pPr lvl="0">
                        <a:buNone/>
                      </a:pPr>
                      <a:r>
                        <a:rPr lang="en-US" sz="3200" b="0" dirty="0"/>
                        <a:t>4.2</a:t>
                      </a:r>
                      <a:endParaRPr lang="en-US" b="0"/>
                    </a:p>
                  </a:txBody>
                  <a:tcPr/>
                </a:tc>
                <a:extLst>
                  <a:ext uri="{0D108BD9-81ED-4DB2-BD59-A6C34878D82A}">
                    <a16:rowId xmlns:a16="http://schemas.microsoft.com/office/drawing/2014/main" val="2749489767"/>
                  </a:ext>
                </a:extLst>
              </a:tr>
            </a:tbl>
          </a:graphicData>
        </a:graphic>
      </p:graphicFrame>
      <p:sp>
        <p:nvSpPr>
          <p:cNvPr id="6" name="TextBox 5">
            <a:extLst>
              <a:ext uri="{FF2B5EF4-FFF2-40B4-BE49-F238E27FC236}">
                <a16:creationId xmlns:a16="http://schemas.microsoft.com/office/drawing/2014/main" id="{C640E432-5605-046D-03AC-FF27CAA922F8}"/>
              </a:ext>
            </a:extLst>
          </p:cNvPr>
          <p:cNvSpPr txBox="1"/>
          <p:nvPr/>
        </p:nvSpPr>
        <p:spPr>
          <a:xfrm>
            <a:off x="334043" y="3873015"/>
            <a:ext cx="10995803"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dirty="0">
                <a:ea typeface="Calibri"/>
                <a:cs typeface="Calibri"/>
              </a:rPr>
              <a:t>Take mean of middle values</a:t>
            </a:r>
            <a:endParaRPr lang="en-US" dirty="0"/>
          </a:p>
        </p:txBody>
      </p:sp>
      <p:pic>
        <p:nvPicPr>
          <p:cNvPr id="8" name="Picture 7" descr="Equation shows (3.8 + 4.0)/2 = 3.9">
            <a:extLst>
              <a:ext uri="{FF2B5EF4-FFF2-40B4-BE49-F238E27FC236}">
                <a16:creationId xmlns:a16="http://schemas.microsoft.com/office/drawing/2014/main" id="{3A7D4C99-5215-F2E8-A7AF-EAB41567C994}"/>
              </a:ext>
            </a:extLst>
          </p:cNvPr>
          <p:cNvPicPr>
            <a:picLocks noChangeAspect="1"/>
          </p:cNvPicPr>
          <p:nvPr/>
        </p:nvPicPr>
        <p:blipFill>
          <a:blip r:embed="rId2"/>
          <a:stretch>
            <a:fillRect/>
          </a:stretch>
        </p:blipFill>
        <p:spPr>
          <a:xfrm>
            <a:off x="3412915" y="4880215"/>
            <a:ext cx="3267075" cy="1238250"/>
          </a:xfrm>
          <a:prstGeom prst="rect">
            <a:avLst/>
          </a:prstGeom>
        </p:spPr>
      </p:pic>
    </p:spTree>
    <p:extLst>
      <p:ext uri="{BB962C8B-B14F-4D97-AF65-F5344CB8AC3E}">
        <p14:creationId xmlns:p14="http://schemas.microsoft.com/office/powerpoint/2010/main" val="22056791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2A596-AF87-6595-BC2F-CC774DECCF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C35A94-1819-9711-D387-819939F46AF0}"/>
              </a:ext>
            </a:extLst>
          </p:cNvPr>
          <p:cNvSpPr>
            <a:spLocks noGrp="1"/>
          </p:cNvSpPr>
          <p:nvPr>
            <p:ph type="title"/>
          </p:nvPr>
        </p:nvSpPr>
        <p:spPr>
          <a:xfrm>
            <a:off x="4313" y="5691"/>
            <a:ext cx="10515600" cy="922997"/>
          </a:xfrm>
        </p:spPr>
        <p:txBody>
          <a:bodyPr/>
          <a:lstStyle/>
          <a:p>
            <a:r>
              <a:rPr lang="en-US" dirty="0">
                <a:cs typeface="Calibri Light"/>
              </a:rPr>
              <a:t>The median</a:t>
            </a:r>
            <a:endParaRPr lang="en-US" dirty="0"/>
          </a:p>
        </p:txBody>
      </p:sp>
      <p:sp>
        <p:nvSpPr>
          <p:cNvPr id="5" name="TextBox 4">
            <a:extLst>
              <a:ext uri="{FF2B5EF4-FFF2-40B4-BE49-F238E27FC236}">
                <a16:creationId xmlns:a16="http://schemas.microsoft.com/office/drawing/2014/main" id="{C23B9C7C-6F74-0EE4-B62C-1C561A2E999D}"/>
              </a:ext>
            </a:extLst>
          </p:cNvPr>
          <p:cNvSpPr txBox="1"/>
          <p:nvPr/>
        </p:nvSpPr>
        <p:spPr>
          <a:xfrm>
            <a:off x="292535" y="6395449"/>
            <a:ext cx="1157089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AutoNum type="arabicPeriod"/>
            </a:pPr>
            <a:r>
              <a:rPr lang="en-US" sz="2400" dirty="0">
                <a:ea typeface="+mn-lt"/>
                <a:cs typeface="+mn-lt"/>
              </a:rPr>
              <a:t>Hyndman, RJ, &amp; Y Fan. 1996. American Statistician </a:t>
            </a:r>
            <a:r>
              <a:rPr lang="en-US" sz="2400" dirty="0">
                <a:ea typeface="+mn-lt"/>
                <a:cs typeface="+mn-lt"/>
                <a:hlinkClick r:id="rId2"/>
              </a:rPr>
              <a:t>50:361–65</a:t>
            </a:r>
            <a:r>
              <a:rPr lang="en-US" sz="2400" dirty="0">
                <a:ea typeface="+mn-lt"/>
                <a:cs typeface="+mn-lt"/>
              </a:rPr>
              <a:t>.</a:t>
            </a:r>
          </a:p>
        </p:txBody>
      </p:sp>
      <p:sp>
        <p:nvSpPr>
          <p:cNvPr id="6" name="Content Placeholder 2">
            <a:extLst>
              <a:ext uri="{FF2B5EF4-FFF2-40B4-BE49-F238E27FC236}">
                <a16:creationId xmlns:a16="http://schemas.microsoft.com/office/drawing/2014/main" id="{E8286EF0-0484-34A2-695D-7652DB2E689A}"/>
              </a:ext>
            </a:extLst>
          </p:cNvPr>
          <p:cNvSpPr txBox="1">
            <a:spLocks/>
          </p:cNvSpPr>
          <p:nvPr/>
        </p:nvSpPr>
        <p:spPr>
          <a:xfrm>
            <a:off x="291861" y="938934"/>
            <a:ext cx="11694542" cy="412705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5800" indent="-685800"/>
            <a:r>
              <a:rPr lang="en-US" sz="5400" dirty="0">
                <a:ea typeface="Calibri"/>
                <a:cs typeface="Calibri"/>
              </a:rPr>
              <a:t>Multiple valid ways to calculate quantiles</a:t>
            </a:r>
          </a:p>
          <a:p>
            <a:pPr marL="685800" indent="-685800"/>
            <a:r>
              <a:rPr lang="en-US" sz="5400" dirty="0">
                <a:ea typeface="Calibri"/>
                <a:cs typeface="Calibri"/>
              </a:rPr>
              <a:t>No one 'right' way</a:t>
            </a:r>
          </a:p>
          <a:p>
            <a:pPr marL="685800" indent="-685800"/>
            <a:r>
              <a:rPr lang="en-US" sz="5400" dirty="0" err="1">
                <a:ea typeface="Calibri"/>
                <a:cs typeface="Calibri"/>
              </a:rPr>
              <a:t>Jamovi's</a:t>
            </a:r>
            <a:r>
              <a:rPr lang="en-US" sz="5400" dirty="0">
                <a:ea typeface="Calibri"/>
                <a:cs typeface="Calibri"/>
              </a:rPr>
              <a:t> approach might differ from other software</a:t>
            </a:r>
          </a:p>
        </p:txBody>
      </p:sp>
    </p:spTree>
    <p:extLst>
      <p:ext uri="{BB962C8B-B14F-4D97-AF65-F5344CB8AC3E}">
        <p14:creationId xmlns:p14="http://schemas.microsoft.com/office/powerpoint/2010/main" val="35963810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2691C7-2065-6574-C4E0-4E15388F62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3857D4-8CF9-94A3-659F-4E8DDB2FE34F}"/>
              </a:ext>
            </a:extLst>
          </p:cNvPr>
          <p:cNvSpPr>
            <a:spLocks noGrp="1"/>
          </p:cNvSpPr>
          <p:nvPr>
            <p:ph type="title"/>
          </p:nvPr>
        </p:nvSpPr>
        <p:spPr>
          <a:xfrm>
            <a:off x="4313" y="5691"/>
            <a:ext cx="10515600" cy="922997"/>
          </a:xfrm>
        </p:spPr>
        <p:txBody>
          <a:bodyPr/>
          <a:lstStyle/>
          <a:p>
            <a:r>
              <a:rPr lang="en-US" dirty="0">
                <a:cs typeface="Calibri Light"/>
              </a:rPr>
              <a:t>Median more robust to outliers</a:t>
            </a:r>
            <a:endParaRPr lang="en-US" dirty="0"/>
          </a:p>
        </p:txBody>
      </p:sp>
      <p:pic>
        <p:nvPicPr>
          <p:cNvPr id="7" name="Picture 6" descr="A highly skewed distribution is shown with a mean of 994.2 and median of 687.5.">
            <a:extLst>
              <a:ext uri="{FF2B5EF4-FFF2-40B4-BE49-F238E27FC236}">
                <a16:creationId xmlns:a16="http://schemas.microsoft.com/office/drawing/2014/main" id="{8135B268-5BD5-FD8A-33B7-2912B4EBB950}"/>
              </a:ext>
            </a:extLst>
          </p:cNvPr>
          <p:cNvPicPr>
            <a:picLocks noChangeAspect="1"/>
          </p:cNvPicPr>
          <p:nvPr/>
        </p:nvPicPr>
        <p:blipFill>
          <a:blip r:embed="rId2"/>
          <a:stretch>
            <a:fillRect/>
          </a:stretch>
        </p:blipFill>
        <p:spPr>
          <a:xfrm>
            <a:off x="1653846" y="942525"/>
            <a:ext cx="8654272" cy="5921855"/>
          </a:xfrm>
          <a:prstGeom prst="rect">
            <a:avLst/>
          </a:prstGeom>
        </p:spPr>
      </p:pic>
    </p:spTree>
    <p:extLst>
      <p:ext uri="{BB962C8B-B14F-4D97-AF65-F5344CB8AC3E}">
        <p14:creationId xmlns:p14="http://schemas.microsoft.com/office/powerpoint/2010/main" val="17289303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0E922-3251-9645-009D-4910050E6E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A4DC6C-CB68-0439-081D-BBB544155C87}"/>
              </a:ext>
            </a:extLst>
          </p:cNvPr>
          <p:cNvSpPr>
            <a:spLocks noGrp="1"/>
          </p:cNvSpPr>
          <p:nvPr>
            <p:ph type="title"/>
          </p:nvPr>
        </p:nvSpPr>
        <p:spPr>
          <a:xfrm>
            <a:off x="4313" y="5691"/>
            <a:ext cx="10515600" cy="922997"/>
          </a:xfrm>
        </p:spPr>
        <p:txBody>
          <a:bodyPr/>
          <a:lstStyle/>
          <a:p>
            <a:r>
              <a:rPr lang="en-US" dirty="0">
                <a:cs typeface="Calibri Light"/>
              </a:rPr>
              <a:t>Measures of spread</a:t>
            </a:r>
            <a:endParaRPr lang="en-US" dirty="0"/>
          </a:p>
        </p:txBody>
      </p:sp>
      <p:sp>
        <p:nvSpPr>
          <p:cNvPr id="3" name="Content Placeholder 2">
            <a:extLst>
              <a:ext uri="{FF2B5EF4-FFF2-40B4-BE49-F238E27FC236}">
                <a16:creationId xmlns:a16="http://schemas.microsoft.com/office/drawing/2014/main" id="{F44708F5-1424-0875-642D-B992041F4401}"/>
              </a:ext>
            </a:extLst>
          </p:cNvPr>
          <p:cNvSpPr>
            <a:spLocks noGrp="1"/>
          </p:cNvSpPr>
          <p:nvPr>
            <p:ph idx="1"/>
          </p:nvPr>
        </p:nvSpPr>
        <p:spPr>
          <a:xfrm>
            <a:off x="205597" y="1063625"/>
            <a:ext cx="11780806" cy="5616545"/>
          </a:xfrm>
        </p:spPr>
        <p:txBody>
          <a:bodyPr vert="horz" lIns="91440" tIns="45720" rIns="91440" bIns="45720" rtlCol="0" anchor="t">
            <a:normAutofit/>
          </a:bodyPr>
          <a:lstStyle/>
          <a:p>
            <a:pPr marL="685800" indent="-685800"/>
            <a:r>
              <a:rPr lang="en-US" sz="5400" dirty="0">
                <a:ea typeface="Calibri"/>
                <a:cs typeface="Calibri"/>
              </a:rPr>
              <a:t>Range</a:t>
            </a:r>
            <a:endParaRPr lang="en-US" dirty="0">
              <a:ea typeface="Calibri"/>
              <a:cs typeface="Calibri"/>
            </a:endParaRPr>
          </a:p>
          <a:p>
            <a:pPr marL="685800" indent="-685800"/>
            <a:r>
              <a:rPr lang="en-US" sz="5400" dirty="0">
                <a:ea typeface="Calibri"/>
                <a:cs typeface="Calibri"/>
              </a:rPr>
              <a:t>Interquartile range (IQR)</a:t>
            </a:r>
          </a:p>
          <a:p>
            <a:pPr marL="685800" indent="-685800"/>
            <a:r>
              <a:rPr lang="en-US" sz="5400" dirty="0">
                <a:ea typeface="Calibri"/>
                <a:cs typeface="Calibri"/>
              </a:rPr>
              <a:t>Variance (</a:t>
            </a:r>
            <a:r>
              <a:rPr lang="en-US" sz="5400" i="1" dirty="0">
                <a:ea typeface="Calibri"/>
                <a:cs typeface="Calibri"/>
              </a:rPr>
              <a:t>s</a:t>
            </a:r>
            <a:r>
              <a:rPr lang="en-US" sz="5400" i="1" baseline="30000" dirty="0">
                <a:ea typeface="Calibri"/>
                <a:cs typeface="Calibri"/>
              </a:rPr>
              <a:t>2</a:t>
            </a:r>
            <a:r>
              <a:rPr lang="en-US" sz="5400" dirty="0">
                <a:ea typeface="Calibri"/>
                <a:cs typeface="Calibri"/>
              </a:rPr>
              <a:t>)</a:t>
            </a:r>
          </a:p>
          <a:p>
            <a:pPr marL="685800" indent="-685800"/>
            <a:r>
              <a:rPr lang="en-US" sz="5400" dirty="0">
                <a:ea typeface="Calibri"/>
                <a:cs typeface="Calibri"/>
              </a:rPr>
              <a:t>Standard deviation (</a:t>
            </a:r>
            <a:r>
              <a:rPr lang="en-US" sz="5400" i="1" dirty="0">
                <a:ea typeface="Calibri"/>
                <a:cs typeface="Calibri"/>
              </a:rPr>
              <a:t>s</a:t>
            </a:r>
            <a:r>
              <a:rPr lang="en-US" sz="5400" dirty="0">
                <a:ea typeface="Calibri"/>
                <a:cs typeface="Calibri"/>
              </a:rPr>
              <a:t>)</a:t>
            </a:r>
          </a:p>
          <a:p>
            <a:pPr marL="685800" indent="-685800"/>
            <a:r>
              <a:rPr lang="en-US" sz="5400" dirty="0">
                <a:ea typeface="Calibri"/>
                <a:cs typeface="Calibri"/>
              </a:rPr>
              <a:t>Coefficient of variation (</a:t>
            </a:r>
            <a:r>
              <a:rPr lang="en-US" sz="5400" i="1" dirty="0">
                <a:ea typeface="Calibri"/>
                <a:cs typeface="Calibri"/>
              </a:rPr>
              <a:t>CV</a:t>
            </a:r>
            <a:r>
              <a:rPr lang="en-US" sz="5400" dirty="0">
                <a:ea typeface="Calibri"/>
                <a:cs typeface="Calibri"/>
              </a:rPr>
              <a:t>)</a:t>
            </a:r>
          </a:p>
        </p:txBody>
      </p:sp>
    </p:spTree>
    <p:extLst>
      <p:ext uri="{BB962C8B-B14F-4D97-AF65-F5344CB8AC3E}">
        <p14:creationId xmlns:p14="http://schemas.microsoft.com/office/powerpoint/2010/main" val="5794983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81145-5844-2835-CD43-EBED32C5D7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B81C66-6613-E284-2C0A-8DFFC6C16D9A}"/>
              </a:ext>
            </a:extLst>
          </p:cNvPr>
          <p:cNvSpPr>
            <a:spLocks noGrp="1"/>
          </p:cNvSpPr>
          <p:nvPr>
            <p:ph type="title"/>
          </p:nvPr>
        </p:nvSpPr>
        <p:spPr>
          <a:xfrm>
            <a:off x="4313" y="5691"/>
            <a:ext cx="10515600" cy="922997"/>
          </a:xfrm>
        </p:spPr>
        <p:txBody>
          <a:bodyPr/>
          <a:lstStyle/>
          <a:p>
            <a:r>
              <a:rPr lang="en-US" dirty="0">
                <a:cs typeface="Calibri Light"/>
              </a:rPr>
              <a:t>Measures of spread</a:t>
            </a:r>
            <a:endParaRPr lang="en-US" dirty="0"/>
          </a:p>
        </p:txBody>
      </p:sp>
      <p:sp>
        <p:nvSpPr>
          <p:cNvPr id="3" name="Content Placeholder 2">
            <a:extLst>
              <a:ext uri="{FF2B5EF4-FFF2-40B4-BE49-F238E27FC236}">
                <a16:creationId xmlns:a16="http://schemas.microsoft.com/office/drawing/2014/main" id="{2C268FA3-6D0D-FC7D-86C1-E78472DBC6D2}"/>
              </a:ext>
            </a:extLst>
          </p:cNvPr>
          <p:cNvSpPr>
            <a:spLocks noGrp="1"/>
          </p:cNvSpPr>
          <p:nvPr>
            <p:ph idx="1"/>
          </p:nvPr>
        </p:nvSpPr>
        <p:spPr>
          <a:xfrm>
            <a:off x="4314" y="6124455"/>
            <a:ext cx="11780806" cy="728244"/>
          </a:xfrm>
        </p:spPr>
        <p:txBody>
          <a:bodyPr vert="horz" lIns="91440" tIns="45720" rIns="91440" bIns="45720" rtlCol="0" anchor="t">
            <a:normAutofit fontScale="92500" lnSpcReduction="10000"/>
          </a:bodyPr>
          <a:lstStyle/>
          <a:p>
            <a:pPr marL="0" indent="0">
              <a:buNone/>
            </a:pPr>
            <a:r>
              <a:rPr lang="en-US" sz="5400" dirty="0">
                <a:ea typeface="Calibri"/>
                <a:cs typeface="Calibri"/>
              </a:rPr>
              <a:t>Range, IQR, </a:t>
            </a:r>
            <a:r>
              <a:rPr lang="en-US" sz="5400" i="1" dirty="0">
                <a:ea typeface="Calibri"/>
                <a:cs typeface="Calibri"/>
              </a:rPr>
              <a:t>s</a:t>
            </a:r>
            <a:r>
              <a:rPr lang="en-US" sz="5400" i="1" baseline="30000" dirty="0">
                <a:ea typeface="Calibri"/>
                <a:cs typeface="Calibri"/>
              </a:rPr>
              <a:t>2</a:t>
            </a:r>
            <a:r>
              <a:rPr lang="en-US" sz="5400" dirty="0">
                <a:ea typeface="Calibri"/>
                <a:cs typeface="Calibri"/>
              </a:rPr>
              <a:t>, </a:t>
            </a:r>
            <a:r>
              <a:rPr lang="en-US" sz="5400" i="1" dirty="0">
                <a:ea typeface="Calibri"/>
                <a:cs typeface="Calibri"/>
              </a:rPr>
              <a:t>s</a:t>
            </a:r>
            <a:r>
              <a:rPr lang="en-US" sz="5400" dirty="0">
                <a:ea typeface="Calibri"/>
                <a:cs typeface="Calibri"/>
              </a:rPr>
              <a:t>, </a:t>
            </a:r>
            <a:r>
              <a:rPr lang="en-US" sz="5400" i="1" dirty="0">
                <a:ea typeface="Calibri"/>
                <a:cs typeface="Calibri"/>
              </a:rPr>
              <a:t>CV</a:t>
            </a:r>
            <a:endParaRPr lang="en-US" dirty="0">
              <a:ea typeface="Calibri" panose="020F0502020204030204"/>
              <a:cs typeface="Calibri" panose="020F0502020204030204"/>
            </a:endParaRPr>
          </a:p>
        </p:txBody>
      </p:sp>
      <p:pic>
        <p:nvPicPr>
          <p:cNvPr id="5" name="Picture 4" descr="Screenshot of jamovi interface for descriptive statistics with options on the left panel and output on the right panel. A red box highlights measures of dispersion.">
            <a:extLst>
              <a:ext uri="{FF2B5EF4-FFF2-40B4-BE49-F238E27FC236}">
                <a16:creationId xmlns:a16="http://schemas.microsoft.com/office/drawing/2014/main" id="{EF513D4D-BC3B-4601-75AC-64B1F688B52F}"/>
              </a:ext>
            </a:extLst>
          </p:cNvPr>
          <p:cNvPicPr>
            <a:picLocks noChangeAspect="1"/>
          </p:cNvPicPr>
          <p:nvPr/>
        </p:nvPicPr>
        <p:blipFill>
          <a:blip r:embed="rId2"/>
          <a:stretch>
            <a:fillRect/>
          </a:stretch>
        </p:blipFill>
        <p:spPr>
          <a:xfrm>
            <a:off x="2470722" y="920150"/>
            <a:ext cx="6862368" cy="5017699"/>
          </a:xfrm>
          <a:prstGeom prst="rect">
            <a:avLst/>
          </a:prstGeom>
        </p:spPr>
      </p:pic>
    </p:spTree>
    <p:extLst>
      <p:ext uri="{BB962C8B-B14F-4D97-AF65-F5344CB8AC3E}">
        <p14:creationId xmlns:p14="http://schemas.microsoft.com/office/powerpoint/2010/main" val="37935836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9EAA0-7B61-8A71-74AA-EBFAF0CF4B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66522E-E772-F9DF-AF3D-330054ADFE30}"/>
              </a:ext>
            </a:extLst>
          </p:cNvPr>
          <p:cNvSpPr>
            <a:spLocks noGrp="1"/>
          </p:cNvSpPr>
          <p:nvPr>
            <p:ph type="title"/>
          </p:nvPr>
        </p:nvSpPr>
        <p:spPr>
          <a:xfrm>
            <a:off x="4313" y="5691"/>
            <a:ext cx="10515600" cy="922997"/>
          </a:xfrm>
        </p:spPr>
        <p:txBody>
          <a:bodyPr/>
          <a:lstStyle/>
          <a:p>
            <a:r>
              <a:rPr lang="en-US" dirty="0">
                <a:cs typeface="Calibri Light"/>
              </a:rPr>
              <a:t>Measures of spread</a:t>
            </a:r>
            <a:endParaRPr lang="en-US" dirty="0"/>
          </a:p>
        </p:txBody>
      </p:sp>
      <p:pic>
        <p:nvPicPr>
          <p:cNvPr id="3" name="Picture 2" descr="Two histograms side by side, one that is very narrow, and one that is very spread out.">
            <a:extLst>
              <a:ext uri="{FF2B5EF4-FFF2-40B4-BE49-F238E27FC236}">
                <a16:creationId xmlns:a16="http://schemas.microsoft.com/office/drawing/2014/main" id="{32104E2C-D1B7-36F7-2ACD-6C69D69CDAC1}"/>
              </a:ext>
            </a:extLst>
          </p:cNvPr>
          <p:cNvPicPr>
            <a:picLocks noChangeAspect="1"/>
          </p:cNvPicPr>
          <p:nvPr/>
        </p:nvPicPr>
        <p:blipFill>
          <a:blip r:embed="rId2"/>
          <a:stretch>
            <a:fillRect/>
          </a:stretch>
        </p:blipFill>
        <p:spPr>
          <a:xfrm>
            <a:off x="1644321" y="985747"/>
            <a:ext cx="8572680" cy="5878543"/>
          </a:xfrm>
          <a:prstGeom prst="rect">
            <a:avLst/>
          </a:prstGeom>
        </p:spPr>
      </p:pic>
    </p:spTree>
    <p:extLst>
      <p:ext uri="{BB962C8B-B14F-4D97-AF65-F5344CB8AC3E}">
        <p14:creationId xmlns:p14="http://schemas.microsoft.com/office/powerpoint/2010/main" val="36442411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94F13-CF53-1A16-F59A-C5E62FEA46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89FA1E-2DE9-18A7-DFF6-EA5CBCC35EFD}"/>
              </a:ext>
            </a:extLst>
          </p:cNvPr>
          <p:cNvSpPr>
            <a:spLocks noGrp="1"/>
          </p:cNvSpPr>
          <p:nvPr>
            <p:ph type="title"/>
          </p:nvPr>
        </p:nvSpPr>
        <p:spPr>
          <a:xfrm>
            <a:off x="4313" y="5691"/>
            <a:ext cx="12111486" cy="764847"/>
          </a:xfrm>
        </p:spPr>
        <p:txBody>
          <a:bodyPr/>
          <a:lstStyle/>
          <a:p>
            <a:r>
              <a:rPr lang="en-US" dirty="0">
                <a:cs typeface="Calibri Light"/>
              </a:rPr>
              <a:t>Measures of spread: Range</a:t>
            </a:r>
            <a:endParaRPr lang="en-US" dirty="0"/>
          </a:p>
        </p:txBody>
      </p:sp>
      <p:graphicFrame>
        <p:nvGraphicFramePr>
          <p:cNvPr id="4" name="Table 4">
            <a:extLst>
              <a:ext uri="{FF2B5EF4-FFF2-40B4-BE49-F238E27FC236}">
                <a16:creationId xmlns:a16="http://schemas.microsoft.com/office/drawing/2014/main" id="{847212D7-2E37-7E6F-0CD2-754FA90BBDDC}"/>
              </a:ext>
            </a:extLst>
          </p:cNvPr>
          <p:cNvGraphicFramePr>
            <a:graphicFrameLocks noGrp="1"/>
          </p:cNvGraphicFramePr>
          <p:nvPr>
            <p:ph idx="1"/>
            <p:extLst>
              <p:ext uri="{D42A27DB-BD31-4B8C-83A1-F6EECF244321}">
                <p14:modId xmlns:p14="http://schemas.microsoft.com/office/powerpoint/2010/main" val="2228295361"/>
              </p:ext>
            </p:extLst>
          </p:nvPr>
        </p:nvGraphicFramePr>
        <p:xfrm>
          <a:off x="316301" y="2027207"/>
          <a:ext cx="11578248" cy="1158240"/>
        </p:xfrm>
        <a:graphic>
          <a:graphicData uri="http://schemas.openxmlformats.org/drawingml/2006/table">
            <a:tbl>
              <a:tblPr firstRow="1" bandRow="1">
                <a:tableStyleId>{5C22544A-7EE6-4342-B048-85BDC9FD1C3A}</a:tableStyleId>
              </a:tblPr>
              <a:tblGrid>
                <a:gridCol w="1704412">
                  <a:extLst>
                    <a:ext uri="{9D8B030D-6E8A-4147-A177-3AD203B41FA5}">
                      <a16:colId xmlns:a16="http://schemas.microsoft.com/office/drawing/2014/main" val="1440659236"/>
                    </a:ext>
                  </a:extLst>
                </a:gridCol>
                <a:gridCol w="1523998">
                  <a:extLst>
                    <a:ext uri="{9D8B030D-6E8A-4147-A177-3AD203B41FA5}">
                      <a16:colId xmlns:a16="http://schemas.microsoft.com/office/drawing/2014/main" val="3595805577"/>
                    </a:ext>
                  </a:extLst>
                </a:gridCol>
                <a:gridCol w="1750976">
                  <a:extLst>
                    <a:ext uri="{9D8B030D-6E8A-4147-A177-3AD203B41FA5}">
                      <a16:colId xmlns:a16="http://schemas.microsoft.com/office/drawing/2014/main" val="3384190090"/>
                    </a:ext>
                  </a:extLst>
                </a:gridCol>
                <a:gridCol w="1799615">
                  <a:extLst>
                    <a:ext uri="{9D8B030D-6E8A-4147-A177-3AD203B41FA5}">
                      <a16:colId xmlns:a16="http://schemas.microsoft.com/office/drawing/2014/main" val="2776619890"/>
                    </a:ext>
                  </a:extLst>
                </a:gridCol>
                <a:gridCol w="1572638">
                  <a:extLst>
                    <a:ext uri="{9D8B030D-6E8A-4147-A177-3AD203B41FA5}">
                      <a16:colId xmlns:a16="http://schemas.microsoft.com/office/drawing/2014/main" val="2732717286"/>
                    </a:ext>
                  </a:extLst>
                </a:gridCol>
                <a:gridCol w="1686127">
                  <a:extLst>
                    <a:ext uri="{9D8B030D-6E8A-4147-A177-3AD203B41FA5}">
                      <a16:colId xmlns:a16="http://schemas.microsoft.com/office/drawing/2014/main" val="514508494"/>
                    </a:ext>
                  </a:extLst>
                </a:gridCol>
                <a:gridCol w="1540482">
                  <a:extLst>
                    <a:ext uri="{9D8B030D-6E8A-4147-A177-3AD203B41FA5}">
                      <a16:colId xmlns:a16="http://schemas.microsoft.com/office/drawing/2014/main" val="3803948661"/>
                    </a:ext>
                  </a:extLst>
                </a:gridCol>
              </a:tblGrid>
              <a:tr h="370840">
                <a:tc>
                  <a:txBody>
                    <a:bodyPr/>
                    <a:lstStyle/>
                    <a:p>
                      <a:r>
                        <a:rPr lang="en-US" sz="3200" dirty="0"/>
                        <a:t>x</a:t>
                      </a:r>
                      <a:r>
                        <a:rPr lang="en-US" sz="3200" baseline="-25000" dirty="0"/>
                        <a:t>1</a:t>
                      </a:r>
                    </a:p>
                  </a:txBody>
                  <a:tcPr/>
                </a:tc>
                <a:tc>
                  <a:txBody>
                    <a:bodyPr/>
                    <a:lstStyle/>
                    <a:p>
                      <a:pPr lvl="0">
                        <a:buNone/>
                      </a:pPr>
                      <a:r>
                        <a:rPr lang="en-US" sz="3200" dirty="0"/>
                        <a:t>x</a:t>
                      </a:r>
                      <a:r>
                        <a:rPr lang="en-US" sz="3200" baseline="-25000" dirty="0"/>
                        <a:t>2</a:t>
                      </a:r>
                    </a:p>
                  </a:txBody>
                  <a:tcPr/>
                </a:tc>
                <a:tc>
                  <a:txBody>
                    <a:bodyPr/>
                    <a:lstStyle/>
                    <a:p>
                      <a:pPr lvl="0">
                        <a:buNone/>
                      </a:pPr>
                      <a:r>
                        <a:rPr lang="en-US" sz="3200" dirty="0"/>
                        <a:t>x</a:t>
                      </a:r>
                      <a:r>
                        <a:rPr lang="en-US" sz="3200" baseline="-25000" dirty="0"/>
                        <a:t>3</a:t>
                      </a:r>
                    </a:p>
                  </a:txBody>
                  <a:tcPr/>
                </a:tc>
                <a:tc>
                  <a:txBody>
                    <a:bodyPr/>
                    <a:lstStyle/>
                    <a:p>
                      <a:pPr lvl="0">
                        <a:buNone/>
                      </a:pPr>
                      <a:r>
                        <a:rPr lang="en-US" sz="3200" dirty="0"/>
                        <a:t>x</a:t>
                      </a:r>
                      <a:r>
                        <a:rPr lang="en-US" sz="3200" baseline="-25000" dirty="0"/>
                        <a:t>4</a:t>
                      </a:r>
                    </a:p>
                  </a:txBody>
                  <a:tcPr/>
                </a:tc>
                <a:tc>
                  <a:txBody>
                    <a:bodyPr/>
                    <a:lstStyle/>
                    <a:p>
                      <a:pPr lvl="0">
                        <a:buNone/>
                      </a:pPr>
                      <a:r>
                        <a:rPr lang="en-US" sz="3200" dirty="0"/>
                        <a:t>x</a:t>
                      </a:r>
                      <a:r>
                        <a:rPr lang="en-US" sz="3200" baseline="-25000" dirty="0"/>
                        <a:t>5</a:t>
                      </a:r>
                    </a:p>
                  </a:txBody>
                  <a:tcPr/>
                </a:tc>
                <a:tc>
                  <a:txBody>
                    <a:bodyPr/>
                    <a:lstStyle/>
                    <a:p>
                      <a:pPr lvl="0">
                        <a:buNone/>
                      </a:pPr>
                      <a:r>
                        <a:rPr lang="en-US" sz="3200" dirty="0"/>
                        <a:t>x</a:t>
                      </a:r>
                      <a:r>
                        <a:rPr lang="en-US" sz="3200" baseline="-25000" dirty="0"/>
                        <a:t>6</a:t>
                      </a:r>
                    </a:p>
                  </a:txBody>
                  <a:tcPr/>
                </a:tc>
                <a:tc>
                  <a:txBody>
                    <a:bodyPr/>
                    <a:lstStyle/>
                    <a:p>
                      <a:pPr lvl="0">
                        <a:buNone/>
                      </a:pPr>
                      <a:r>
                        <a:rPr lang="en-US" sz="3200" dirty="0"/>
                        <a:t>x</a:t>
                      </a:r>
                      <a:r>
                        <a:rPr lang="en-US" sz="3200" baseline="-25000" dirty="0"/>
                        <a:t>7</a:t>
                      </a:r>
                    </a:p>
                  </a:txBody>
                  <a:tcPr/>
                </a:tc>
                <a:extLst>
                  <a:ext uri="{0D108BD9-81ED-4DB2-BD59-A6C34878D82A}">
                    <a16:rowId xmlns:a16="http://schemas.microsoft.com/office/drawing/2014/main" val="407627465"/>
                  </a:ext>
                </a:extLst>
              </a:tr>
              <a:tr h="370840">
                <a:tc>
                  <a:txBody>
                    <a:bodyPr/>
                    <a:lstStyle/>
                    <a:p>
                      <a:pPr lvl="0">
                        <a:buNone/>
                      </a:pPr>
                      <a:r>
                        <a:rPr lang="en-US" sz="3200" b="1" dirty="0"/>
                        <a:t>17.1</a:t>
                      </a:r>
                    </a:p>
                  </a:txBody>
                  <a:tcPr/>
                </a:tc>
                <a:tc>
                  <a:txBody>
                    <a:bodyPr/>
                    <a:lstStyle/>
                    <a:p>
                      <a:pPr lvl="0">
                        <a:buNone/>
                      </a:pPr>
                      <a:r>
                        <a:rPr lang="en-US" sz="3200" b="0" dirty="0"/>
                        <a:t>15.2</a:t>
                      </a:r>
                    </a:p>
                  </a:txBody>
                  <a:tcPr/>
                </a:tc>
                <a:tc>
                  <a:txBody>
                    <a:bodyPr/>
                    <a:lstStyle/>
                    <a:p>
                      <a:pPr lvl="0">
                        <a:buNone/>
                      </a:pPr>
                      <a:r>
                        <a:rPr lang="en-US" sz="3200" dirty="0"/>
                        <a:t>14.9</a:t>
                      </a:r>
                    </a:p>
                  </a:txBody>
                  <a:tcPr/>
                </a:tc>
                <a:tc>
                  <a:txBody>
                    <a:bodyPr/>
                    <a:lstStyle/>
                    <a:p>
                      <a:pPr lvl="0">
                        <a:buNone/>
                      </a:pPr>
                      <a:r>
                        <a:rPr lang="en-US" sz="3200" dirty="0"/>
                        <a:t>12.6</a:t>
                      </a:r>
                    </a:p>
                  </a:txBody>
                  <a:tcPr/>
                </a:tc>
                <a:tc>
                  <a:txBody>
                    <a:bodyPr/>
                    <a:lstStyle/>
                    <a:p>
                      <a:pPr lvl="0">
                        <a:buNone/>
                      </a:pPr>
                      <a:r>
                        <a:rPr lang="en-US" sz="3200" b="0" dirty="0"/>
                        <a:t>15.2</a:t>
                      </a:r>
                    </a:p>
                  </a:txBody>
                  <a:tcPr/>
                </a:tc>
                <a:tc>
                  <a:txBody>
                    <a:bodyPr/>
                    <a:lstStyle/>
                    <a:p>
                      <a:pPr lvl="0">
                        <a:buNone/>
                      </a:pPr>
                      <a:r>
                        <a:rPr lang="en-US" sz="3200" b="1" dirty="0"/>
                        <a:t>10.3</a:t>
                      </a:r>
                      <a:endParaRPr lang="en-US" b="1"/>
                    </a:p>
                  </a:txBody>
                  <a:tcPr/>
                </a:tc>
                <a:tc>
                  <a:txBody>
                    <a:bodyPr/>
                    <a:lstStyle/>
                    <a:p>
                      <a:pPr lvl="0">
                        <a:buNone/>
                      </a:pPr>
                      <a:r>
                        <a:rPr lang="en-US" sz="3200" dirty="0"/>
                        <a:t>12.7</a:t>
                      </a:r>
                    </a:p>
                  </a:txBody>
                  <a:tcPr/>
                </a:tc>
                <a:extLst>
                  <a:ext uri="{0D108BD9-81ED-4DB2-BD59-A6C34878D82A}">
                    <a16:rowId xmlns:a16="http://schemas.microsoft.com/office/drawing/2014/main" val="2749489767"/>
                  </a:ext>
                </a:extLst>
              </a:tr>
            </a:tbl>
          </a:graphicData>
        </a:graphic>
      </p:graphicFrame>
      <p:sp>
        <p:nvSpPr>
          <p:cNvPr id="8" name="TextBox 7">
            <a:extLst>
              <a:ext uri="{FF2B5EF4-FFF2-40B4-BE49-F238E27FC236}">
                <a16:creationId xmlns:a16="http://schemas.microsoft.com/office/drawing/2014/main" id="{19277CA7-F0EB-B7C7-9EB7-EF5CECC1B850}"/>
              </a:ext>
            </a:extLst>
          </p:cNvPr>
          <p:cNvSpPr txBox="1"/>
          <p:nvPr/>
        </p:nvSpPr>
        <p:spPr>
          <a:xfrm>
            <a:off x="520950" y="1313846"/>
            <a:ext cx="9371162"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i="1" dirty="0">
                <a:ea typeface="Calibri"/>
                <a:cs typeface="Calibri"/>
              </a:rPr>
              <a:t>Range(X) = Maximum(X) — Minimum(X)</a:t>
            </a:r>
            <a:endParaRPr lang="en-US" i="1" dirty="0">
              <a:ea typeface="Calibri"/>
              <a:cs typeface="Calibri"/>
            </a:endParaRPr>
          </a:p>
        </p:txBody>
      </p:sp>
      <p:sp>
        <p:nvSpPr>
          <p:cNvPr id="3" name="TextBox 2">
            <a:extLst>
              <a:ext uri="{FF2B5EF4-FFF2-40B4-BE49-F238E27FC236}">
                <a16:creationId xmlns:a16="http://schemas.microsoft.com/office/drawing/2014/main" id="{05BFADAD-5AA1-03E5-5B84-C27954B2FD59}"/>
              </a:ext>
            </a:extLst>
          </p:cNvPr>
          <p:cNvSpPr txBox="1"/>
          <p:nvPr/>
        </p:nvSpPr>
        <p:spPr>
          <a:xfrm>
            <a:off x="866006" y="4922562"/>
            <a:ext cx="9371162"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i="1" dirty="0">
                <a:ea typeface="Calibri"/>
                <a:cs typeface="Calibri"/>
              </a:rPr>
              <a:t>Range(X) = </a:t>
            </a:r>
            <a:r>
              <a:rPr lang="en-US" sz="4000" dirty="0">
                <a:ea typeface="Calibri"/>
                <a:cs typeface="Calibri"/>
              </a:rPr>
              <a:t>17.1 — 10.3 = 6.8</a:t>
            </a:r>
            <a:endParaRPr lang="en-US">
              <a:ea typeface="Calibri"/>
              <a:cs typeface="Calibri"/>
            </a:endParaRPr>
          </a:p>
        </p:txBody>
      </p:sp>
    </p:spTree>
    <p:extLst>
      <p:ext uri="{BB962C8B-B14F-4D97-AF65-F5344CB8AC3E}">
        <p14:creationId xmlns:p14="http://schemas.microsoft.com/office/powerpoint/2010/main" val="21727376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FA128-E82C-6CB1-BC4A-527EB36B1B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88AF24-34BD-C8AC-F59D-55FA6F9200BD}"/>
              </a:ext>
            </a:extLst>
          </p:cNvPr>
          <p:cNvSpPr>
            <a:spLocks noGrp="1"/>
          </p:cNvSpPr>
          <p:nvPr>
            <p:ph type="title"/>
          </p:nvPr>
        </p:nvSpPr>
        <p:spPr>
          <a:xfrm>
            <a:off x="4313" y="5691"/>
            <a:ext cx="12111486" cy="764847"/>
          </a:xfrm>
        </p:spPr>
        <p:txBody>
          <a:bodyPr/>
          <a:lstStyle/>
          <a:p>
            <a:r>
              <a:rPr lang="en-US" dirty="0">
                <a:cs typeface="Calibri Light"/>
              </a:rPr>
              <a:t>Measures of spread: Range</a:t>
            </a:r>
            <a:endParaRPr lang="en-US" dirty="0"/>
          </a:p>
        </p:txBody>
      </p:sp>
      <p:sp>
        <p:nvSpPr>
          <p:cNvPr id="8" name="TextBox 7">
            <a:extLst>
              <a:ext uri="{FF2B5EF4-FFF2-40B4-BE49-F238E27FC236}">
                <a16:creationId xmlns:a16="http://schemas.microsoft.com/office/drawing/2014/main" id="{D3B57A32-F566-E893-01B6-218D37097112}"/>
              </a:ext>
            </a:extLst>
          </p:cNvPr>
          <p:cNvSpPr txBox="1"/>
          <p:nvPr/>
        </p:nvSpPr>
        <p:spPr>
          <a:xfrm>
            <a:off x="520950" y="1313846"/>
            <a:ext cx="9371162"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800" i="1" dirty="0">
                <a:ea typeface="Calibri"/>
                <a:cs typeface="Calibri"/>
              </a:rPr>
              <a:t>IQR(X) = Q</a:t>
            </a:r>
            <a:r>
              <a:rPr lang="en-US" sz="4800" i="1" baseline="-25000" dirty="0">
                <a:ea typeface="Calibri"/>
                <a:cs typeface="Calibri"/>
              </a:rPr>
              <a:t>3</a:t>
            </a:r>
            <a:r>
              <a:rPr lang="en-US" sz="4800" i="1" dirty="0">
                <a:ea typeface="Calibri"/>
                <a:cs typeface="Calibri"/>
              </a:rPr>
              <a:t>(X) — Q</a:t>
            </a:r>
            <a:r>
              <a:rPr lang="en-US" sz="4800" i="1" baseline="-25000" dirty="0">
                <a:ea typeface="Calibri"/>
                <a:cs typeface="Calibri"/>
              </a:rPr>
              <a:t>1</a:t>
            </a:r>
            <a:r>
              <a:rPr lang="en-US" sz="4800" i="1" dirty="0">
                <a:ea typeface="Calibri"/>
                <a:cs typeface="Calibri"/>
              </a:rPr>
              <a:t>(X)</a:t>
            </a:r>
            <a:endParaRPr lang="en-US" sz="4800" i="1">
              <a:ea typeface="Calibri"/>
              <a:cs typeface="Calibri"/>
            </a:endParaRPr>
          </a:p>
        </p:txBody>
      </p:sp>
      <p:graphicFrame>
        <p:nvGraphicFramePr>
          <p:cNvPr id="9" name="Table 4">
            <a:extLst>
              <a:ext uri="{FF2B5EF4-FFF2-40B4-BE49-F238E27FC236}">
                <a16:creationId xmlns:a16="http://schemas.microsoft.com/office/drawing/2014/main" id="{1D11957C-CBA0-53B1-9353-1CD853670326}"/>
              </a:ext>
            </a:extLst>
          </p:cNvPr>
          <p:cNvGraphicFramePr>
            <a:graphicFrameLocks/>
          </p:cNvGraphicFramePr>
          <p:nvPr>
            <p:extLst>
              <p:ext uri="{D42A27DB-BD31-4B8C-83A1-F6EECF244321}">
                <p14:modId xmlns:p14="http://schemas.microsoft.com/office/powerpoint/2010/main" val="2657970462"/>
              </p:ext>
            </p:extLst>
          </p:nvPr>
        </p:nvGraphicFramePr>
        <p:xfrm>
          <a:off x="871267" y="2668438"/>
          <a:ext cx="8351639" cy="1158240"/>
        </p:xfrm>
        <a:graphic>
          <a:graphicData uri="http://schemas.openxmlformats.org/drawingml/2006/table">
            <a:tbl>
              <a:tblPr firstRow="1" bandRow="1">
                <a:tableStyleId>{5C22544A-7EE6-4342-B048-85BDC9FD1C3A}</a:tableStyleId>
              </a:tblPr>
              <a:tblGrid>
                <a:gridCol w="1704412">
                  <a:extLst>
                    <a:ext uri="{9D8B030D-6E8A-4147-A177-3AD203B41FA5}">
                      <a16:colId xmlns:a16="http://schemas.microsoft.com/office/drawing/2014/main" val="1440659236"/>
                    </a:ext>
                  </a:extLst>
                </a:gridCol>
                <a:gridCol w="1523998">
                  <a:extLst>
                    <a:ext uri="{9D8B030D-6E8A-4147-A177-3AD203B41FA5}">
                      <a16:colId xmlns:a16="http://schemas.microsoft.com/office/drawing/2014/main" val="3595805577"/>
                    </a:ext>
                  </a:extLst>
                </a:gridCol>
                <a:gridCol w="1750976">
                  <a:extLst>
                    <a:ext uri="{9D8B030D-6E8A-4147-A177-3AD203B41FA5}">
                      <a16:colId xmlns:a16="http://schemas.microsoft.com/office/drawing/2014/main" val="3384190090"/>
                    </a:ext>
                  </a:extLst>
                </a:gridCol>
                <a:gridCol w="1799615">
                  <a:extLst>
                    <a:ext uri="{9D8B030D-6E8A-4147-A177-3AD203B41FA5}">
                      <a16:colId xmlns:a16="http://schemas.microsoft.com/office/drawing/2014/main" val="2776619890"/>
                    </a:ext>
                  </a:extLst>
                </a:gridCol>
                <a:gridCol w="1572638">
                  <a:extLst>
                    <a:ext uri="{9D8B030D-6E8A-4147-A177-3AD203B41FA5}">
                      <a16:colId xmlns:a16="http://schemas.microsoft.com/office/drawing/2014/main" val="2732717286"/>
                    </a:ext>
                  </a:extLst>
                </a:gridCol>
              </a:tblGrid>
              <a:tr h="370840">
                <a:tc>
                  <a:txBody>
                    <a:bodyPr/>
                    <a:lstStyle/>
                    <a:p>
                      <a:r>
                        <a:rPr lang="en-US" sz="3200" dirty="0"/>
                        <a:t>x</a:t>
                      </a:r>
                      <a:r>
                        <a:rPr lang="en-US" sz="3200" baseline="-25000" dirty="0"/>
                        <a:t>1</a:t>
                      </a:r>
                    </a:p>
                  </a:txBody>
                  <a:tcPr/>
                </a:tc>
                <a:tc>
                  <a:txBody>
                    <a:bodyPr/>
                    <a:lstStyle/>
                    <a:p>
                      <a:pPr lvl="0">
                        <a:buNone/>
                      </a:pPr>
                      <a:r>
                        <a:rPr lang="en-US" sz="3200" dirty="0"/>
                        <a:t>x</a:t>
                      </a:r>
                      <a:r>
                        <a:rPr lang="en-US" sz="3200" baseline="-25000" dirty="0"/>
                        <a:t>2</a:t>
                      </a:r>
                    </a:p>
                  </a:txBody>
                  <a:tcPr/>
                </a:tc>
                <a:tc>
                  <a:txBody>
                    <a:bodyPr/>
                    <a:lstStyle/>
                    <a:p>
                      <a:pPr lvl="0">
                        <a:buNone/>
                      </a:pPr>
                      <a:r>
                        <a:rPr lang="en-US" sz="3200" dirty="0"/>
                        <a:t>x</a:t>
                      </a:r>
                      <a:r>
                        <a:rPr lang="en-US" sz="3200" baseline="-25000" dirty="0"/>
                        <a:t>3</a:t>
                      </a:r>
                    </a:p>
                  </a:txBody>
                  <a:tcPr/>
                </a:tc>
                <a:tc>
                  <a:txBody>
                    <a:bodyPr/>
                    <a:lstStyle/>
                    <a:p>
                      <a:pPr lvl="0">
                        <a:buNone/>
                      </a:pPr>
                      <a:r>
                        <a:rPr lang="en-US" sz="3200" dirty="0"/>
                        <a:t>x</a:t>
                      </a:r>
                      <a:r>
                        <a:rPr lang="en-US" sz="3200" baseline="-25000" dirty="0"/>
                        <a:t>4</a:t>
                      </a:r>
                    </a:p>
                  </a:txBody>
                  <a:tcPr/>
                </a:tc>
                <a:tc>
                  <a:txBody>
                    <a:bodyPr/>
                    <a:lstStyle/>
                    <a:p>
                      <a:pPr lvl="0">
                        <a:buNone/>
                      </a:pPr>
                      <a:r>
                        <a:rPr lang="en-US" sz="3200" dirty="0"/>
                        <a:t>x</a:t>
                      </a:r>
                      <a:r>
                        <a:rPr lang="en-US" sz="3200" baseline="-25000" dirty="0"/>
                        <a:t>5</a:t>
                      </a:r>
                    </a:p>
                  </a:txBody>
                  <a:tcPr/>
                </a:tc>
                <a:extLst>
                  <a:ext uri="{0D108BD9-81ED-4DB2-BD59-A6C34878D82A}">
                    <a16:rowId xmlns:a16="http://schemas.microsoft.com/office/drawing/2014/main" val="407627465"/>
                  </a:ext>
                </a:extLst>
              </a:tr>
              <a:tr h="370840">
                <a:tc>
                  <a:txBody>
                    <a:bodyPr/>
                    <a:lstStyle/>
                    <a:p>
                      <a:pPr lvl="0">
                        <a:buNone/>
                      </a:pPr>
                      <a:r>
                        <a:rPr lang="en-US" sz="3200" dirty="0"/>
                        <a:t>2</a:t>
                      </a:r>
                    </a:p>
                  </a:txBody>
                  <a:tcPr/>
                </a:tc>
                <a:tc>
                  <a:txBody>
                    <a:bodyPr/>
                    <a:lstStyle/>
                    <a:p>
                      <a:pPr lvl="0">
                        <a:buNone/>
                      </a:pPr>
                      <a:r>
                        <a:rPr lang="en-US" sz="3200" b="1" dirty="0"/>
                        <a:t>4</a:t>
                      </a:r>
                    </a:p>
                  </a:txBody>
                  <a:tcPr/>
                </a:tc>
                <a:tc>
                  <a:txBody>
                    <a:bodyPr/>
                    <a:lstStyle/>
                    <a:p>
                      <a:pPr lvl="0">
                        <a:buNone/>
                      </a:pPr>
                      <a:r>
                        <a:rPr lang="en-US" sz="3200" dirty="0"/>
                        <a:t>5</a:t>
                      </a:r>
                    </a:p>
                  </a:txBody>
                  <a:tcPr/>
                </a:tc>
                <a:tc>
                  <a:txBody>
                    <a:bodyPr/>
                    <a:lstStyle/>
                    <a:p>
                      <a:pPr lvl="0">
                        <a:buNone/>
                      </a:pPr>
                      <a:r>
                        <a:rPr lang="en-US" sz="3200" b="1" dirty="0"/>
                        <a:t>6</a:t>
                      </a:r>
                    </a:p>
                  </a:txBody>
                  <a:tcPr/>
                </a:tc>
                <a:tc>
                  <a:txBody>
                    <a:bodyPr/>
                    <a:lstStyle/>
                    <a:p>
                      <a:pPr lvl="0">
                        <a:buNone/>
                      </a:pPr>
                      <a:r>
                        <a:rPr lang="en-US" sz="3200" b="0" dirty="0"/>
                        <a:t>8</a:t>
                      </a:r>
                    </a:p>
                  </a:txBody>
                  <a:tcPr/>
                </a:tc>
                <a:extLst>
                  <a:ext uri="{0D108BD9-81ED-4DB2-BD59-A6C34878D82A}">
                    <a16:rowId xmlns:a16="http://schemas.microsoft.com/office/drawing/2014/main" val="2749489767"/>
                  </a:ext>
                </a:extLst>
              </a:tr>
            </a:tbl>
          </a:graphicData>
        </a:graphic>
      </p:graphicFrame>
      <p:sp>
        <p:nvSpPr>
          <p:cNvPr id="10" name="TextBox 9">
            <a:extLst>
              <a:ext uri="{FF2B5EF4-FFF2-40B4-BE49-F238E27FC236}">
                <a16:creationId xmlns:a16="http://schemas.microsoft.com/office/drawing/2014/main" id="{5CCA020E-E75A-BE58-1456-2D61674A1E2B}"/>
              </a:ext>
            </a:extLst>
          </p:cNvPr>
          <p:cNvSpPr txBox="1"/>
          <p:nvPr/>
        </p:nvSpPr>
        <p:spPr>
          <a:xfrm>
            <a:off x="866006" y="5267619"/>
            <a:ext cx="9371162"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800" i="1" dirty="0">
                <a:ea typeface="Calibri"/>
                <a:cs typeface="Calibri"/>
              </a:rPr>
              <a:t>IQR(X) = </a:t>
            </a:r>
            <a:r>
              <a:rPr lang="en-US" sz="4800" dirty="0">
                <a:ea typeface="Calibri"/>
                <a:cs typeface="Calibri"/>
              </a:rPr>
              <a:t>6 — 4 = 2</a:t>
            </a:r>
          </a:p>
        </p:txBody>
      </p:sp>
    </p:spTree>
    <p:extLst>
      <p:ext uri="{BB962C8B-B14F-4D97-AF65-F5344CB8AC3E}">
        <p14:creationId xmlns:p14="http://schemas.microsoft.com/office/powerpoint/2010/main" val="9838340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F6B23-8E85-3DC1-4ED0-C5B9709D7D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C9F0F0-C66B-1FE9-E4B1-9DE2A5A53215}"/>
              </a:ext>
            </a:extLst>
          </p:cNvPr>
          <p:cNvSpPr>
            <a:spLocks noGrp="1"/>
          </p:cNvSpPr>
          <p:nvPr>
            <p:ph type="title"/>
          </p:nvPr>
        </p:nvSpPr>
        <p:spPr>
          <a:xfrm>
            <a:off x="4313" y="5691"/>
            <a:ext cx="10515600" cy="922997"/>
          </a:xfrm>
        </p:spPr>
        <p:txBody>
          <a:bodyPr/>
          <a:lstStyle/>
          <a:p>
            <a:r>
              <a:rPr lang="en-US" dirty="0">
                <a:cs typeface="Calibri Light"/>
              </a:rPr>
              <a:t>Measures of spread: Variance (s</a:t>
            </a:r>
            <a:r>
              <a:rPr lang="en-US" baseline="30000" dirty="0">
                <a:cs typeface="Calibri Light"/>
              </a:rPr>
              <a:t>2</a:t>
            </a:r>
            <a:r>
              <a:rPr lang="en-US" dirty="0">
                <a:cs typeface="Calibri Light"/>
              </a:rPr>
              <a:t>)</a:t>
            </a:r>
            <a:endParaRPr lang="en-US" dirty="0"/>
          </a:p>
        </p:txBody>
      </p:sp>
      <p:sp>
        <p:nvSpPr>
          <p:cNvPr id="3" name="Content Placeholder 2">
            <a:extLst>
              <a:ext uri="{FF2B5EF4-FFF2-40B4-BE49-F238E27FC236}">
                <a16:creationId xmlns:a16="http://schemas.microsoft.com/office/drawing/2014/main" id="{E92624B5-7BF0-1E67-1DB5-39EC32A97DB9}"/>
              </a:ext>
            </a:extLst>
          </p:cNvPr>
          <p:cNvSpPr>
            <a:spLocks noGrp="1"/>
          </p:cNvSpPr>
          <p:nvPr>
            <p:ph idx="1"/>
          </p:nvPr>
        </p:nvSpPr>
        <p:spPr>
          <a:xfrm>
            <a:off x="277483" y="1063625"/>
            <a:ext cx="11565147" cy="5199602"/>
          </a:xfrm>
        </p:spPr>
        <p:txBody>
          <a:bodyPr vert="horz" lIns="91440" tIns="45720" rIns="91440" bIns="45720" rtlCol="0" anchor="t">
            <a:normAutofit fontScale="77500" lnSpcReduction="20000"/>
          </a:bodyPr>
          <a:lstStyle/>
          <a:p>
            <a:pPr marL="685800" indent="-685800"/>
            <a:r>
              <a:rPr lang="en-US" sz="5400" dirty="0">
                <a:ea typeface="Calibri"/>
                <a:cs typeface="Calibri"/>
              </a:rPr>
              <a:t>Expected squared deviation from mean</a:t>
            </a:r>
            <a:endParaRPr lang="en-US" dirty="0">
              <a:ea typeface="Calibri"/>
              <a:cs typeface="Calibri"/>
            </a:endParaRPr>
          </a:p>
          <a:p>
            <a:pPr marL="685800" indent="-685800"/>
            <a:r>
              <a:rPr lang="en-US" sz="5400" dirty="0">
                <a:ea typeface="Calibri"/>
                <a:cs typeface="Calibri"/>
              </a:rPr>
              <a:t>More useful than range or IQR</a:t>
            </a:r>
          </a:p>
          <a:p>
            <a:pPr marL="685800" indent="-685800"/>
            <a:r>
              <a:rPr lang="en-US" sz="5400" dirty="0">
                <a:ea typeface="Calibri"/>
                <a:cs typeface="Calibri"/>
              </a:rPr>
              <a:t>Less intuitive than ranger or IQR1</a:t>
            </a:r>
          </a:p>
          <a:p>
            <a:pPr marL="685800" indent="-685800"/>
            <a:r>
              <a:rPr lang="en-US" sz="5400" dirty="0" err="1">
                <a:ea typeface="Calibri"/>
                <a:cs typeface="Calibri"/>
              </a:rPr>
              <a:t>Jamovi</a:t>
            </a:r>
            <a:r>
              <a:rPr lang="en-US" sz="5400" dirty="0">
                <a:ea typeface="Calibri"/>
                <a:cs typeface="Calibri"/>
              </a:rPr>
              <a:t> will calculate this for us</a:t>
            </a:r>
          </a:p>
          <a:p>
            <a:pPr marL="685800" indent="-685800"/>
            <a:endParaRPr lang="en-US" sz="5400" dirty="0">
              <a:ea typeface="Calibri"/>
              <a:cs typeface="Calibri"/>
            </a:endParaRPr>
          </a:p>
          <a:p>
            <a:pPr marL="685800" indent="-685800"/>
            <a:endParaRPr lang="en-US" sz="5400" dirty="0">
              <a:ea typeface="Calibri"/>
              <a:cs typeface="Calibri"/>
            </a:endParaRPr>
          </a:p>
          <a:p>
            <a:pPr marL="685800" indent="-685800"/>
            <a:endParaRPr lang="en-US" sz="5400" dirty="0">
              <a:ea typeface="Calibri"/>
              <a:cs typeface="Calibri"/>
            </a:endParaRPr>
          </a:p>
          <a:p>
            <a:pPr marL="685800" indent="-685800"/>
            <a:endParaRPr lang="en-US" sz="5400" dirty="0">
              <a:ea typeface="Calibri"/>
              <a:cs typeface="Calibri"/>
            </a:endParaRPr>
          </a:p>
          <a:p>
            <a:pPr marL="0" indent="0">
              <a:buNone/>
            </a:pPr>
            <a:r>
              <a:rPr lang="en-US" sz="5400" dirty="0">
                <a:ea typeface="Calibri"/>
                <a:cs typeface="Calibri"/>
              </a:rPr>
              <a:t>We can break this down step by step!</a:t>
            </a:r>
          </a:p>
        </p:txBody>
      </p:sp>
      <p:pic>
        <p:nvPicPr>
          <p:cNvPr id="4" name="Picture 3" descr="Formula for variation, showing s^2 equals 1/(N-1) times the summation of a value minus the mean squared over all values.">
            <a:extLst>
              <a:ext uri="{FF2B5EF4-FFF2-40B4-BE49-F238E27FC236}">
                <a16:creationId xmlns:a16="http://schemas.microsoft.com/office/drawing/2014/main" id="{EEE7D205-4C4D-8C7E-789E-D4C7AB826815}"/>
              </a:ext>
            </a:extLst>
          </p:cNvPr>
          <p:cNvPicPr>
            <a:picLocks noChangeAspect="1"/>
          </p:cNvPicPr>
          <p:nvPr/>
        </p:nvPicPr>
        <p:blipFill>
          <a:blip r:embed="rId2"/>
          <a:stretch>
            <a:fillRect/>
          </a:stretch>
        </p:blipFill>
        <p:spPr>
          <a:xfrm>
            <a:off x="2403625" y="3434032"/>
            <a:ext cx="6766524" cy="1945256"/>
          </a:xfrm>
          <a:prstGeom prst="rect">
            <a:avLst/>
          </a:prstGeom>
        </p:spPr>
      </p:pic>
      <p:sp>
        <p:nvSpPr>
          <p:cNvPr id="6" name="TextBox 5">
            <a:extLst>
              <a:ext uri="{FF2B5EF4-FFF2-40B4-BE49-F238E27FC236}">
                <a16:creationId xmlns:a16="http://schemas.microsoft.com/office/drawing/2014/main" id="{9A9273A4-3CDD-D45C-76F8-4A4F08001A6D}"/>
              </a:ext>
            </a:extLst>
          </p:cNvPr>
          <p:cNvSpPr txBox="1"/>
          <p:nvPr/>
        </p:nvSpPr>
        <p:spPr>
          <a:xfrm>
            <a:off x="292535" y="6395449"/>
            <a:ext cx="1157089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AutoNum type="arabicPeriod"/>
            </a:pPr>
            <a:r>
              <a:rPr lang="en-US" sz="2400" dirty="0">
                <a:ea typeface="+mn-lt"/>
                <a:cs typeface="+mn-lt"/>
                <a:hlinkClick r:id="rId3"/>
              </a:rPr>
              <a:t>https://bradduthie.github.io/stats/app/forest/</a:t>
            </a:r>
            <a:r>
              <a:rPr lang="en-US" sz="2400" dirty="0">
                <a:ea typeface="+mn-lt"/>
                <a:cs typeface="+mn-lt"/>
              </a:rPr>
              <a:t> </a:t>
            </a:r>
            <a:endParaRPr lang="en-US" dirty="0"/>
          </a:p>
        </p:txBody>
      </p:sp>
    </p:spTree>
    <p:extLst>
      <p:ext uri="{BB962C8B-B14F-4D97-AF65-F5344CB8AC3E}">
        <p14:creationId xmlns:p14="http://schemas.microsoft.com/office/powerpoint/2010/main" val="10714064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7B8A5-B197-E2D8-B435-F9404DECA7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A9FD76-6ECE-AD54-9A4F-41AA7E697B34}"/>
              </a:ext>
            </a:extLst>
          </p:cNvPr>
          <p:cNvSpPr>
            <a:spLocks noGrp="1"/>
          </p:cNvSpPr>
          <p:nvPr>
            <p:ph type="title"/>
          </p:nvPr>
        </p:nvSpPr>
        <p:spPr>
          <a:xfrm>
            <a:off x="4313" y="5691"/>
            <a:ext cx="12111486" cy="764847"/>
          </a:xfrm>
        </p:spPr>
        <p:txBody>
          <a:bodyPr/>
          <a:lstStyle/>
          <a:p>
            <a:r>
              <a:rPr lang="en-US" dirty="0">
                <a:cs typeface="Calibri Light"/>
              </a:rPr>
              <a:t>Measures of spread: Variance (s</a:t>
            </a:r>
            <a:r>
              <a:rPr lang="en-US" sz="2900" baseline="30000" dirty="0">
                <a:cs typeface="Calibri Light"/>
              </a:rPr>
              <a:t>2</a:t>
            </a:r>
            <a:r>
              <a:rPr lang="en-US" dirty="0">
                <a:cs typeface="Calibri Light"/>
              </a:rPr>
              <a:t>)</a:t>
            </a:r>
          </a:p>
        </p:txBody>
      </p:sp>
      <p:graphicFrame>
        <p:nvGraphicFramePr>
          <p:cNvPr id="4" name="Table 4">
            <a:extLst>
              <a:ext uri="{FF2B5EF4-FFF2-40B4-BE49-F238E27FC236}">
                <a16:creationId xmlns:a16="http://schemas.microsoft.com/office/drawing/2014/main" id="{697F62F0-E776-E831-E4C3-CB251A2C2705}"/>
              </a:ext>
            </a:extLst>
          </p:cNvPr>
          <p:cNvGraphicFramePr>
            <a:graphicFrameLocks noGrp="1"/>
          </p:cNvGraphicFramePr>
          <p:nvPr>
            <p:ph idx="1"/>
            <p:extLst>
              <p:ext uri="{D42A27DB-BD31-4B8C-83A1-F6EECF244321}">
                <p14:modId xmlns:p14="http://schemas.microsoft.com/office/powerpoint/2010/main" val="2815583081"/>
              </p:ext>
            </p:extLst>
          </p:nvPr>
        </p:nvGraphicFramePr>
        <p:xfrm>
          <a:off x="273169" y="2458528"/>
          <a:ext cx="11578248" cy="1158240"/>
        </p:xfrm>
        <a:graphic>
          <a:graphicData uri="http://schemas.openxmlformats.org/drawingml/2006/table">
            <a:tbl>
              <a:tblPr firstRow="1" bandRow="1">
                <a:tableStyleId>{5C22544A-7EE6-4342-B048-85BDC9FD1C3A}</a:tableStyleId>
              </a:tblPr>
              <a:tblGrid>
                <a:gridCol w="1704412">
                  <a:extLst>
                    <a:ext uri="{9D8B030D-6E8A-4147-A177-3AD203B41FA5}">
                      <a16:colId xmlns:a16="http://schemas.microsoft.com/office/drawing/2014/main" val="1440659236"/>
                    </a:ext>
                  </a:extLst>
                </a:gridCol>
                <a:gridCol w="1523998">
                  <a:extLst>
                    <a:ext uri="{9D8B030D-6E8A-4147-A177-3AD203B41FA5}">
                      <a16:colId xmlns:a16="http://schemas.microsoft.com/office/drawing/2014/main" val="3595805577"/>
                    </a:ext>
                  </a:extLst>
                </a:gridCol>
                <a:gridCol w="1750976">
                  <a:extLst>
                    <a:ext uri="{9D8B030D-6E8A-4147-A177-3AD203B41FA5}">
                      <a16:colId xmlns:a16="http://schemas.microsoft.com/office/drawing/2014/main" val="3384190090"/>
                    </a:ext>
                  </a:extLst>
                </a:gridCol>
                <a:gridCol w="1799615">
                  <a:extLst>
                    <a:ext uri="{9D8B030D-6E8A-4147-A177-3AD203B41FA5}">
                      <a16:colId xmlns:a16="http://schemas.microsoft.com/office/drawing/2014/main" val="2776619890"/>
                    </a:ext>
                  </a:extLst>
                </a:gridCol>
                <a:gridCol w="1572638">
                  <a:extLst>
                    <a:ext uri="{9D8B030D-6E8A-4147-A177-3AD203B41FA5}">
                      <a16:colId xmlns:a16="http://schemas.microsoft.com/office/drawing/2014/main" val="2732717286"/>
                    </a:ext>
                  </a:extLst>
                </a:gridCol>
                <a:gridCol w="1686127">
                  <a:extLst>
                    <a:ext uri="{9D8B030D-6E8A-4147-A177-3AD203B41FA5}">
                      <a16:colId xmlns:a16="http://schemas.microsoft.com/office/drawing/2014/main" val="514508494"/>
                    </a:ext>
                  </a:extLst>
                </a:gridCol>
                <a:gridCol w="1540482">
                  <a:extLst>
                    <a:ext uri="{9D8B030D-6E8A-4147-A177-3AD203B41FA5}">
                      <a16:colId xmlns:a16="http://schemas.microsoft.com/office/drawing/2014/main" val="3803948661"/>
                    </a:ext>
                  </a:extLst>
                </a:gridCol>
              </a:tblGrid>
              <a:tr h="370840">
                <a:tc>
                  <a:txBody>
                    <a:bodyPr/>
                    <a:lstStyle/>
                    <a:p>
                      <a:r>
                        <a:rPr lang="en-US" sz="3200" dirty="0"/>
                        <a:t>x</a:t>
                      </a:r>
                      <a:r>
                        <a:rPr lang="en-US" sz="3200" baseline="-25000" dirty="0"/>
                        <a:t>1</a:t>
                      </a:r>
                    </a:p>
                  </a:txBody>
                  <a:tcPr/>
                </a:tc>
                <a:tc>
                  <a:txBody>
                    <a:bodyPr/>
                    <a:lstStyle/>
                    <a:p>
                      <a:pPr lvl="0">
                        <a:buNone/>
                      </a:pPr>
                      <a:r>
                        <a:rPr lang="en-US" sz="3200" dirty="0"/>
                        <a:t>x</a:t>
                      </a:r>
                      <a:r>
                        <a:rPr lang="en-US" sz="3200" baseline="-25000" dirty="0"/>
                        <a:t>2</a:t>
                      </a:r>
                    </a:p>
                  </a:txBody>
                  <a:tcPr/>
                </a:tc>
                <a:tc>
                  <a:txBody>
                    <a:bodyPr/>
                    <a:lstStyle/>
                    <a:p>
                      <a:pPr lvl="0">
                        <a:buNone/>
                      </a:pPr>
                      <a:r>
                        <a:rPr lang="en-US" sz="3200" dirty="0"/>
                        <a:t>x</a:t>
                      </a:r>
                      <a:r>
                        <a:rPr lang="en-US" sz="3200" baseline="-25000" dirty="0"/>
                        <a:t>3</a:t>
                      </a:r>
                    </a:p>
                  </a:txBody>
                  <a:tcPr/>
                </a:tc>
                <a:tc>
                  <a:txBody>
                    <a:bodyPr/>
                    <a:lstStyle/>
                    <a:p>
                      <a:pPr lvl="0">
                        <a:buNone/>
                      </a:pPr>
                      <a:r>
                        <a:rPr lang="en-US" sz="3200" dirty="0"/>
                        <a:t>x</a:t>
                      </a:r>
                      <a:r>
                        <a:rPr lang="en-US" sz="3200" baseline="-25000" dirty="0"/>
                        <a:t>4</a:t>
                      </a:r>
                    </a:p>
                  </a:txBody>
                  <a:tcPr/>
                </a:tc>
                <a:tc>
                  <a:txBody>
                    <a:bodyPr/>
                    <a:lstStyle/>
                    <a:p>
                      <a:pPr lvl="0">
                        <a:buNone/>
                      </a:pPr>
                      <a:r>
                        <a:rPr lang="en-US" sz="3200" dirty="0"/>
                        <a:t>x</a:t>
                      </a:r>
                      <a:r>
                        <a:rPr lang="en-US" sz="3200" baseline="-25000" dirty="0"/>
                        <a:t>5</a:t>
                      </a:r>
                    </a:p>
                  </a:txBody>
                  <a:tcPr/>
                </a:tc>
                <a:tc>
                  <a:txBody>
                    <a:bodyPr/>
                    <a:lstStyle/>
                    <a:p>
                      <a:pPr lvl="0">
                        <a:buNone/>
                      </a:pPr>
                      <a:r>
                        <a:rPr lang="en-US" sz="3200" dirty="0"/>
                        <a:t>x</a:t>
                      </a:r>
                      <a:r>
                        <a:rPr lang="en-US" sz="3200" baseline="-25000" dirty="0"/>
                        <a:t>6</a:t>
                      </a:r>
                    </a:p>
                  </a:txBody>
                  <a:tcPr/>
                </a:tc>
                <a:tc>
                  <a:txBody>
                    <a:bodyPr/>
                    <a:lstStyle/>
                    <a:p>
                      <a:pPr lvl="0">
                        <a:buNone/>
                      </a:pPr>
                      <a:r>
                        <a:rPr lang="en-US" sz="3200" dirty="0"/>
                        <a:t>x</a:t>
                      </a:r>
                      <a:r>
                        <a:rPr lang="en-US" sz="3200" baseline="-25000" dirty="0"/>
                        <a:t>7</a:t>
                      </a:r>
                    </a:p>
                  </a:txBody>
                  <a:tcPr/>
                </a:tc>
                <a:extLst>
                  <a:ext uri="{0D108BD9-81ED-4DB2-BD59-A6C34878D82A}">
                    <a16:rowId xmlns:a16="http://schemas.microsoft.com/office/drawing/2014/main" val="407627465"/>
                  </a:ext>
                </a:extLst>
              </a:tr>
              <a:tr h="370840">
                <a:tc>
                  <a:txBody>
                    <a:bodyPr/>
                    <a:lstStyle/>
                    <a:p>
                      <a:pPr lvl="0">
                        <a:buNone/>
                      </a:pPr>
                      <a:r>
                        <a:rPr lang="en-US" sz="3200" dirty="0"/>
                        <a:t>17.1</a:t>
                      </a:r>
                    </a:p>
                  </a:txBody>
                  <a:tcPr/>
                </a:tc>
                <a:tc>
                  <a:txBody>
                    <a:bodyPr/>
                    <a:lstStyle/>
                    <a:p>
                      <a:pPr lvl="0">
                        <a:buNone/>
                      </a:pPr>
                      <a:r>
                        <a:rPr lang="en-US" sz="3200" b="0" dirty="0"/>
                        <a:t>15.2</a:t>
                      </a:r>
                    </a:p>
                  </a:txBody>
                  <a:tcPr/>
                </a:tc>
                <a:tc>
                  <a:txBody>
                    <a:bodyPr/>
                    <a:lstStyle/>
                    <a:p>
                      <a:pPr lvl="0">
                        <a:buNone/>
                      </a:pPr>
                      <a:r>
                        <a:rPr lang="en-US" sz="3200" dirty="0"/>
                        <a:t>14.9</a:t>
                      </a:r>
                    </a:p>
                  </a:txBody>
                  <a:tcPr/>
                </a:tc>
                <a:tc>
                  <a:txBody>
                    <a:bodyPr/>
                    <a:lstStyle/>
                    <a:p>
                      <a:pPr lvl="0">
                        <a:buNone/>
                      </a:pPr>
                      <a:r>
                        <a:rPr lang="en-US" sz="3200" dirty="0"/>
                        <a:t>12.6</a:t>
                      </a:r>
                    </a:p>
                  </a:txBody>
                  <a:tcPr/>
                </a:tc>
                <a:tc>
                  <a:txBody>
                    <a:bodyPr/>
                    <a:lstStyle/>
                    <a:p>
                      <a:pPr lvl="0">
                        <a:buNone/>
                      </a:pPr>
                      <a:r>
                        <a:rPr lang="en-US" sz="3200" b="0" dirty="0"/>
                        <a:t>15.2</a:t>
                      </a:r>
                    </a:p>
                  </a:txBody>
                  <a:tcPr/>
                </a:tc>
                <a:tc>
                  <a:txBody>
                    <a:bodyPr/>
                    <a:lstStyle/>
                    <a:p>
                      <a:pPr lvl="0">
                        <a:buNone/>
                      </a:pPr>
                      <a:r>
                        <a:rPr lang="en-US" sz="3200" dirty="0"/>
                        <a:t>10.3</a:t>
                      </a:r>
                      <a:endParaRPr lang="en-US" dirty="0"/>
                    </a:p>
                  </a:txBody>
                  <a:tcPr/>
                </a:tc>
                <a:tc>
                  <a:txBody>
                    <a:bodyPr/>
                    <a:lstStyle/>
                    <a:p>
                      <a:pPr lvl="0">
                        <a:buNone/>
                      </a:pPr>
                      <a:r>
                        <a:rPr lang="en-US" sz="3200" dirty="0"/>
                        <a:t>12.7</a:t>
                      </a:r>
                    </a:p>
                  </a:txBody>
                  <a:tcPr/>
                </a:tc>
                <a:extLst>
                  <a:ext uri="{0D108BD9-81ED-4DB2-BD59-A6C34878D82A}">
                    <a16:rowId xmlns:a16="http://schemas.microsoft.com/office/drawing/2014/main" val="2749489767"/>
                  </a:ext>
                </a:extLst>
              </a:tr>
            </a:tbl>
          </a:graphicData>
        </a:graphic>
      </p:graphicFrame>
      <p:sp>
        <p:nvSpPr>
          <p:cNvPr id="8" name="TextBox 7">
            <a:extLst>
              <a:ext uri="{FF2B5EF4-FFF2-40B4-BE49-F238E27FC236}">
                <a16:creationId xmlns:a16="http://schemas.microsoft.com/office/drawing/2014/main" id="{3D04B0D7-E6AD-DAD2-7537-E2129BA42BA0}"/>
              </a:ext>
            </a:extLst>
          </p:cNvPr>
          <p:cNvSpPr txBox="1"/>
          <p:nvPr/>
        </p:nvSpPr>
        <p:spPr>
          <a:xfrm>
            <a:off x="463440" y="4059921"/>
            <a:ext cx="11197086"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742950" indent="-742950">
              <a:buAutoNum type="arabicPeriod"/>
            </a:pPr>
            <a:r>
              <a:rPr lang="en-US" sz="4000" dirty="0">
                <a:ea typeface="+mn-lt"/>
                <a:cs typeface="+mn-lt"/>
              </a:rPr>
              <a:t>Take x</a:t>
            </a:r>
            <a:r>
              <a:rPr lang="en-US" sz="4000" baseline="-25000" dirty="0">
                <a:ea typeface="+mn-lt"/>
                <a:cs typeface="+mn-lt"/>
              </a:rPr>
              <a:t>1</a:t>
            </a:r>
            <a:r>
              <a:rPr lang="en-US" sz="4000" dirty="0">
                <a:ea typeface="+mn-lt"/>
                <a:cs typeface="+mn-lt"/>
              </a:rPr>
              <a:t> minus mean, squared (17.1 − 14)</a:t>
            </a:r>
            <a:r>
              <a:rPr lang="en-US" sz="4000" baseline="30000" dirty="0">
                <a:ea typeface="+mn-lt"/>
                <a:cs typeface="+mn-lt"/>
              </a:rPr>
              <a:t>2</a:t>
            </a:r>
            <a:r>
              <a:rPr lang="en-US" sz="4000" dirty="0">
                <a:ea typeface="+mn-lt"/>
                <a:cs typeface="+mn-lt"/>
              </a:rPr>
              <a:t> = 9.61</a:t>
            </a:r>
            <a:endParaRPr lang="en-US" dirty="0">
              <a:ea typeface="Calibri" panose="020F0502020204030204"/>
              <a:cs typeface="Calibri" panose="020F0502020204030204"/>
            </a:endParaRPr>
          </a:p>
          <a:p>
            <a:pPr marL="742950" indent="-742950">
              <a:buAutoNum type="arabicPeriod"/>
            </a:pPr>
            <a:r>
              <a:rPr lang="en-US" sz="4000" dirty="0">
                <a:ea typeface="+mn-lt"/>
                <a:cs typeface="+mn-lt"/>
              </a:rPr>
              <a:t>Repeat step 1 for x</a:t>
            </a:r>
            <a:r>
              <a:rPr lang="en-US" sz="4000" baseline="-25000" dirty="0">
                <a:ea typeface="+mn-lt"/>
                <a:cs typeface="+mn-lt"/>
              </a:rPr>
              <a:t>2</a:t>
            </a:r>
            <a:r>
              <a:rPr lang="en-US" sz="4000" dirty="0">
                <a:ea typeface="+mn-lt"/>
                <a:cs typeface="+mn-lt"/>
              </a:rPr>
              <a:t> , x</a:t>
            </a:r>
            <a:r>
              <a:rPr lang="en-US" sz="4000" baseline="-25000" dirty="0">
                <a:ea typeface="+mn-lt"/>
                <a:cs typeface="+mn-lt"/>
              </a:rPr>
              <a:t>3</a:t>
            </a:r>
            <a:r>
              <a:rPr lang="en-US" sz="4000" dirty="0">
                <a:ea typeface="+mn-lt"/>
                <a:cs typeface="+mn-lt"/>
              </a:rPr>
              <a:t> , ..., </a:t>
            </a:r>
            <a:r>
              <a:rPr lang="en-US" sz="4000" err="1">
                <a:ea typeface="+mn-lt"/>
                <a:cs typeface="+mn-lt"/>
              </a:rPr>
              <a:t>x</a:t>
            </a:r>
            <a:r>
              <a:rPr lang="en-US" sz="4000" baseline="-25000" err="1">
                <a:ea typeface="+mn-lt"/>
                <a:cs typeface="+mn-lt"/>
              </a:rPr>
              <a:t>N</a:t>
            </a:r>
            <a:endParaRPr lang="en-US" baseline="-25000" err="1">
              <a:ea typeface="Calibri" panose="020F0502020204030204"/>
              <a:cs typeface="Calibri" panose="020F0502020204030204"/>
            </a:endParaRPr>
          </a:p>
          <a:p>
            <a:pPr marL="742950" indent="-742950">
              <a:buAutoNum type="arabicPeriod"/>
            </a:pPr>
            <a:r>
              <a:rPr lang="en-US" sz="4000" dirty="0">
                <a:ea typeface="+mn-lt"/>
                <a:cs typeface="+mn-lt"/>
              </a:rPr>
              <a:t>Sum up all these (x</a:t>
            </a:r>
            <a:r>
              <a:rPr lang="en-US" sz="4000" baseline="-25000" dirty="0">
                <a:ea typeface="+mn-lt"/>
                <a:cs typeface="+mn-lt"/>
              </a:rPr>
              <a:t>i</a:t>
            </a:r>
            <a:r>
              <a:rPr lang="en-US" sz="4000" dirty="0">
                <a:ea typeface="+mn-lt"/>
                <a:cs typeface="+mn-lt"/>
              </a:rPr>
              <a:t> − x̄ )</a:t>
            </a:r>
            <a:r>
              <a:rPr lang="en-US" sz="4000" baseline="30000" dirty="0">
                <a:ea typeface="+mn-lt"/>
                <a:cs typeface="+mn-lt"/>
              </a:rPr>
              <a:t>2</a:t>
            </a:r>
            <a:r>
              <a:rPr lang="en-US" sz="4000" dirty="0">
                <a:ea typeface="+mn-lt"/>
                <a:cs typeface="+mn-lt"/>
              </a:rPr>
              <a:t> values</a:t>
            </a:r>
            <a:endParaRPr lang="en-US" dirty="0">
              <a:ea typeface="Calibri" panose="020F0502020204030204"/>
              <a:cs typeface="Calibri" panose="020F0502020204030204"/>
            </a:endParaRPr>
          </a:p>
          <a:p>
            <a:pPr marL="742950" indent="-742950">
              <a:buAutoNum type="arabicPeriod"/>
            </a:pPr>
            <a:r>
              <a:rPr lang="en-US" sz="4000" dirty="0">
                <a:ea typeface="+mn-lt"/>
                <a:cs typeface="+mn-lt"/>
              </a:rPr>
              <a:t>Multiply the sum by 1/(N − 1)</a:t>
            </a:r>
            <a:endParaRPr lang="en-US" dirty="0">
              <a:ea typeface="Calibri" panose="020F0502020204030204"/>
              <a:cs typeface="Calibri" panose="020F0502020204030204"/>
            </a:endParaRPr>
          </a:p>
        </p:txBody>
      </p:sp>
      <p:pic>
        <p:nvPicPr>
          <p:cNvPr id="5" name="Picture 4" descr="Formula for variation, showing s^2 equals 1/(N-1) times the summation of a value minus the mean squared over all values.">
            <a:extLst>
              <a:ext uri="{FF2B5EF4-FFF2-40B4-BE49-F238E27FC236}">
                <a16:creationId xmlns:a16="http://schemas.microsoft.com/office/drawing/2014/main" id="{FFDD5F03-13E7-476A-71CE-BF7B9FA2C6BD}"/>
              </a:ext>
            </a:extLst>
          </p:cNvPr>
          <p:cNvPicPr>
            <a:picLocks noChangeAspect="1"/>
          </p:cNvPicPr>
          <p:nvPr/>
        </p:nvPicPr>
        <p:blipFill>
          <a:blip r:embed="rId2"/>
          <a:stretch>
            <a:fillRect/>
          </a:stretch>
        </p:blipFill>
        <p:spPr>
          <a:xfrm>
            <a:off x="3366909" y="788598"/>
            <a:ext cx="4954977" cy="1427672"/>
          </a:xfrm>
          <a:prstGeom prst="rect">
            <a:avLst/>
          </a:prstGeom>
        </p:spPr>
      </p:pic>
    </p:spTree>
    <p:extLst>
      <p:ext uri="{BB962C8B-B14F-4D97-AF65-F5344CB8AC3E}">
        <p14:creationId xmlns:p14="http://schemas.microsoft.com/office/powerpoint/2010/main" val="39011592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67FB8-C822-0FB8-2048-A728829143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D2384C-7E50-B553-B8EF-53894CB0D65C}"/>
              </a:ext>
            </a:extLst>
          </p:cNvPr>
          <p:cNvSpPr>
            <a:spLocks noGrp="1"/>
          </p:cNvSpPr>
          <p:nvPr>
            <p:ph type="title"/>
          </p:nvPr>
        </p:nvSpPr>
        <p:spPr>
          <a:xfrm>
            <a:off x="4313" y="5691"/>
            <a:ext cx="12111486" cy="764847"/>
          </a:xfrm>
        </p:spPr>
        <p:txBody>
          <a:bodyPr/>
          <a:lstStyle/>
          <a:p>
            <a:r>
              <a:rPr lang="en-US" dirty="0">
                <a:cs typeface="Calibri Light"/>
              </a:rPr>
              <a:t>Measures of spread: Variance (s</a:t>
            </a:r>
            <a:r>
              <a:rPr lang="en-US" sz="2900" baseline="30000" dirty="0">
                <a:cs typeface="Calibri Light"/>
              </a:rPr>
              <a:t>2</a:t>
            </a:r>
            <a:r>
              <a:rPr lang="en-US" dirty="0">
                <a:cs typeface="Calibri Light"/>
              </a:rPr>
              <a:t>)</a:t>
            </a:r>
          </a:p>
        </p:txBody>
      </p:sp>
      <p:graphicFrame>
        <p:nvGraphicFramePr>
          <p:cNvPr id="4" name="Table 4">
            <a:extLst>
              <a:ext uri="{FF2B5EF4-FFF2-40B4-BE49-F238E27FC236}">
                <a16:creationId xmlns:a16="http://schemas.microsoft.com/office/drawing/2014/main" id="{3E90A764-52A1-FCCA-4EE5-F4862585A65F}"/>
              </a:ext>
            </a:extLst>
          </p:cNvPr>
          <p:cNvGraphicFramePr>
            <a:graphicFrameLocks noGrp="1"/>
          </p:cNvGraphicFramePr>
          <p:nvPr>
            <p:ph idx="1"/>
          </p:nvPr>
        </p:nvGraphicFramePr>
        <p:xfrm>
          <a:off x="273169" y="2458528"/>
          <a:ext cx="11578248" cy="1158240"/>
        </p:xfrm>
        <a:graphic>
          <a:graphicData uri="http://schemas.openxmlformats.org/drawingml/2006/table">
            <a:tbl>
              <a:tblPr firstRow="1" bandRow="1">
                <a:tableStyleId>{5C22544A-7EE6-4342-B048-85BDC9FD1C3A}</a:tableStyleId>
              </a:tblPr>
              <a:tblGrid>
                <a:gridCol w="1704412">
                  <a:extLst>
                    <a:ext uri="{9D8B030D-6E8A-4147-A177-3AD203B41FA5}">
                      <a16:colId xmlns:a16="http://schemas.microsoft.com/office/drawing/2014/main" val="1440659236"/>
                    </a:ext>
                  </a:extLst>
                </a:gridCol>
                <a:gridCol w="1523998">
                  <a:extLst>
                    <a:ext uri="{9D8B030D-6E8A-4147-A177-3AD203B41FA5}">
                      <a16:colId xmlns:a16="http://schemas.microsoft.com/office/drawing/2014/main" val="3595805577"/>
                    </a:ext>
                  </a:extLst>
                </a:gridCol>
                <a:gridCol w="1750976">
                  <a:extLst>
                    <a:ext uri="{9D8B030D-6E8A-4147-A177-3AD203B41FA5}">
                      <a16:colId xmlns:a16="http://schemas.microsoft.com/office/drawing/2014/main" val="3384190090"/>
                    </a:ext>
                  </a:extLst>
                </a:gridCol>
                <a:gridCol w="1799615">
                  <a:extLst>
                    <a:ext uri="{9D8B030D-6E8A-4147-A177-3AD203B41FA5}">
                      <a16:colId xmlns:a16="http://schemas.microsoft.com/office/drawing/2014/main" val="2776619890"/>
                    </a:ext>
                  </a:extLst>
                </a:gridCol>
                <a:gridCol w="1572638">
                  <a:extLst>
                    <a:ext uri="{9D8B030D-6E8A-4147-A177-3AD203B41FA5}">
                      <a16:colId xmlns:a16="http://schemas.microsoft.com/office/drawing/2014/main" val="2732717286"/>
                    </a:ext>
                  </a:extLst>
                </a:gridCol>
                <a:gridCol w="1686127">
                  <a:extLst>
                    <a:ext uri="{9D8B030D-6E8A-4147-A177-3AD203B41FA5}">
                      <a16:colId xmlns:a16="http://schemas.microsoft.com/office/drawing/2014/main" val="514508494"/>
                    </a:ext>
                  </a:extLst>
                </a:gridCol>
                <a:gridCol w="1540482">
                  <a:extLst>
                    <a:ext uri="{9D8B030D-6E8A-4147-A177-3AD203B41FA5}">
                      <a16:colId xmlns:a16="http://schemas.microsoft.com/office/drawing/2014/main" val="3803948661"/>
                    </a:ext>
                  </a:extLst>
                </a:gridCol>
              </a:tblGrid>
              <a:tr h="370840">
                <a:tc>
                  <a:txBody>
                    <a:bodyPr/>
                    <a:lstStyle/>
                    <a:p>
                      <a:r>
                        <a:rPr lang="en-US" sz="3200" dirty="0"/>
                        <a:t>x</a:t>
                      </a:r>
                      <a:r>
                        <a:rPr lang="en-US" sz="3200" baseline="-25000" dirty="0"/>
                        <a:t>1</a:t>
                      </a:r>
                    </a:p>
                  </a:txBody>
                  <a:tcPr/>
                </a:tc>
                <a:tc>
                  <a:txBody>
                    <a:bodyPr/>
                    <a:lstStyle/>
                    <a:p>
                      <a:pPr lvl="0">
                        <a:buNone/>
                      </a:pPr>
                      <a:r>
                        <a:rPr lang="en-US" sz="3200" dirty="0"/>
                        <a:t>x</a:t>
                      </a:r>
                      <a:r>
                        <a:rPr lang="en-US" sz="3200" baseline="-25000" dirty="0"/>
                        <a:t>2</a:t>
                      </a:r>
                    </a:p>
                  </a:txBody>
                  <a:tcPr/>
                </a:tc>
                <a:tc>
                  <a:txBody>
                    <a:bodyPr/>
                    <a:lstStyle/>
                    <a:p>
                      <a:pPr lvl="0">
                        <a:buNone/>
                      </a:pPr>
                      <a:r>
                        <a:rPr lang="en-US" sz="3200" dirty="0"/>
                        <a:t>x</a:t>
                      </a:r>
                      <a:r>
                        <a:rPr lang="en-US" sz="3200" baseline="-25000" dirty="0"/>
                        <a:t>3</a:t>
                      </a:r>
                    </a:p>
                  </a:txBody>
                  <a:tcPr/>
                </a:tc>
                <a:tc>
                  <a:txBody>
                    <a:bodyPr/>
                    <a:lstStyle/>
                    <a:p>
                      <a:pPr lvl="0">
                        <a:buNone/>
                      </a:pPr>
                      <a:r>
                        <a:rPr lang="en-US" sz="3200" dirty="0"/>
                        <a:t>x</a:t>
                      </a:r>
                      <a:r>
                        <a:rPr lang="en-US" sz="3200" baseline="-25000" dirty="0"/>
                        <a:t>4</a:t>
                      </a:r>
                    </a:p>
                  </a:txBody>
                  <a:tcPr/>
                </a:tc>
                <a:tc>
                  <a:txBody>
                    <a:bodyPr/>
                    <a:lstStyle/>
                    <a:p>
                      <a:pPr lvl="0">
                        <a:buNone/>
                      </a:pPr>
                      <a:r>
                        <a:rPr lang="en-US" sz="3200" dirty="0"/>
                        <a:t>x</a:t>
                      </a:r>
                      <a:r>
                        <a:rPr lang="en-US" sz="3200" baseline="-25000" dirty="0"/>
                        <a:t>5</a:t>
                      </a:r>
                    </a:p>
                  </a:txBody>
                  <a:tcPr/>
                </a:tc>
                <a:tc>
                  <a:txBody>
                    <a:bodyPr/>
                    <a:lstStyle/>
                    <a:p>
                      <a:pPr lvl="0">
                        <a:buNone/>
                      </a:pPr>
                      <a:r>
                        <a:rPr lang="en-US" sz="3200" dirty="0"/>
                        <a:t>x</a:t>
                      </a:r>
                      <a:r>
                        <a:rPr lang="en-US" sz="3200" baseline="-25000" dirty="0"/>
                        <a:t>6</a:t>
                      </a:r>
                    </a:p>
                  </a:txBody>
                  <a:tcPr/>
                </a:tc>
                <a:tc>
                  <a:txBody>
                    <a:bodyPr/>
                    <a:lstStyle/>
                    <a:p>
                      <a:pPr lvl="0">
                        <a:buNone/>
                      </a:pPr>
                      <a:r>
                        <a:rPr lang="en-US" sz="3200" dirty="0"/>
                        <a:t>x</a:t>
                      </a:r>
                      <a:r>
                        <a:rPr lang="en-US" sz="3200" baseline="-25000" dirty="0"/>
                        <a:t>7</a:t>
                      </a:r>
                    </a:p>
                  </a:txBody>
                  <a:tcPr/>
                </a:tc>
                <a:extLst>
                  <a:ext uri="{0D108BD9-81ED-4DB2-BD59-A6C34878D82A}">
                    <a16:rowId xmlns:a16="http://schemas.microsoft.com/office/drawing/2014/main" val="407627465"/>
                  </a:ext>
                </a:extLst>
              </a:tr>
              <a:tr h="370840">
                <a:tc>
                  <a:txBody>
                    <a:bodyPr/>
                    <a:lstStyle/>
                    <a:p>
                      <a:pPr lvl="0">
                        <a:buNone/>
                      </a:pPr>
                      <a:r>
                        <a:rPr lang="en-US" sz="3200" dirty="0"/>
                        <a:t>17.1</a:t>
                      </a:r>
                    </a:p>
                  </a:txBody>
                  <a:tcPr/>
                </a:tc>
                <a:tc>
                  <a:txBody>
                    <a:bodyPr/>
                    <a:lstStyle/>
                    <a:p>
                      <a:pPr lvl="0">
                        <a:buNone/>
                      </a:pPr>
                      <a:r>
                        <a:rPr lang="en-US" sz="3200" b="0" dirty="0"/>
                        <a:t>15.2</a:t>
                      </a:r>
                    </a:p>
                  </a:txBody>
                  <a:tcPr/>
                </a:tc>
                <a:tc>
                  <a:txBody>
                    <a:bodyPr/>
                    <a:lstStyle/>
                    <a:p>
                      <a:pPr lvl="0">
                        <a:buNone/>
                      </a:pPr>
                      <a:r>
                        <a:rPr lang="en-US" sz="3200" dirty="0"/>
                        <a:t>14.9</a:t>
                      </a:r>
                    </a:p>
                  </a:txBody>
                  <a:tcPr/>
                </a:tc>
                <a:tc>
                  <a:txBody>
                    <a:bodyPr/>
                    <a:lstStyle/>
                    <a:p>
                      <a:pPr lvl="0">
                        <a:buNone/>
                      </a:pPr>
                      <a:r>
                        <a:rPr lang="en-US" sz="3200" dirty="0"/>
                        <a:t>12.6</a:t>
                      </a:r>
                    </a:p>
                  </a:txBody>
                  <a:tcPr/>
                </a:tc>
                <a:tc>
                  <a:txBody>
                    <a:bodyPr/>
                    <a:lstStyle/>
                    <a:p>
                      <a:pPr lvl="0">
                        <a:buNone/>
                      </a:pPr>
                      <a:r>
                        <a:rPr lang="en-US" sz="3200" b="0" dirty="0"/>
                        <a:t>15.2</a:t>
                      </a:r>
                    </a:p>
                  </a:txBody>
                  <a:tcPr/>
                </a:tc>
                <a:tc>
                  <a:txBody>
                    <a:bodyPr/>
                    <a:lstStyle/>
                    <a:p>
                      <a:pPr lvl="0">
                        <a:buNone/>
                      </a:pPr>
                      <a:r>
                        <a:rPr lang="en-US" sz="3200" dirty="0"/>
                        <a:t>10.3</a:t>
                      </a:r>
                      <a:endParaRPr lang="en-US" dirty="0"/>
                    </a:p>
                  </a:txBody>
                  <a:tcPr/>
                </a:tc>
                <a:tc>
                  <a:txBody>
                    <a:bodyPr/>
                    <a:lstStyle/>
                    <a:p>
                      <a:pPr lvl="0">
                        <a:buNone/>
                      </a:pPr>
                      <a:r>
                        <a:rPr lang="en-US" sz="3200" dirty="0"/>
                        <a:t>12.7</a:t>
                      </a:r>
                    </a:p>
                  </a:txBody>
                  <a:tcPr/>
                </a:tc>
                <a:extLst>
                  <a:ext uri="{0D108BD9-81ED-4DB2-BD59-A6C34878D82A}">
                    <a16:rowId xmlns:a16="http://schemas.microsoft.com/office/drawing/2014/main" val="2749489767"/>
                  </a:ext>
                </a:extLst>
              </a:tr>
            </a:tbl>
          </a:graphicData>
        </a:graphic>
      </p:graphicFrame>
      <p:pic>
        <p:nvPicPr>
          <p:cNvPr id="5" name="Picture 4" descr="Formula for variation, showing s^2 equals 1/(N-1) times the summation of a value minus the mean squared over all values.">
            <a:extLst>
              <a:ext uri="{FF2B5EF4-FFF2-40B4-BE49-F238E27FC236}">
                <a16:creationId xmlns:a16="http://schemas.microsoft.com/office/drawing/2014/main" id="{1055475A-5BC2-5A64-2301-8DA722D616AE}"/>
              </a:ext>
            </a:extLst>
          </p:cNvPr>
          <p:cNvPicPr>
            <a:picLocks noChangeAspect="1"/>
          </p:cNvPicPr>
          <p:nvPr/>
        </p:nvPicPr>
        <p:blipFill>
          <a:blip r:embed="rId2"/>
          <a:stretch>
            <a:fillRect/>
          </a:stretch>
        </p:blipFill>
        <p:spPr>
          <a:xfrm>
            <a:off x="3366909" y="788598"/>
            <a:ext cx="4954977" cy="1427672"/>
          </a:xfrm>
          <a:prstGeom prst="rect">
            <a:avLst/>
          </a:prstGeom>
        </p:spPr>
      </p:pic>
      <p:pic>
        <p:nvPicPr>
          <p:cNvPr id="3" name="Picture 2" descr="Maths showing the sum of squares being calculated (i.e., each value minus the mean, squared, and all summed up). This is then put into the equation for variance to get a value of 5.1067.">
            <a:extLst>
              <a:ext uri="{FF2B5EF4-FFF2-40B4-BE49-F238E27FC236}">
                <a16:creationId xmlns:a16="http://schemas.microsoft.com/office/drawing/2014/main" id="{0E90BD51-5A39-6B26-7270-DC583D2CF1CD}"/>
              </a:ext>
            </a:extLst>
          </p:cNvPr>
          <p:cNvPicPr>
            <a:picLocks noChangeAspect="1"/>
          </p:cNvPicPr>
          <p:nvPr/>
        </p:nvPicPr>
        <p:blipFill>
          <a:blip r:embed="rId3"/>
          <a:stretch>
            <a:fillRect/>
          </a:stretch>
        </p:blipFill>
        <p:spPr>
          <a:xfrm>
            <a:off x="2017683" y="3900217"/>
            <a:ext cx="7639050" cy="2953829"/>
          </a:xfrm>
          <a:prstGeom prst="rect">
            <a:avLst/>
          </a:prstGeom>
        </p:spPr>
      </p:pic>
    </p:spTree>
    <p:extLst>
      <p:ext uri="{BB962C8B-B14F-4D97-AF65-F5344CB8AC3E}">
        <p14:creationId xmlns:p14="http://schemas.microsoft.com/office/powerpoint/2010/main" val="8983603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8D531-A2B6-3D96-557E-34988A9172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9A6516-C150-4AE4-7C95-C08ACF3767D1}"/>
              </a:ext>
            </a:extLst>
          </p:cNvPr>
          <p:cNvSpPr>
            <a:spLocks noGrp="1"/>
          </p:cNvSpPr>
          <p:nvPr>
            <p:ph type="title"/>
          </p:nvPr>
        </p:nvSpPr>
        <p:spPr>
          <a:xfrm>
            <a:off x="4313" y="5691"/>
            <a:ext cx="10515600" cy="922997"/>
          </a:xfrm>
        </p:spPr>
        <p:txBody>
          <a:bodyPr/>
          <a:lstStyle/>
          <a:p>
            <a:r>
              <a:rPr lang="en-US" dirty="0">
                <a:cs typeface="Calibri Light"/>
              </a:rPr>
              <a:t>Measures of spread: Standard deviation (s)</a:t>
            </a:r>
            <a:endParaRPr lang="en-US" dirty="0"/>
          </a:p>
        </p:txBody>
      </p:sp>
      <p:sp>
        <p:nvSpPr>
          <p:cNvPr id="3" name="Content Placeholder 2">
            <a:extLst>
              <a:ext uri="{FF2B5EF4-FFF2-40B4-BE49-F238E27FC236}">
                <a16:creationId xmlns:a16="http://schemas.microsoft.com/office/drawing/2014/main" id="{BC01AD77-A201-4B9E-AFAE-11BA19CD6FF1}"/>
              </a:ext>
            </a:extLst>
          </p:cNvPr>
          <p:cNvSpPr>
            <a:spLocks noGrp="1"/>
          </p:cNvSpPr>
          <p:nvPr>
            <p:ph idx="1"/>
          </p:nvPr>
        </p:nvSpPr>
        <p:spPr>
          <a:xfrm>
            <a:off x="291860" y="1063625"/>
            <a:ext cx="11565147" cy="1907187"/>
          </a:xfrm>
        </p:spPr>
        <p:txBody>
          <a:bodyPr vert="horz" lIns="91440" tIns="45720" rIns="91440" bIns="45720" rtlCol="0" anchor="t">
            <a:normAutofit fontScale="85000" lnSpcReduction="20000"/>
          </a:bodyPr>
          <a:lstStyle/>
          <a:p>
            <a:pPr marL="685800" indent="-685800"/>
            <a:r>
              <a:rPr lang="en-US" sz="5400" dirty="0">
                <a:ea typeface="Calibri"/>
                <a:cs typeface="Calibri"/>
              </a:rPr>
              <a:t>Mean deviation from the mean</a:t>
            </a:r>
            <a:endParaRPr lang="en-US" dirty="0">
              <a:ea typeface="Calibri"/>
              <a:cs typeface="Calibri"/>
            </a:endParaRPr>
          </a:p>
          <a:p>
            <a:pPr marL="685800" indent="-685800"/>
            <a:r>
              <a:rPr lang="en-US" sz="5400" dirty="0">
                <a:ea typeface="Calibri"/>
                <a:cs typeface="Calibri"/>
              </a:rPr>
              <a:t>Square-root of the variance</a:t>
            </a:r>
          </a:p>
          <a:p>
            <a:pPr marL="685800" indent="-685800"/>
            <a:r>
              <a:rPr lang="en-US" sz="5400" dirty="0">
                <a:ea typeface="Calibri"/>
                <a:cs typeface="Calibri"/>
              </a:rPr>
              <a:t>Gets back to original units</a:t>
            </a:r>
          </a:p>
          <a:p>
            <a:pPr marL="685800" indent="-685800"/>
            <a:endParaRPr lang="en-US" sz="5400" dirty="0">
              <a:ea typeface="Calibri"/>
              <a:cs typeface="Calibri"/>
            </a:endParaRPr>
          </a:p>
          <a:p>
            <a:pPr marL="685800" indent="-685800"/>
            <a:endParaRPr lang="en-US" sz="5400" dirty="0">
              <a:ea typeface="Calibri"/>
              <a:cs typeface="Calibri"/>
            </a:endParaRPr>
          </a:p>
          <a:p>
            <a:pPr marL="685800" indent="-685800"/>
            <a:endParaRPr lang="en-US" sz="5400" dirty="0">
              <a:ea typeface="Calibri"/>
              <a:cs typeface="Calibri"/>
            </a:endParaRPr>
          </a:p>
          <a:p>
            <a:pPr marL="685800" indent="-685800"/>
            <a:endParaRPr lang="en-US" sz="5400" dirty="0">
              <a:ea typeface="Calibri"/>
              <a:cs typeface="Calibri"/>
            </a:endParaRPr>
          </a:p>
        </p:txBody>
      </p:sp>
      <p:sp>
        <p:nvSpPr>
          <p:cNvPr id="6" name="TextBox 5">
            <a:extLst>
              <a:ext uri="{FF2B5EF4-FFF2-40B4-BE49-F238E27FC236}">
                <a16:creationId xmlns:a16="http://schemas.microsoft.com/office/drawing/2014/main" id="{53AB73EB-C2AF-BF50-581C-87D698485960}"/>
              </a:ext>
            </a:extLst>
          </p:cNvPr>
          <p:cNvSpPr txBox="1"/>
          <p:nvPr/>
        </p:nvSpPr>
        <p:spPr>
          <a:xfrm>
            <a:off x="292535" y="6395449"/>
            <a:ext cx="1157089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AutoNum type="arabicPeriod"/>
            </a:pPr>
            <a:r>
              <a:rPr lang="en-US" sz="2400" dirty="0">
                <a:ea typeface="+mn-lt"/>
                <a:cs typeface="+mn-lt"/>
                <a:hlinkClick r:id="rId2"/>
              </a:rPr>
              <a:t>https://bradduthie.github.io/stats/app/normal_pos_neg/</a:t>
            </a:r>
            <a:r>
              <a:rPr lang="en-US" sz="2400" dirty="0">
                <a:ea typeface="+mn-lt"/>
                <a:cs typeface="+mn-lt"/>
              </a:rPr>
              <a:t> </a:t>
            </a:r>
            <a:endParaRPr lang="en-US" sz="2400" dirty="0">
              <a:ea typeface="Calibri"/>
              <a:cs typeface="Calibri"/>
            </a:endParaRPr>
          </a:p>
        </p:txBody>
      </p:sp>
      <p:pic>
        <p:nvPicPr>
          <p:cNvPr id="5" name="Picture 4" descr="Equation for standard deviation as square root of a calculated variance (5.1067) getting to 2.2598 degrees C.">
            <a:extLst>
              <a:ext uri="{FF2B5EF4-FFF2-40B4-BE49-F238E27FC236}">
                <a16:creationId xmlns:a16="http://schemas.microsoft.com/office/drawing/2014/main" id="{DC91191C-1CC1-6AAE-E09E-F430ACFFA04E}"/>
              </a:ext>
            </a:extLst>
          </p:cNvPr>
          <p:cNvPicPr>
            <a:picLocks noChangeAspect="1"/>
          </p:cNvPicPr>
          <p:nvPr/>
        </p:nvPicPr>
        <p:blipFill>
          <a:blip r:embed="rId3"/>
          <a:stretch>
            <a:fillRect/>
          </a:stretch>
        </p:blipFill>
        <p:spPr>
          <a:xfrm>
            <a:off x="1912189" y="2972878"/>
            <a:ext cx="7088037" cy="3241375"/>
          </a:xfrm>
          <a:prstGeom prst="rect">
            <a:avLst/>
          </a:prstGeom>
        </p:spPr>
      </p:pic>
    </p:spTree>
    <p:extLst>
      <p:ext uri="{BB962C8B-B14F-4D97-AF65-F5344CB8AC3E}">
        <p14:creationId xmlns:p14="http://schemas.microsoft.com/office/powerpoint/2010/main" val="13573218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197D2-D52F-BE8D-FE14-52759A16A3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52BB07-BA50-B200-CE7C-04B929F7ADE2}"/>
              </a:ext>
            </a:extLst>
          </p:cNvPr>
          <p:cNvSpPr>
            <a:spLocks noGrp="1"/>
          </p:cNvSpPr>
          <p:nvPr>
            <p:ph type="title"/>
          </p:nvPr>
        </p:nvSpPr>
        <p:spPr>
          <a:xfrm>
            <a:off x="4313" y="5691"/>
            <a:ext cx="10515600" cy="922997"/>
          </a:xfrm>
        </p:spPr>
        <p:txBody>
          <a:bodyPr/>
          <a:lstStyle/>
          <a:p>
            <a:r>
              <a:rPr lang="en-US" dirty="0">
                <a:cs typeface="Calibri Light"/>
              </a:rPr>
              <a:t>Arithmetic mean </a:t>
            </a:r>
            <a:r>
              <a:rPr lang="en-US" dirty="0" err="1">
                <a:cs typeface="Calibri Light"/>
              </a:rPr>
              <a:t>visualisation</a:t>
            </a:r>
            <a:r>
              <a:rPr lang="en-US" dirty="0">
                <a:cs typeface="Calibri Light"/>
              </a:rPr>
              <a:t> (histogram)</a:t>
            </a:r>
            <a:endParaRPr lang="en-US" dirty="0"/>
          </a:p>
        </p:txBody>
      </p:sp>
      <p:pic>
        <p:nvPicPr>
          <p:cNvPr id="7" name="Picture 6" descr="Sparse histogram with 5 bars showing temperature in degrees C and a mean of 14.">
            <a:extLst>
              <a:ext uri="{FF2B5EF4-FFF2-40B4-BE49-F238E27FC236}">
                <a16:creationId xmlns:a16="http://schemas.microsoft.com/office/drawing/2014/main" id="{1CDE5D9B-05CF-7C8F-62FB-28E8423C230C}"/>
              </a:ext>
            </a:extLst>
          </p:cNvPr>
          <p:cNvPicPr>
            <a:picLocks noChangeAspect="1"/>
          </p:cNvPicPr>
          <p:nvPr/>
        </p:nvPicPr>
        <p:blipFill>
          <a:blip r:embed="rId2"/>
          <a:stretch>
            <a:fillRect/>
          </a:stretch>
        </p:blipFill>
        <p:spPr>
          <a:xfrm>
            <a:off x="1524000" y="1127455"/>
            <a:ext cx="9144000" cy="5724525"/>
          </a:xfrm>
          <a:prstGeom prst="rect">
            <a:avLst/>
          </a:prstGeom>
        </p:spPr>
      </p:pic>
    </p:spTree>
    <p:extLst>
      <p:ext uri="{BB962C8B-B14F-4D97-AF65-F5344CB8AC3E}">
        <p14:creationId xmlns:p14="http://schemas.microsoft.com/office/powerpoint/2010/main" val="25107857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C1B7A-1BC6-6BA2-4961-787B15E5B8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BB5010-D171-2484-8E7C-86FD0863E671}"/>
              </a:ext>
            </a:extLst>
          </p:cNvPr>
          <p:cNvSpPr>
            <a:spLocks noGrp="1"/>
          </p:cNvSpPr>
          <p:nvPr>
            <p:ph type="title"/>
          </p:nvPr>
        </p:nvSpPr>
        <p:spPr>
          <a:xfrm>
            <a:off x="4313" y="5691"/>
            <a:ext cx="10515600" cy="922997"/>
          </a:xfrm>
        </p:spPr>
        <p:txBody>
          <a:bodyPr/>
          <a:lstStyle/>
          <a:p>
            <a:r>
              <a:rPr lang="en-US" dirty="0">
                <a:cs typeface="Calibri Light"/>
              </a:rPr>
              <a:t>Standard deviation of the mean</a:t>
            </a:r>
            <a:endParaRPr lang="en-US" dirty="0"/>
          </a:p>
        </p:txBody>
      </p:sp>
      <p:sp>
        <p:nvSpPr>
          <p:cNvPr id="3" name="Content Placeholder 2">
            <a:extLst>
              <a:ext uri="{FF2B5EF4-FFF2-40B4-BE49-F238E27FC236}">
                <a16:creationId xmlns:a16="http://schemas.microsoft.com/office/drawing/2014/main" id="{7AC02FFA-6150-BBC6-0FC3-CEAF1F38DBE2}"/>
              </a:ext>
            </a:extLst>
          </p:cNvPr>
          <p:cNvSpPr>
            <a:spLocks noGrp="1"/>
          </p:cNvSpPr>
          <p:nvPr>
            <p:ph idx="1"/>
          </p:nvPr>
        </p:nvSpPr>
        <p:spPr>
          <a:xfrm>
            <a:off x="306237" y="4945512"/>
            <a:ext cx="11565147" cy="1907187"/>
          </a:xfrm>
        </p:spPr>
        <p:txBody>
          <a:bodyPr vert="horz" lIns="91440" tIns="45720" rIns="91440" bIns="45720" rtlCol="0" anchor="t">
            <a:normAutofit/>
          </a:bodyPr>
          <a:lstStyle/>
          <a:p>
            <a:pPr marL="685800" indent="-685800"/>
            <a:r>
              <a:rPr lang="en-US" sz="5400" dirty="0">
                <a:ea typeface="Calibri"/>
                <a:cs typeface="Calibri"/>
              </a:rPr>
              <a:t>One checkbox in </a:t>
            </a:r>
            <a:r>
              <a:rPr lang="en-US" sz="5400" dirty="0" err="1">
                <a:ea typeface="Calibri"/>
                <a:cs typeface="Calibri"/>
              </a:rPr>
              <a:t>jamovi</a:t>
            </a:r>
          </a:p>
          <a:p>
            <a:pPr marL="685800" indent="-685800"/>
            <a:r>
              <a:rPr lang="en-US" sz="5400" dirty="0">
                <a:ea typeface="Calibri"/>
                <a:cs typeface="Calibri"/>
              </a:rPr>
              <a:t>Spread of a variable</a:t>
            </a:r>
          </a:p>
          <a:p>
            <a:pPr marL="685800" indent="-685800"/>
            <a:endParaRPr lang="en-US" sz="5400" dirty="0">
              <a:ea typeface="Calibri"/>
              <a:cs typeface="Calibri"/>
            </a:endParaRPr>
          </a:p>
          <a:p>
            <a:pPr marL="685800" indent="-685800"/>
            <a:endParaRPr lang="en-US" sz="5400" dirty="0">
              <a:ea typeface="Calibri"/>
              <a:cs typeface="Calibri"/>
            </a:endParaRPr>
          </a:p>
          <a:p>
            <a:pPr marL="685800" indent="-685800"/>
            <a:endParaRPr lang="en-US" sz="5400" dirty="0">
              <a:ea typeface="Calibri"/>
              <a:cs typeface="Calibri"/>
            </a:endParaRPr>
          </a:p>
          <a:p>
            <a:pPr marL="685800" indent="-685800"/>
            <a:endParaRPr lang="en-US" sz="5400" dirty="0">
              <a:ea typeface="Calibri"/>
              <a:cs typeface="Calibri"/>
            </a:endParaRPr>
          </a:p>
        </p:txBody>
      </p:sp>
      <p:pic>
        <p:nvPicPr>
          <p:cNvPr id="4" name="Picture 3" descr="Equation for standard deviation showing that s equals the square root of one over N minus one times the summation of each sample minus the mean, squared.">
            <a:extLst>
              <a:ext uri="{FF2B5EF4-FFF2-40B4-BE49-F238E27FC236}">
                <a16:creationId xmlns:a16="http://schemas.microsoft.com/office/drawing/2014/main" id="{D3CDF42C-455A-A65F-43FD-0246B09D897E}"/>
              </a:ext>
            </a:extLst>
          </p:cNvPr>
          <p:cNvPicPr>
            <a:picLocks noChangeAspect="1"/>
          </p:cNvPicPr>
          <p:nvPr/>
        </p:nvPicPr>
        <p:blipFill>
          <a:blip r:embed="rId2"/>
          <a:stretch>
            <a:fillRect/>
          </a:stretch>
        </p:blipFill>
        <p:spPr>
          <a:xfrm>
            <a:off x="842963" y="1284348"/>
            <a:ext cx="10520452" cy="3196625"/>
          </a:xfrm>
          <a:prstGeom prst="rect">
            <a:avLst/>
          </a:prstGeom>
        </p:spPr>
      </p:pic>
    </p:spTree>
    <p:extLst>
      <p:ext uri="{BB962C8B-B14F-4D97-AF65-F5344CB8AC3E}">
        <p14:creationId xmlns:p14="http://schemas.microsoft.com/office/powerpoint/2010/main" val="22005570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26529-E168-366F-20D7-BC0B88C52D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505D76-4ACF-765D-AD2C-17534E608CBC}"/>
              </a:ext>
            </a:extLst>
          </p:cNvPr>
          <p:cNvSpPr>
            <a:spLocks noGrp="1"/>
          </p:cNvSpPr>
          <p:nvPr>
            <p:ph type="title"/>
          </p:nvPr>
        </p:nvSpPr>
        <p:spPr>
          <a:xfrm>
            <a:off x="4313" y="5691"/>
            <a:ext cx="12111486" cy="764847"/>
          </a:xfrm>
        </p:spPr>
        <p:txBody>
          <a:bodyPr/>
          <a:lstStyle/>
          <a:p>
            <a:r>
              <a:rPr lang="en-US" dirty="0">
                <a:cs typeface="Calibri Light"/>
              </a:rPr>
              <a:t>Coefficient of variation (CV)</a:t>
            </a:r>
            <a:endParaRPr lang="en-US" dirty="0"/>
          </a:p>
        </p:txBody>
      </p:sp>
      <p:graphicFrame>
        <p:nvGraphicFramePr>
          <p:cNvPr id="4" name="Table 4">
            <a:extLst>
              <a:ext uri="{FF2B5EF4-FFF2-40B4-BE49-F238E27FC236}">
                <a16:creationId xmlns:a16="http://schemas.microsoft.com/office/drawing/2014/main" id="{DA53A030-6CFB-0B54-6DC5-D41BB5D4E30F}"/>
              </a:ext>
            </a:extLst>
          </p:cNvPr>
          <p:cNvGraphicFramePr>
            <a:graphicFrameLocks noGrp="1"/>
          </p:cNvGraphicFramePr>
          <p:nvPr>
            <p:ph idx="1"/>
            <p:extLst>
              <p:ext uri="{D42A27DB-BD31-4B8C-83A1-F6EECF244321}">
                <p14:modId xmlns:p14="http://schemas.microsoft.com/office/powerpoint/2010/main" val="420102063"/>
              </p:ext>
            </p:extLst>
          </p:nvPr>
        </p:nvGraphicFramePr>
        <p:xfrm>
          <a:off x="316301" y="1710905"/>
          <a:ext cx="11578248" cy="1158240"/>
        </p:xfrm>
        <a:graphic>
          <a:graphicData uri="http://schemas.openxmlformats.org/drawingml/2006/table">
            <a:tbl>
              <a:tblPr firstRow="1" bandRow="1">
                <a:tableStyleId>{5C22544A-7EE6-4342-B048-85BDC9FD1C3A}</a:tableStyleId>
              </a:tblPr>
              <a:tblGrid>
                <a:gridCol w="1704412">
                  <a:extLst>
                    <a:ext uri="{9D8B030D-6E8A-4147-A177-3AD203B41FA5}">
                      <a16:colId xmlns:a16="http://schemas.microsoft.com/office/drawing/2014/main" val="1440659236"/>
                    </a:ext>
                  </a:extLst>
                </a:gridCol>
                <a:gridCol w="1523998">
                  <a:extLst>
                    <a:ext uri="{9D8B030D-6E8A-4147-A177-3AD203B41FA5}">
                      <a16:colId xmlns:a16="http://schemas.microsoft.com/office/drawing/2014/main" val="3595805577"/>
                    </a:ext>
                  </a:extLst>
                </a:gridCol>
                <a:gridCol w="1750976">
                  <a:extLst>
                    <a:ext uri="{9D8B030D-6E8A-4147-A177-3AD203B41FA5}">
                      <a16:colId xmlns:a16="http://schemas.microsoft.com/office/drawing/2014/main" val="3384190090"/>
                    </a:ext>
                  </a:extLst>
                </a:gridCol>
                <a:gridCol w="1799615">
                  <a:extLst>
                    <a:ext uri="{9D8B030D-6E8A-4147-A177-3AD203B41FA5}">
                      <a16:colId xmlns:a16="http://schemas.microsoft.com/office/drawing/2014/main" val="2776619890"/>
                    </a:ext>
                  </a:extLst>
                </a:gridCol>
                <a:gridCol w="1572638">
                  <a:extLst>
                    <a:ext uri="{9D8B030D-6E8A-4147-A177-3AD203B41FA5}">
                      <a16:colId xmlns:a16="http://schemas.microsoft.com/office/drawing/2014/main" val="2732717286"/>
                    </a:ext>
                  </a:extLst>
                </a:gridCol>
                <a:gridCol w="1686127">
                  <a:extLst>
                    <a:ext uri="{9D8B030D-6E8A-4147-A177-3AD203B41FA5}">
                      <a16:colId xmlns:a16="http://schemas.microsoft.com/office/drawing/2014/main" val="514508494"/>
                    </a:ext>
                  </a:extLst>
                </a:gridCol>
                <a:gridCol w="1540482">
                  <a:extLst>
                    <a:ext uri="{9D8B030D-6E8A-4147-A177-3AD203B41FA5}">
                      <a16:colId xmlns:a16="http://schemas.microsoft.com/office/drawing/2014/main" val="3803948661"/>
                    </a:ext>
                  </a:extLst>
                </a:gridCol>
              </a:tblGrid>
              <a:tr h="370840">
                <a:tc>
                  <a:txBody>
                    <a:bodyPr/>
                    <a:lstStyle/>
                    <a:p>
                      <a:r>
                        <a:rPr lang="en-US" sz="3200" dirty="0"/>
                        <a:t>x</a:t>
                      </a:r>
                      <a:r>
                        <a:rPr lang="en-US" sz="3200" baseline="-25000" dirty="0"/>
                        <a:t>1</a:t>
                      </a:r>
                    </a:p>
                  </a:txBody>
                  <a:tcPr/>
                </a:tc>
                <a:tc>
                  <a:txBody>
                    <a:bodyPr/>
                    <a:lstStyle/>
                    <a:p>
                      <a:pPr lvl="0">
                        <a:buNone/>
                      </a:pPr>
                      <a:r>
                        <a:rPr lang="en-US" sz="3200" dirty="0"/>
                        <a:t>x</a:t>
                      </a:r>
                      <a:r>
                        <a:rPr lang="en-US" sz="3200" baseline="-25000" dirty="0"/>
                        <a:t>2</a:t>
                      </a:r>
                    </a:p>
                  </a:txBody>
                  <a:tcPr/>
                </a:tc>
                <a:tc>
                  <a:txBody>
                    <a:bodyPr/>
                    <a:lstStyle/>
                    <a:p>
                      <a:pPr lvl="0">
                        <a:buNone/>
                      </a:pPr>
                      <a:r>
                        <a:rPr lang="en-US" sz="3200" dirty="0"/>
                        <a:t>x</a:t>
                      </a:r>
                      <a:r>
                        <a:rPr lang="en-US" sz="3200" baseline="-25000" dirty="0"/>
                        <a:t>3</a:t>
                      </a:r>
                    </a:p>
                  </a:txBody>
                  <a:tcPr/>
                </a:tc>
                <a:tc>
                  <a:txBody>
                    <a:bodyPr/>
                    <a:lstStyle/>
                    <a:p>
                      <a:pPr lvl="0">
                        <a:buNone/>
                      </a:pPr>
                      <a:r>
                        <a:rPr lang="en-US" sz="3200" dirty="0"/>
                        <a:t>x</a:t>
                      </a:r>
                      <a:r>
                        <a:rPr lang="en-US" sz="3200" baseline="-25000" dirty="0"/>
                        <a:t>4</a:t>
                      </a:r>
                    </a:p>
                  </a:txBody>
                  <a:tcPr/>
                </a:tc>
                <a:tc>
                  <a:txBody>
                    <a:bodyPr/>
                    <a:lstStyle/>
                    <a:p>
                      <a:pPr lvl="0">
                        <a:buNone/>
                      </a:pPr>
                      <a:r>
                        <a:rPr lang="en-US" sz="3200" dirty="0"/>
                        <a:t>x</a:t>
                      </a:r>
                      <a:r>
                        <a:rPr lang="en-US" sz="3200" baseline="-25000" dirty="0"/>
                        <a:t>5</a:t>
                      </a:r>
                    </a:p>
                  </a:txBody>
                  <a:tcPr/>
                </a:tc>
                <a:tc>
                  <a:txBody>
                    <a:bodyPr/>
                    <a:lstStyle/>
                    <a:p>
                      <a:pPr lvl="0">
                        <a:buNone/>
                      </a:pPr>
                      <a:r>
                        <a:rPr lang="en-US" sz="3200" dirty="0"/>
                        <a:t>x</a:t>
                      </a:r>
                      <a:r>
                        <a:rPr lang="en-US" sz="3200" baseline="-25000" dirty="0"/>
                        <a:t>6</a:t>
                      </a:r>
                    </a:p>
                  </a:txBody>
                  <a:tcPr/>
                </a:tc>
                <a:tc>
                  <a:txBody>
                    <a:bodyPr/>
                    <a:lstStyle/>
                    <a:p>
                      <a:pPr lvl="0">
                        <a:buNone/>
                      </a:pPr>
                      <a:r>
                        <a:rPr lang="en-US" sz="3200" dirty="0"/>
                        <a:t>x</a:t>
                      </a:r>
                      <a:r>
                        <a:rPr lang="en-US" sz="3200" baseline="-25000" dirty="0"/>
                        <a:t>7</a:t>
                      </a:r>
                    </a:p>
                  </a:txBody>
                  <a:tcPr/>
                </a:tc>
                <a:extLst>
                  <a:ext uri="{0D108BD9-81ED-4DB2-BD59-A6C34878D82A}">
                    <a16:rowId xmlns:a16="http://schemas.microsoft.com/office/drawing/2014/main" val="407627465"/>
                  </a:ext>
                </a:extLst>
              </a:tr>
              <a:tr h="370840">
                <a:tc>
                  <a:txBody>
                    <a:bodyPr/>
                    <a:lstStyle/>
                    <a:p>
                      <a:pPr lvl="0">
                        <a:buNone/>
                      </a:pPr>
                      <a:r>
                        <a:rPr lang="en-US" sz="3200" b="0" dirty="0"/>
                        <a:t>17.1</a:t>
                      </a:r>
                    </a:p>
                  </a:txBody>
                  <a:tcPr/>
                </a:tc>
                <a:tc>
                  <a:txBody>
                    <a:bodyPr/>
                    <a:lstStyle/>
                    <a:p>
                      <a:pPr lvl="0">
                        <a:buNone/>
                      </a:pPr>
                      <a:r>
                        <a:rPr lang="en-US" sz="3200" b="0" dirty="0"/>
                        <a:t>15.2</a:t>
                      </a:r>
                    </a:p>
                  </a:txBody>
                  <a:tcPr/>
                </a:tc>
                <a:tc>
                  <a:txBody>
                    <a:bodyPr/>
                    <a:lstStyle/>
                    <a:p>
                      <a:pPr lvl="0">
                        <a:buNone/>
                      </a:pPr>
                      <a:r>
                        <a:rPr lang="en-US" sz="3200" dirty="0"/>
                        <a:t>14.9</a:t>
                      </a:r>
                    </a:p>
                  </a:txBody>
                  <a:tcPr/>
                </a:tc>
                <a:tc>
                  <a:txBody>
                    <a:bodyPr/>
                    <a:lstStyle/>
                    <a:p>
                      <a:pPr lvl="0">
                        <a:buNone/>
                      </a:pPr>
                      <a:r>
                        <a:rPr lang="en-US" sz="3200" dirty="0"/>
                        <a:t>12.6</a:t>
                      </a:r>
                    </a:p>
                  </a:txBody>
                  <a:tcPr/>
                </a:tc>
                <a:tc>
                  <a:txBody>
                    <a:bodyPr/>
                    <a:lstStyle/>
                    <a:p>
                      <a:pPr lvl="0">
                        <a:buNone/>
                      </a:pPr>
                      <a:r>
                        <a:rPr lang="en-US" sz="3200" b="0" dirty="0"/>
                        <a:t>15.2</a:t>
                      </a:r>
                    </a:p>
                  </a:txBody>
                  <a:tcPr/>
                </a:tc>
                <a:tc>
                  <a:txBody>
                    <a:bodyPr/>
                    <a:lstStyle/>
                    <a:p>
                      <a:pPr lvl="0">
                        <a:buNone/>
                      </a:pPr>
                      <a:r>
                        <a:rPr lang="en-US" sz="3200" b="0" dirty="0"/>
                        <a:t>10.3</a:t>
                      </a:r>
                      <a:endParaRPr lang="en-US" b="0"/>
                    </a:p>
                  </a:txBody>
                  <a:tcPr/>
                </a:tc>
                <a:tc>
                  <a:txBody>
                    <a:bodyPr/>
                    <a:lstStyle/>
                    <a:p>
                      <a:pPr lvl="0">
                        <a:buNone/>
                      </a:pPr>
                      <a:r>
                        <a:rPr lang="en-US" sz="3200" dirty="0"/>
                        <a:t>12.7</a:t>
                      </a:r>
                    </a:p>
                  </a:txBody>
                  <a:tcPr/>
                </a:tc>
                <a:extLst>
                  <a:ext uri="{0D108BD9-81ED-4DB2-BD59-A6C34878D82A}">
                    <a16:rowId xmlns:a16="http://schemas.microsoft.com/office/drawing/2014/main" val="2749489767"/>
                  </a:ext>
                </a:extLst>
              </a:tr>
            </a:tbl>
          </a:graphicData>
        </a:graphic>
      </p:graphicFrame>
      <p:sp>
        <p:nvSpPr>
          <p:cNvPr id="8" name="TextBox 7">
            <a:extLst>
              <a:ext uri="{FF2B5EF4-FFF2-40B4-BE49-F238E27FC236}">
                <a16:creationId xmlns:a16="http://schemas.microsoft.com/office/drawing/2014/main" id="{32027EDB-38D4-B3F9-45D3-07D385767074}"/>
              </a:ext>
            </a:extLst>
          </p:cNvPr>
          <p:cNvSpPr txBox="1"/>
          <p:nvPr/>
        </p:nvSpPr>
        <p:spPr>
          <a:xfrm>
            <a:off x="319667" y="997544"/>
            <a:ext cx="9371162"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dirty="0">
                <a:ea typeface="Calibri"/>
                <a:cs typeface="Calibri"/>
              </a:rPr>
              <a:t>Standard deviation divided by the mean</a:t>
            </a:r>
            <a:endParaRPr lang="en-US" dirty="0"/>
          </a:p>
        </p:txBody>
      </p:sp>
      <p:sp>
        <p:nvSpPr>
          <p:cNvPr id="3" name="TextBox 2">
            <a:extLst>
              <a:ext uri="{FF2B5EF4-FFF2-40B4-BE49-F238E27FC236}">
                <a16:creationId xmlns:a16="http://schemas.microsoft.com/office/drawing/2014/main" id="{0174CE7A-CABE-6822-47DE-751177052F0B}"/>
              </a:ext>
            </a:extLst>
          </p:cNvPr>
          <p:cNvSpPr txBox="1"/>
          <p:nvPr/>
        </p:nvSpPr>
        <p:spPr>
          <a:xfrm>
            <a:off x="750987" y="5972109"/>
            <a:ext cx="9371162"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dirty="0">
                <a:ea typeface="Calibri"/>
                <a:cs typeface="Calibri"/>
              </a:rPr>
              <a:t>Note that the units cancel out.</a:t>
            </a:r>
            <a:endParaRPr lang="en-US" dirty="0"/>
          </a:p>
        </p:txBody>
      </p:sp>
      <p:pic>
        <p:nvPicPr>
          <p:cNvPr id="5" name="Picture 4" descr="Equation for coefficient of variation CV equals s over x bar (mean), also equal specifically to 2.2598/14 = 0.1614.">
            <a:extLst>
              <a:ext uri="{FF2B5EF4-FFF2-40B4-BE49-F238E27FC236}">
                <a16:creationId xmlns:a16="http://schemas.microsoft.com/office/drawing/2014/main" id="{2EA56815-EC68-BF3F-556E-5B3151D677F9}"/>
              </a:ext>
            </a:extLst>
          </p:cNvPr>
          <p:cNvPicPr>
            <a:picLocks noChangeAspect="1"/>
          </p:cNvPicPr>
          <p:nvPr/>
        </p:nvPicPr>
        <p:blipFill>
          <a:blip r:embed="rId2"/>
          <a:stretch>
            <a:fillRect/>
          </a:stretch>
        </p:blipFill>
        <p:spPr>
          <a:xfrm>
            <a:off x="1319213" y="3424597"/>
            <a:ext cx="8805952" cy="2237296"/>
          </a:xfrm>
          <a:prstGeom prst="rect">
            <a:avLst/>
          </a:prstGeom>
        </p:spPr>
      </p:pic>
    </p:spTree>
    <p:extLst>
      <p:ext uri="{BB962C8B-B14F-4D97-AF65-F5344CB8AC3E}">
        <p14:creationId xmlns:p14="http://schemas.microsoft.com/office/powerpoint/2010/main" val="22595679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B7C55-E5C7-4665-41A1-7136A8C26C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155E59-6B68-7914-66F7-56BFD66ACCB6}"/>
              </a:ext>
            </a:extLst>
          </p:cNvPr>
          <p:cNvSpPr>
            <a:spLocks noGrp="1"/>
          </p:cNvSpPr>
          <p:nvPr>
            <p:ph type="title"/>
          </p:nvPr>
        </p:nvSpPr>
        <p:spPr>
          <a:xfrm>
            <a:off x="4313" y="5691"/>
            <a:ext cx="12111486" cy="764847"/>
          </a:xfrm>
        </p:spPr>
        <p:txBody>
          <a:bodyPr/>
          <a:lstStyle/>
          <a:p>
            <a:r>
              <a:rPr lang="en-US" dirty="0">
                <a:cs typeface="Calibri Light"/>
              </a:rPr>
              <a:t>Coefficient of variation (CV)</a:t>
            </a:r>
            <a:endParaRPr lang="en-US" dirty="0"/>
          </a:p>
        </p:txBody>
      </p:sp>
      <p:graphicFrame>
        <p:nvGraphicFramePr>
          <p:cNvPr id="4" name="Table 4">
            <a:extLst>
              <a:ext uri="{FF2B5EF4-FFF2-40B4-BE49-F238E27FC236}">
                <a16:creationId xmlns:a16="http://schemas.microsoft.com/office/drawing/2014/main" id="{4460579D-CDBC-6111-D465-8664C9A6D357}"/>
              </a:ext>
            </a:extLst>
          </p:cNvPr>
          <p:cNvGraphicFramePr>
            <a:graphicFrameLocks noGrp="1"/>
          </p:cNvGraphicFramePr>
          <p:nvPr>
            <p:ph idx="1"/>
          </p:nvPr>
        </p:nvGraphicFramePr>
        <p:xfrm>
          <a:off x="316301" y="1710905"/>
          <a:ext cx="11578248" cy="1158240"/>
        </p:xfrm>
        <a:graphic>
          <a:graphicData uri="http://schemas.openxmlformats.org/drawingml/2006/table">
            <a:tbl>
              <a:tblPr firstRow="1" bandRow="1">
                <a:tableStyleId>{5C22544A-7EE6-4342-B048-85BDC9FD1C3A}</a:tableStyleId>
              </a:tblPr>
              <a:tblGrid>
                <a:gridCol w="1704412">
                  <a:extLst>
                    <a:ext uri="{9D8B030D-6E8A-4147-A177-3AD203B41FA5}">
                      <a16:colId xmlns:a16="http://schemas.microsoft.com/office/drawing/2014/main" val="1440659236"/>
                    </a:ext>
                  </a:extLst>
                </a:gridCol>
                <a:gridCol w="1523998">
                  <a:extLst>
                    <a:ext uri="{9D8B030D-6E8A-4147-A177-3AD203B41FA5}">
                      <a16:colId xmlns:a16="http://schemas.microsoft.com/office/drawing/2014/main" val="3595805577"/>
                    </a:ext>
                  </a:extLst>
                </a:gridCol>
                <a:gridCol w="1750976">
                  <a:extLst>
                    <a:ext uri="{9D8B030D-6E8A-4147-A177-3AD203B41FA5}">
                      <a16:colId xmlns:a16="http://schemas.microsoft.com/office/drawing/2014/main" val="3384190090"/>
                    </a:ext>
                  </a:extLst>
                </a:gridCol>
                <a:gridCol w="1799615">
                  <a:extLst>
                    <a:ext uri="{9D8B030D-6E8A-4147-A177-3AD203B41FA5}">
                      <a16:colId xmlns:a16="http://schemas.microsoft.com/office/drawing/2014/main" val="2776619890"/>
                    </a:ext>
                  </a:extLst>
                </a:gridCol>
                <a:gridCol w="1572638">
                  <a:extLst>
                    <a:ext uri="{9D8B030D-6E8A-4147-A177-3AD203B41FA5}">
                      <a16:colId xmlns:a16="http://schemas.microsoft.com/office/drawing/2014/main" val="2732717286"/>
                    </a:ext>
                  </a:extLst>
                </a:gridCol>
                <a:gridCol w="1686127">
                  <a:extLst>
                    <a:ext uri="{9D8B030D-6E8A-4147-A177-3AD203B41FA5}">
                      <a16:colId xmlns:a16="http://schemas.microsoft.com/office/drawing/2014/main" val="514508494"/>
                    </a:ext>
                  </a:extLst>
                </a:gridCol>
                <a:gridCol w="1540482">
                  <a:extLst>
                    <a:ext uri="{9D8B030D-6E8A-4147-A177-3AD203B41FA5}">
                      <a16:colId xmlns:a16="http://schemas.microsoft.com/office/drawing/2014/main" val="3803948661"/>
                    </a:ext>
                  </a:extLst>
                </a:gridCol>
              </a:tblGrid>
              <a:tr h="370840">
                <a:tc>
                  <a:txBody>
                    <a:bodyPr/>
                    <a:lstStyle/>
                    <a:p>
                      <a:r>
                        <a:rPr lang="en-US" sz="3200" dirty="0"/>
                        <a:t>x</a:t>
                      </a:r>
                      <a:r>
                        <a:rPr lang="en-US" sz="3200" baseline="-25000" dirty="0"/>
                        <a:t>1</a:t>
                      </a:r>
                    </a:p>
                  </a:txBody>
                  <a:tcPr/>
                </a:tc>
                <a:tc>
                  <a:txBody>
                    <a:bodyPr/>
                    <a:lstStyle/>
                    <a:p>
                      <a:pPr lvl="0">
                        <a:buNone/>
                      </a:pPr>
                      <a:r>
                        <a:rPr lang="en-US" sz="3200" dirty="0"/>
                        <a:t>x</a:t>
                      </a:r>
                      <a:r>
                        <a:rPr lang="en-US" sz="3200" baseline="-25000" dirty="0"/>
                        <a:t>2</a:t>
                      </a:r>
                    </a:p>
                  </a:txBody>
                  <a:tcPr/>
                </a:tc>
                <a:tc>
                  <a:txBody>
                    <a:bodyPr/>
                    <a:lstStyle/>
                    <a:p>
                      <a:pPr lvl="0">
                        <a:buNone/>
                      </a:pPr>
                      <a:r>
                        <a:rPr lang="en-US" sz="3200" dirty="0"/>
                        <a:t>x</a:t>
                      </a:r>
                      <a:r>
                        <a:rPr lang="en-US" sz="3200" baseline="-25000" dirty="0"/>
                        <a:t>3</a:t>
                      </a:r>
                    </a:p>
                  </a:txBody>
                  <a:tcPr/>
                </a:tc>
                <a:tc>
                  <a:txBody>
                    <a:bodyPr/>
                    <a:lstStyle/>
                    <a:p>
                      <a:pPr lvl="0">
                        <a:buNone/>
                      </a:pPr>
                      <a:r>
                        <a:rPr lang="en-US" sz="3200" dirty="0"/>
                        <a:t>x</a:t>
                      </a:r>
                      <a:r>
                        <a:rPr lang="en-US" sz="3200" baseline="-25000" dirty="0"/>
                        <a:t>4</a:t>
                      </a:r>
                    </a:p>
                  </a:txBody>
                  <a:tcPr/>
                </a:tc>
                <a:tc>
                  <a:txBody>
                    <a:bodyPr/>
                    <a:lstStyle/>
                    <a:p>
                      <a:pPr lvl="0">
                        <a:buNone/>
                      </a:pPr>
                      <a:r>
                        <a:rPr lang="en-US" sz="3200" dirty="0"/>
                        <a:t>x</a:t>
                      </a:r>
                      <a:r>
                        <a:rPr lang="en-US" sz="3200" baseline="-25000" dirty="0"/>
                        <a:t>5</a:t>
                      </a:r>
                    </a:p>
                  </a:txBody>
                  <a:tcPr/>
                </a:tc>
                <a:tc>
                  <a:txBody>
                    <a:bodyPr/>
                    <a:lstStyle/>
                    <a:p>
                      <a:pPr lvl="0">
                        <a:buNone/>
                      </a:pPr>
                      <a:r>
                        <a:rPr lang="en-US" sz="3200" dirty="0"/>
                        <a:t>x</a:t>
                      </a:r>
                      <a:r>
                        <a:rPr lang="en-US" sz="3200" baseline="-25000" dirty="0"/>
                        <a:t>6</a:t>
                      </a:r>
                    </a:p>
                  </a:txBody>
                  <a:tcPr/>
                </a:tc>
                <a:tc>
                  <a:txBody>
                    <a:bodyPr/>
                    <a:lstStyle/>
                    <a:p>
                      <a:pPr lvl="0">
                        <a:buNone/>
                      </a:pPr>
                      <a:r>
                        <a:rPr lang="en-US" sz="3200" dirty="0"/>
                        <a:t>x</a:t>
                      </a:r>
                      <a:r>
                        <a:rPr lang="en-US" sz="3200" baseline="-25000" dirty="0"/>
                        <a:t>7</a:t>
                      </a:r>
                    </a:p>
                  </a:txBody>
                  <a:tcPr/>
                </a:tc>
                <a:extLst>
                  <a:ext uri="{0D108BD9-81ED-4DB2-BD59-A6C34878D82A}">
                    <a16:rowId xmlns:a16="http://schemas.microsoft.com/office/drawing/2014/main" val="407627465"/>
                  </a:ext>
                </a:extLst>
              </a:tr>
              <a:tr h="370840">
                <a:tc>
                  <a:txBody>
                    <a:bodyPr/>
                    <a:lstStyle/>
                    <a:p>
                      <a:pPr lvl="0">
                        <a:buNone/>
                      </a:pPr>
                      <a:r>
                        <a:rPr lang="en-US" sz="3200" b="0" dirty="0"/>
                        <a:t>17.1</a:t>
                      </a:r>
                    </a:p>
                  </a:txBody>
                  <a:tcPr/>
                </a:tc>
                <a:tc>
                  <a:txBody>
                    <a:bodyPr/>
                    <a:lstStyle/>
                    <a:p>
                      <a:pPr lvl="0">
                        <a:buNone/>
                      </a:pPr>
                      <a:r>
                        <a:rPr lang="en-US" sz="3200" b="0" dirty="0"/>
                        <a:t>15.2</a:t>
                      </a:r>
                    </a:p>
                  </a:txBody>
                  <a:tcPr/>
                </a:tc>
                <a:tc>
                  <a:txBody>
                    <a:bodyPr/>
                    <a:lstStyle/>
                    <a:p>
                      <a:pPr lvl="0">
                        <a:buNone/>
                      </a:pPr>
                      <a:r>
                        <a:rPr lang="en-US" sz="3200" dirty="0"/>
                        <a:t>14.9</a:t>
                      </a:r>
                    </a:p>
                  </a:txBody>
                  <a:tcPr/>
                </a:tc>
                <a:tc>
                  <a:txBody>
                    <a:bodyPr/>
                    <a:lstStyle/>
                    <a:p>
                      <a:pPr lvl="0">
                        <a:buNone/>
                      </a:pPr>
                      <a:r>
                        <a:rPr lang="en-US" sz="3200" dirty="0"/>
                        <a:t>12.6</a:t>
                      </a:r>
                    </a:p>
                  </a:txBody>
                  <a:tcPr/>
                </a:tc>
                <a:tc>
                  <a:txBody>
                    <a:bodyPr/>
                    <a:lstStyle/>
                    <a:p>
                      <a:pPr lvl="0">
                        <a:buNone/>
                      </a:pPr>
                      <a:r>
                        <a:rPr lang="en-US" sz="3200" b="0" dirty="0"/>
                        <a:t>15.2</a:t>
                      </a:r>
                    </a:p>
                  </a:txBody>
                  <a:tcPr/>
                </a:tc>
                <a:tc>
                  <a:txBody>
                    <a:bodyPr/>
                    <a:lstStyle/>
                    <a:p>
                      <a:pPr lvl="0">
                        <a:buNone/>
                      </a:pPr>
                      <a:r>
                        <a:rPr lang="en-US" sz="3200" b="0" dirty="0"/>
                        <a:t>10.3</a:t>
                      </a:r>
                      <a:endParaRPr lang="en-US" b="0"/>
                    </a:p>
                  </a:txBody>
                  <a:tcPr/>
                </a:tc>
                <a:tc>
                  <a:txBody>
                    <a:bodyPr/>
                    <a:lstStyle/>
                    <a:p>
                      <a:pPr lvl="0">
                        <a:buNone/>
                      </a:pPr>
                      <a:r>
                        <a:rPr lang="en-US" sz="3200" dirty="0"/>
                        <a:t>12.7</a:t>
                      </a:r>
                    </a:p>
                  </a:txBody>
                  <a:tcPr/>
                </a:tc>
                <a:extLst>
                  <a:ext uri="{0D108BD9-81ED-4DB2-BD59-A6C34878D82A}">
                    <a16:rowId xmlns:a16="http://schemas.microsoft.com/office/drawing/2014/main" val="2749489767"/>
                  </a:ext>
                </a:extLst>
              </a:tr>
            </a:tbl>
          </a:graphicData>
        </a:graphic>
      </p:graphicFrame>
      <p:sp>
        <p:nvSpPr>
          <p:cNvPr id="8" name="TextBox 7">
            <a:extLst>
              <a:ext uri="{FF2B5EF4-FFF2-40B4-BE49-F238E27FC236}">
                <a16:creationId xmlns:a16="http://schemas.microsoft.com/office/drawing/2014/main" id="{C53257B2-D53E-1CE2-9F45-25B15C15B380}"/>
              </a:ext>
            </a:extLst>
          </p:cNvPr>
          <p:cNvSpPr txBox="1"/>
          <p:nvPr/>
        </p:nvSpPr>
        <p:spPr>
          <a:xfrm>
            <a:off x="319667" y="997544"/>
            <a:ext cx="9371162"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dirty="0">
                <a:ea typeface="Calibri"/>
                <a:cs typeface="Calibri"/>
              </a:rPr>
              <a:t>Often expressed as a percentage</a:t>
            </a:r>
            <a:endParaRPr lang="en-US" dirty="0"/>
          </a:p>
        </p:txBody>
      </p:sp>
      <p:sp>
        <p:nvSpPr>
          <p:cNvPr id="3" name="TextBox 2">
            <a:extLst>
              <a:ext uri="{FF2B5EF4-FFF2-40B4-BE49-F238E27FC236}">
                <a16:creationId xmlns:a16="http://schemas.microsoft.com/office/drawing/2014/main" id="{01946AB6-5216-1A1B-0C19-5D653C02AD59}"/>
              </a:ext>
            </a:extLst>
          </p:cNvPr>
          <p:cNvSpPr txBox="1"/>
          <p:nvPr/>
        </p:nvSpPr>
        <p:spPr>
          <a:xfrm>
            <a:off x="262158" y="5598298"/>
            <a:ext cx="11858443"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dirty="0">
                <a:ea typeface="Calibri"/>
                <a:cs typeface="Calibri"/>
              </a:rPr>
              <a:t>Useful for comparing variation across categories (e.g., species)</a:t>
            </a:r>
            <a:endParaRPr lang="en-US" dirty="0"/>
          </a:p>
        </p:txBody>
      </p:sp>
      <p:pic>
        <p:nvPicPr>
          <p:cNvPr id="6" name="Picture 5" descr="Equation for coefficient of variation CV equals s over x bar (mean), also equal specifically to 2.2598/14 times 100% = 16.14%.">
            <a:extLst>
              <a:ext uri="{FF2B5EF4-FFF2-40B4-BE49-F238E27FC236}">
                <a16:creationId xmlns:a16="http://schemas.microsoft.com/office/drawing/2014/main" id="{7DD86D5A-B0E4-C0A4-4C91-A4C5376B0E8D}"/>
              </a:ext>
            </a:extLst>
          </p:cNvPr>
          <p:cNvPicPr>
            <a:picLocks noChangeAspect="1"/>
          </p:cNvPicPr>
          <p:nvPr/>
        </p:nvPicPr>
        <p:blipFill>
          <a:blip r:embed="rId2"/>
          <a:stretch>
            <a:fillRect/>
          </a:stretch>
        </p:blipFill>
        <p:spPr>
          <a:xfrm>
            <a:off x="756159" y="3424327"/>
            <a:ext cx="10075832" cy="2165949"/>
          </a:xfrm>
          <a:prstGeom prst="rect">
            <a:avLst/>
          </a:prstGeom>
        </p:spPr>
      </p:pic>
    </p:spTree>
    <p:extLst>
      <p:ext uri="{BB962C8B-B14F-4D97-AF65-F5344CB8AC3E}">
        <p14:creationId xmlns:p14="http://schemas.microsoft.com/office/powerpoint/2010/main" val="17862747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DBE5D-2DC4-B660-3C0A-B15EA160A7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BCA7A0-44A4-19E8-E0C5-44B9ADCDB17E}"/>
              </a:ext>
            </a:extLst>
          </p:cNvPr>
          <p:cNvSpPr>
            <a:spLocks noGrp="1"/>
          </p:cNvSpPr>
          <p:nvPr>
            <p:ph type="title"/>
          </p:nvPr>
        </p:nvSpPr>
        <p:spPr>
          <a:xfrm>
            <a:off x="4313" y="5691"/>
            <a:ext cx="10515600" cy="922997"/>
          </a:xfrm>
        </p:spPr>
        <p:txBody>
          <a:bodyPr/>
          <a:lstStyle/>
          <a:p>
            <a:r>
              <a:rPr lang="en-US" dirty="0">
                <a:cs typeface="Calibri Light"/>
              </a:rPr>
              <a:t>Descriptive statistics: Skew and Kurtosis</a:t>
            </a:r>
            <a:endParaRPr lang="en-US" dirty="0"/>
          </a:p>
        </p:txBody>
      </p:sp>
      <p:pic>
        <p:nvPicPr>
          <p:cNvPr id="3" name="Picture 2" descr="Screenshot of jamovi interface for descriptive statistics with options on the left panel and output on the right panel; distribution check boxes are highlighted.">
            <a:extLst>
              <a:ext uri="{FF2B5EF4-FFF2-40B4-BE49-F238E27FC236}">
                <a16:creationId xmlns:a16="http://schemas.microsoft.com/office/drawing/2014/main" id="{FC1F2E60-790F-F325-2CA7-1940CB10A4D5}"/>
              </a:ext>
            </a:extLst>
          </p:cNvPr>
          <p:cNvPicPr>
            <a:picLocks noChangeAspect="1"/>
          </p:cNvPicPr>
          <p:nvPr/>
        </p:nvPicPr>
        <p:blipFill>
          <a:blip r:embed="rId2"/>
          <a:stretch>
            <a:fillRect/>
          </a:stretch>
        </p:blipFill>
        <p:spPr>
          <a:xfrm>
            <a:off x="1766231" y="934528"/>
            <a:ext cx="7840028" cy="5707812"/>
          </a:xfrm>
          <a:prstGeom prst="rect">
            <a:avLst/>
          </a:prstGeom>
        </p:spPr>
      </p:pic>
    </p:spTree>
    <p:extLst>
      <p:ext uri="{BB962C8B-B14F-4D97-AF65-F5344CB8AC3E}">
        <p14:creationId xmlns:p14="http://schemas.microsoft.com/office/powerpoint/2010/main" val="15765892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CEBB6-6073-3028-A14E-71AD850115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24E5F1-30B1-510B-BD75-8FC4302CF60B}"/>
              </a:ext>
            </a:extLst>
          </p:cNvPr>
          <p:cNvSpPr>
            <a:spLocks noGrp="1"/>
          </p:cNvSpPr>
          <p:nvPr>
            <p:ph type="title"/>
          </p:nvPr>
        </p:nvSpPr>
        <p:spPr>
          <a:xfrm>
            <a:off x="4313" y="5691"/>
            <a:ext cx="10515600" cy="922997"/>
          </a:xfrm>
        </p:spPr>
        <p:txBody>
          <a:bodyPr/>
          <a:lstStyle/>
          <a:p>
            <a:r>
              <a:rPr lang="en-US" dirty="0">
                <a:cs typeface="Calibri Light"/>
              </a:rPr>
              <a:t>Skew is the asymmetry of a distribution</a:t>
            </a:r>
            <a:endParaRPr lang="en-US" dirty="0"/>
          </a:p>
        </p:txBody>
      </p:sp>
      <p:sp>
        <p:nvSpPr>
          <p:cNvPr id="3" name="Content Placeholder 2">
            <a:extLst>
              <a:ext uri="{FF2B5EF4-FFF2-40B4-BE49-F238E27FC236}">
                <a16:creationId xmlns:a16="http://schemas.microsoft.com/office/drawing/2014/main" id="{ECE1A559-36DE-32A0-754D-E4F2FC8133A6}"/>
              </a:ext>
            </a:extLst>
          </p:cNvPr>
          <p:cNvSpPr>
            <a:spLocks noGrp="1"/>
          </p:cNvSpPr>
          <p:nvPr>
            <p:ph idx="1"/>
          </p:nvPr>
        </p:nvSpPr>
        <p:spPr>
          <a:xfrm>
            <a:off x="263105" y="5951927"/>
            <a:ext cx="11665788" cy="929527"/>
          </a:xfrm>
        </p:spPr>
        <p:txBody>
          <a:bodyPr vert="horz" lIns="91440" tIns="45720" rIns="91440" bIns="45720" rtlCol="0" anchor="t">
            <a:normAutofit fontScale="55000" lnSpcReduction="20000"/>
          </a:bodyPr>
          <a:lstStyle/>
          <a:p>
            <a:pPr marL="0" indent="0">
              <a:buNone/>
            </a:pPr>
            <a:r>
              <a:rPr lang="en-US" sz="5400" dirty="0">
                <a:ea typeface="+mn-lt"/>
                <a:cs typeface="+mn-lt"/>
              </a:rPr>
              <a:t>Figure 2: Histograms showing a (A) distribution that has a negative (i.e., 'left') skew and (B) distribution that has a positive (i.e., 'right') skew.</a:t>
            </a:r>
            <a:endParaRPr lang="en-US" dirty="0"/>
          </a:p>
          <a:p>
            <a:pPr marL="685800" indent="-685800"/>
            <a:endParaRPr lang="en-US" sz="5400" dirty="0">
              <a:ea typeface="Calibri"/>
              <a:cs typeface="Calibri"/>
            </a:endParaRPr>
          </a:p>
          <a:p>
            <a:pPr marL="685800" indent="-685800"/>
            <a:endParaRPr lang="en-US" sz="5400" dirty="0">
              <a:ea typeface="Calibri"/>
              <a:cs typeface="Calibri"/>
            </a:endParaRPr>
          </a:p>
          <a:p>
            <a:pPr marL="685800" indent="-685800"/>
            <a:endParaRPr lang="en-US" sz="5400" dirty="0">
              <a:ea typeface="Calibri"/>
              <a:cs typeface="Calibri"/>
            </a:endParaRPr>
          </a:p>
          <a:p>
            <a:pPr marL="685800" indent="-685800"/>
            <a:endParaRPr lang="en-US" sz="5400" dirty="0">
              <a:ea typeface="Calibri"/>
              <a:cs typeface="Calibri"/>
            </a:endParaRPr>
          </a:p>
        </p:txBody>
      </p:sp>
      <p:pic>
        <p:nvPicPr>
          <p:cNvPr id="5" name="Picture 4" descr="Two histograms are shown side by side. The histogram on the left looks normal, but with an extended tail on the left hand side. The histogram on the right also looks normal, but with an extend tail on the right hand side.">
            <a:extLst>
              <a:ext uri="{FF2B5EF4-FFF2-40B4-BE49-F238E27FC236}">
                <a16:creationId xmlns:a16="http://schemas.microsoft.com/office/drawing/2014/main" id="{FC853023-96CB-D32A-1148-C2CA5302F6F4}"/>
              </a:ext>
            </a:extLst>
          </p:cNvPr>
          <p:cNvPicPr>
            <a:picLocks noChangeAspect="1"/>
          </p:cNvPicPr>
          <p:nvPr/>
        </p:nvPicPr>
        <p:blipFill>
          <a:blip r:embed="rId2"/>
          <a:stretch>
            <a:fillRect/>
          </a:stretch>
        </p:blipFill>
        <p:spPr>
          <a:xfrm>
            <a:off x="2248529" y="934618"/>
            <a:ext cx="7134225" cy="4844991"/>
          </a:xfrm>
          <a:prstGeom prst="rect">
            <a:avLst/>
          </a:prstGeom>
        </p:spPr>
      </p:pic>
    </p:spTree>
    <p:extLst>
      <p:ext uri="{BB962C8B-B14F-4D97-AF65-F5344CB8AC3E}">
        <p14:creationId xmlns:p14="http://schemas.microsoft.com/office/powerpoint/2010/main" val="12614039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C160E-C362-DCC2-177E-0B07CCB6E8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D69CD8-A229-EE60-CC56-B6D7CEF6D76A}"/>
              </a:ext>
            </a:extLst>
          </p:cNvPr>
          <p:cNvSpPr>
            <a:spLocks noGrp="1"/>
          </p:cNvSpPr>
          <p:nvPr>
            <p:ph type="title"/>
          </p:nvPr>
        </p:nvSpPr>
        <p:spPr>
          <a:xfrm>
            <a:off x="4313" y="5691"/>
            <a:ext cx="10515600" cy="922997"/>
          </a:xfrm>
        </p:spPr>
        <p:txBody>
          <a:bodyPr/>
          <a:lstStyle/>
          <a:p>
            <a:r>
              <a:rPr lang="en-US" dirty="0">
                <a:cs typeface="Calibri Light"/>
              </a:rPr>
              <a:t>Kurtosis is the </a:t>
            </a:r>
            <a:r>
              <a:rPr lang="en-US" dirty="0" err="1">
                <a:cs typeface="Calibri Light"/>
              </a:rPr>
              <a:t>flattness</a:t>
            </a:r>
            <a:r>
              <a:rPr lang="en-US" dirty="0">
                <a:cs typeface="Calibri Light"/>
              </a:rPr>
              <a:t> of a distribution</a:t>
            </a:r>
            <a:endParaRPr lang="en-US" dirty="0"/>
          </a:p>
        </p:txBody>
      </p:sp>
      <p:sp>
        <p:nvSpPr>
          <p:cNvPr id="3" name="Content Placeholder 2">
            <a:extLst>
              <a:ext uri="{FF2B5EF4-FFF2-40B4-BE49-F238E27FC236}">
                <a16:creationId xmlns:a16="http://schemas.microsoft.com/office/drawing/2014/main" id="{0963579D-6B2D-E2C1-A0DE-3BBA4C1949B9}"/>
              </a:ext>
            </a:extLst>
          </p:cNvPr>
          <p:cNvSpPr>
            <a:spLocks noGrp="1"/>
          </p:cNvSpPr>
          <p:nvPr>
            <p:ph idx="1"/>
          </p:nvPr>
        </p:nvSpPr>
        <p:spPr>
          <a:xfrm>
            <a:off x="263105" y="5951927"/>
            <a:ext cx="11665788" cy="929527"/>
          </a:xfrm>
        </p:spPr>
        <p:txBody>
          <a:bodyPr vert="horz" lIns="91440" tIns="45720" rIns="91440" bIns="45720" rtlCol="0" anchor="t">
            <a:normAutofit fontScale="70000" lnSpcReduction="20000"/>
          </a:bodyPr>
          <a:lstStyle/>
          <a:p>
            <a:pPr marL="0" indent="0">
              <a:buNone/>
            </a:pPr>
            <a:r>
              <a:rPr lang="en-US" sz="5400" dirty="0">
                <a:ea typeface="+mn-lt"/>
                <a:cs typeface="+mn-lt"/>
              </a:rPr>
              <a:t>Figure 3: Histograms showing a (A) leptokurtic distribution and (B) platykurtic distribution.</a:t>
            </a:r>
            <a:endParaRPr lang="en-US" sz="5400" dirty="0">
              <a:ea typeface="Calibri"/>
              <a:cs typeface="Calibri"/>
            </a:endParaRPr>
          </a:p>
          <a:p>
            <a:pPr marL="685800" indent="-685800"/>
            <a:endParaRPr lang="en-US" sz="5400" dirty="0">
              <a:ea typeface="Calibri"/>
              <a:cs typeface="Calibri"/>
            </a:endParaRPr>
          </a:p>
          <a:p>
            <a:pPr marL="685800" indent="-685800"/>
            <a:endParaRPr lang="en-US" sz="5400" dirty="0">
              <a:ea typeface="Calibri"/>
              <a:cs typeface="Calibri"/>
            </a:endParaRPr>
          </a:p>
          <a:p>
            <a:pPr marL="685800" indent="-685800"/>
            <a:endParaRPr lang="en-US" sz="5400" dirty="0">
              <a:ea typeface="Calibri"/>
              <a:cs typeface="Calibri"/>
            </a:endParaRPr>
          </a:p>
          <a:p>
            <a:pPr marL="685800" indent="-685800"/>
            <a:endParaRPr lang="en-US" sz="5400" dirty="0">
              <a:ea typeface="Calibri"/>
              <a:cs typeface="Calibri"/>
            </a:endParaRPr>
          </a:p>
        </p:txBody>
      </p:sp>
      <p:pic>
        <p:nvPicPr>
          <p:cNvPr id="6" name="Picture 5" descr="Two histograms are shown side by side. The histogram on the left looks normal, but with more values in the centre and toward the extreme sides. The histogram on the right also looks normal, but with relatively few values in the centre and at the extremes.">
            <a:extLst>
              <a:ext uri="{FF2B5EF4-FFF2-40B4-BE49-F238E27FC236}">
                <a16:creationId xmlns:a16="http://schemas.microsoft.com/office/drawing/2014/main" id="{482F9F81-335F-F7B2-B924-A7CFBD3AD132}"/>
              </a:ext>
            </a:extLst>
          </p:cNvPr>
          <p:cNvPicPr>
            <a:picLocks noChangeAspect="1"/>
          </p:cNvPicPr>
          <p:nvPr/>
        </p:nvPicPr>
        <p:blipFill>
          <a:blip r:embed="rId2"/>
          <a:stretch>
            <a:fillRect/>
          </a:stretch>
        </p:blipFill>
        <p:spPr>
          <a:xfrm>
            <a:off x="2277284" y="728483"/>
            <a:ext cx="7349886" cy="4969714"/>
          </a:xfrm>
          <a:prstGeom prst="rect">
            <a:avLst/>
          </a:prstGeom>
        </p:spPr>
      </p:pic>
    </p:spTree>
    <p:extLst>
      <p:ext uri="{BB962C8B-B14F-4D97-AF65-F5344CB8AC3E}">
        <p14:creationId xmlns:p14="http://schemas.microsoft.com/office/powerpoint/2010/main" val="38754530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4D48A-DAD2-6BD2-C1B6-E6535EE7B7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D05003-E2C4-0F52-1EE7-DDFDC5D8A7AD}"/>
              </a:ext>
            </a:extLst>
          </p:cNvPr>
          <p:cNvSpPr>
            <a:spLocks noGrp="1"/>
          </p:cNvSpPr>
          <p:nvPr>
            <p:ph type="title"/>
          </p:nvPr>
        </p:nvSpPr>
        <p:spPr>
          <a:xfrm>
            <a:off x="4313" y="5691"/>
            <a:ext cx="10515600" cy="922997"/>
          </a:xfrm>
        </p:spPr>
        <p:txBody>
          <a:bodyPr/>
          <a:lstStyle/>
          <a:p>
            <a:r>
              <a:rPr lang="en-US" dirty="0">
                <a:cs typeface="Calibri Light"/>
              </a:rPr>
              <a:t>Statistical moments</a:t>
            </a:r>
            <a:endParaRPr lang="en-US" dirty="0"/>
          </a:p>
        </p:txBody>
      </p:sp>
      <p:sp>
        <p:nvSpPr>
          <p:cNvPr id="3" name="Content Placeholder 2">
            <a:extLst>
              <a:ext uri="{FF2B5EF4-FFF2-40B4-BE49-F238E27FC236}">
                <a16:creationId xmlns:a16="http://schemas.microsoft.com/office/drawing/2014/main" id="{4D398260-588C-78E8-37B6-6F9200D77CC2}"/>
              </a:ext>
            </a:extLst>
          </p:cNvPr>
          <p:cNvSpPr>
            <a:spLocks noGrp="1"/>
          </p:cNvSpPr>
          <p:nvPr>
            <p:ph idx="1"/>
          </p:nvPr>
        </p:nvSpPr>
        <p:spPr>
          <a:xfrm>
            <a:off x="291860" y="1063625"/>
            <a:ext cx="11565147" cy="5616545"/>
          </a:xfrm>
        </p:spPr>
        <p:txBody>
          <a:bodyPr vert="horz" lIns="91440" tIns="45720" rIns="91440" bIns="45720" rtlCol="0" anchor="t">
            <a:normAutofit fontScale="92500" lnSpcReduction="10000"/>
          </a:bodyPr>
          <a:lstStyle/>
          <a:p>
            <a:pPr marL="914400" indent="-914400">
              <a:buAutoNum type="arabicPeriod"/>
            </a:pPr>
            <a:r>
              <a:rPr lang="en-US" sz="5400" dirty="0">
                <a:ea typeface="Calibri"/>
                <a:cs typeface="Calibri"/>
              </a:rPr>
              <a:t>Mean</a:t>
            </a:r>
            <a:endParaRPr lang="en-US" dirty="0">
              <a:ea typeface="Calibri"/>
              <a:cs typeface="Calibri"/>
            </a:endParaRPr>
          </a:p>
          <a:p>
            <a:pPr marL="914400" indent="-914400">
              <a:buAutoNum type="arabicPeriod"/>
            </a:pPr>
            <a:r>
              <a:rPr lang="en-US" sz="5400" dirty="0">
                <a:ea typeface="Calibri"/>
                <a:cs typeface="Calibri"/>
              </a:rPr>
              <a:t>Variance</a:t>
            </a:r>
          </a:p>
          <a:p>
            <a:pPr marL="914400" indent="-914400">
              <a:buAutoNum type="arabicPeriod"/>
            </a:pPr>
            <a:r>
              <a:rPr lang="en-US" sz="5400" dirty="0">
                <a:ea typeface="Calibri"/>
                <a:cs typeface="Calibri"/>
              </a:rPr>
              <a:t>Skew</a:t>
            </a:r>
          </a:p>
          <a:p>
            <a:pPr marL="914400" indent="-914400">
              <a:buAutoNum type="arabicPeriod"/>
            </a:pPr>
            <a:r>
              <a:rPr lang="en-US" sz="5400" dirty="0">
                <a:ea typeface="Calibri"/>
                <a:cs typeface="Calibri"/>
              </a:rPr>
              <a:t>Kurtosis</a:t>
            </a:r>
          </a:p>
          <a:p>
            <a:pPr marL="685800" indent="-685800">
              <a:buAutoNum type="arabicPeriod"/>
            </a:pPr>
            <a:endParaRPr lang="en-US" sz="5400" dirty="0">
              <a:ea typeface="Calibri"/>
              <a:cs typeface="Calibri"/>
            </a:endParaRPr>
          </a:p>
          <a:p>
            <a:pPr marL="0" indent="0">
              <a:buNone/>
            </a:pPr>
            <a:r>
              <a:rPr lang="en-US" sz="5400" dirty="0">
                <a:ea typeface="Calibri"/>
                <a:cs typeface="Calibri"/>
              </a:rPr>
              <a:t>Mathematically, deviations from mean raised to some power give the shape of a distribution.</a:t>
            </a:r>
          </a:p>
          <a:p>
            <a:pPr marL="685800" indent="-685800">
              <a:buAutoNum type="arabicPeriod"/>
            </a:pPr>
            <a:endParaRPr lang="en-US" sz="5400" dirty="0">
              <a:ea typeface="Calibri"/>
              <a:cs typeface="Calibri"/>
            </a:endParaRPr>
          </a:p>
          <a:p>
            <a:pPr marL="685800" indent="-685800">
              <a:buAutoNum type="arabicPeriod"/>
            </a:pPr>
            <a:endParaRPr lang="en-US" sz="5400" dirty="0">
              <a:ea typeface="Calibri"/>
              <a:cs typeface="Calibri"/>
            </a:endParaRPr>
          </a:p>
          <a:p>
            <a:pPr marL="685800" indent="-685800">
              <a:buAutoNum type="arabicPeriod"/>
            </a:pPr>
            <a:endParaRPr lang="en-US" sz="5400" dirty="0">
              <a:ea typeface="Calibri"/>
              <a:cs typeface="Calibri"/>
            </a:endParaRPr>
          </a:p>
          <a:p>
            <a:pPr marL="685800" indent="-685800">
              <a:buAutoNum type="arabicPeriod"/>
            </a:pPr>
            <a:endParaRPr lang="en-US" sz="5400" dirty="0">
              <a:ea typeface="Calibri"/>
              <a:cs typeface="Calibri"/>
            </a:endParaRPr>
          </a:p>
        </p:txBody>
      </p:sp>
    </p:spTree>
    <p:extLst>
      <p:ext uri="{BB962C8B-B14F-4D97-AF65-F5344CB8AC3E}">
        <p14:creationId xmlns:p14="http://schemas.microsoft.com/office/powerpoint/2010/main" val="34876234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4B612-DEC9-6526-E529-A612D490C3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02C8E0-9D37-BFE3-EB73-7F78BB829C95}"/>
              </a:ext>
            </a:extLst>
          </p:cNvPr>
          <p:cNvSpPr>
            <a:spLocks noGrp="1"/>
          </p:cNvSpPr>
          <p:nvPr>
            <p:ph type="title"/>
          </p:nvPr>
        </p:nvSpPr>
        <p:spPr>
          <a:xfrm>
            <a:off x="4313" y="5691"/>
            <a:ext cx="10515600" cy="922997"/>
          </a:xfrm>
        </p:spPr>
        <p:txBody>
          <a:bodyPr/>
          <a:lstStyle/>
          <a:p>
            <a:r>
              <a:rPr lang="en-US" dirty="0">
                <a:cs typeface="Calibri Light"/>
              </a:rPr>
              <a:t>Descriptive statistics in </a:t>
            </a:r>
            <a:r>
              <a:rPr lang="en-US" dirty="0" err="1">
                <a:cs typeface="Calibri Light"/>
              </a:rPr>
              <a:t>jamovi</a:t>
            </a:r>
            <a:endParaRPr lang="en-US" dirty="0" err="1"/>
          </a:p>
        </p:txBody>
      </p:sp>
      <p:pic>
        <p:nvPicPr>
          <p:cNvPr id="6" name="Picture 5" descr="Screenshot of jamovi interface for descriptive statistics with options on the left panel and output on the right panel">
            <a:extLst>
              <a:ext uri="{FF2B5EF4-FFF2-40B4-BE49-F238E27FC236}">
                <a16:creationId xmlns:a16="http://schemas.microsoft.com/office/drawing/2014/main" id="{BD017C8B-D62D-0400-8BD3-52914D555BD8}"/>
              </a:ext>
            </a:extLst>
          </p:cNvPr>
          <p:cNvPicPr>
            <a:picLocks noChangeAspect="1"/>
          </p:cNvPicPr>
          <p:nvPr/>
        </p:nvPicPr>
        <p:blipFill>
          <a:blip r:embed="rId2"/>
          <a:stretch>
            <a:fillRect/>
          </a:stretch>
        </p:blipFill>
        <p:spPr>
          <a:xfrm>
            <a:off x="1996269" y="934528"/>
            <a:ext cx="7753764" cy="5650302"/>
          </a:xfrm>
          <a:prstGeom prst="rect">
            <a:avLst/>
          </a:prstGeom>
        </p:spPr>
      </p:pic>
    </p:spTree>
    <p:extLst>
      <p:ext uri="{BB962C8B-B14F-4D97-AF65-F5344CB8AC3E}">
        <p14:creationId xmlns:p14="http://schemas.microsoft.com/office/powerpoint/2010/main" val="2945774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B8040-4AC8-BEE9-7DF1-8174F619D3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A42F05-69CF-8E47-CBEA-C74294C54EDF}"/>
              </a:ext>
            </a:extLst>
          </p:cNvPr>
          <p:cNvSpPr>
            <a:spLocks noGrp="1"/>
          </p:cNvSpPr>
          <p:nvPr>
            <p:ph type="title"/>
          </p:nvPr>
        </p:nvSpPr>
        <p:spPr>
          <a:xfrm>
            <a:off x="4313" y="5691"/>
            <a:ext cx="12168996" cy="908620"/>
          </a:xfrm>
        </p:spPr>
        <p:txBody>
          <a:bodyPr>
            <a:normAutofit/>
          </a:bodyPr>
          <a:lstStyle/>
          <a:p>
            <a:r>
              <a:rPr lang="en-US" dirty="0">
                <a:cs typeface="Calibri Light"/>
              </a:rPr>
              <a:t>General idea of frequency statistics</a:t>
            </a:r>
            <a:endParaRPr lang="en-US" dirty="0"/>
          </a:p>
        </p:txBody>
      </p:sp>
      <p:pic>
        <p:nvPicPr>
          <p:cNvPr id="4" name="Picture 3" descr="30+ bird silhouettes in a dotted box called 'population'. Within this, four birds are in a grey box called 'sample'.">
            <a:extLst>
              <a:ext uri="{FF2B5EF4-FFF2-40B4-BE49-F238E27FC236}">
                <a16:creationId xmlns:a16="http://schemas.microsoft.com/office/drawing/2014/main" id="{698ABBFE-BC3A-50C9-075F-CD110AAF149C}"/>
              </a:ext>
            </a:extLst>
          </p:cNvPr>
          <p:cNvPicPr>
            <a:picLocks noChangeAspect="1"/>
          </p:cNvPicPr>
          <p:nvPr/>
        </p:nvPicPr>
        <p:blipFill>
          <a:blip r:embed="rId2"/>
          <a:stretch>
            <a:fillRect/>
          </a:stretch>
        </p:blipFill>
        <p:spPr>
          <a:xfrm>
            <a:off x="1720621" y="646981"/>
            <a:ext cx="8132533" cy="5750944"/>
          </a:xfrm>
          <a:prstGeom prst="rect">
            <a:avLst/>
          </a:prstGeom>
        </p:spPr>
      </p:pic>
    </p:spTree>
    <p:extLst>
      <p:ext uri="{BB962C8B-B14F-4D97-AF65-F5344CB8AC3E}">
        <p14:creationId xmlns:p14="http://schemas.microsoft.com/office/powerpoint/2010/main" val="40843369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206EB-E7CB-597C-A03B-CCB5EDA1FF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60D7F4-9D2F-890C-0B1F-E3A432A05B9B}"/>
              </a:ext>
            </a:extLst>
          </p:cNvPr>
          <p:cNvSpPr>
            <a:spLocks noGrp="1"/>
          </p:cNvSpPr>
          <p:nvPr>
            <p:ph type="title"/>
          </p:nvPr>
        </p:nvSpPr>
        <p:spPr>
          <a:xfrm>
            <a:off x="4313" y="5691"/>
            <a:ext cx="12168996" cy="908620"/>
          </a:xfrm>
        </p:spPr>
        <p:txBody>
          <a:bodyPr>
            <a:normAutofit/>
          </a:bodyPr>
          <a:lstStyle/>
          <a:p>
            <a:r>
              <a:rPr lang="en-US" dirty="0">
                <a:cs typeface="Calibri Light"/>
              </a:rPr>
              <a:t>General idea of frequency statistics</a:t>
            </a:r>
            <a:endParaRPr lang="en-US" dirty="0"/>
          </a:p>
        </p:txBody>
      </p:sp>
      <p:pic>
        <p:nvPicPr>
          <p:cNvPr id="3" name="Picture 2" descr="Grey boxes each with 4 birds representing samples with different average heights.">
            <a:extLst>
              <a:ext uri="{FF2B5EF4-FFF2-40B4-BE49-F238E27FC236}">
                <a16:creationId xmlns:a16="http://schemas.microsoft.com/office/drawing/2014/main" id="{E9134F1A-BFBC-E431-B3D0-C01937CE169B}"/>
              </a:ext>
            </a:extLst>
          </p:cNvPr>
          <p:cNvPicPr>
            <a:picLocks noChangeAspect="1"/>
          </p:cNvPicPr>
          <p:nvPr/>
        </p:nvPicPr>
        <p:blipFill>
          <a:blip r:embed="rId2"/>
          <a:stretch>
            <a:fillRect/>
          </a:stretch>
        </p:blipFill>
        <p:spPr>
          <a:xfrm>
            <a:off x="1712164" y="921050"/>
            <a:ext cx="8020050" cy="5619750"/>
          </a:xfrm>
          <a:prstGeom prst="rect">
            <a:avLst/>
          </a:prstGeom>
        </p:spPr>
      </p:pic>
    </p:spTree>
    <p:extLst>
      <p:ext uri="{BB962C8B-B14F-4D97-AF65-F5344CB8AC3E}">
        <p14:creationId xmlns:p14="http://schemas.microsoft.com/office/powerpoint/2010/main" val="15800081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49041-6DE9-1F4C-F122-1F75688B39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F74C07-10B4-E7D0-9717-F846C7C58C0B}"/>
              </a:ext>
            </a:extLst>
          </p:cNvPr>
          <p:cNvSpPr>
            <a:spLocks noGrp="1"/>
          </p:cNvSpPr>
          <p:nvPr>
            <p:ph type="title"/>
          </p:nvPr>
        </p:nvSpPr>
        <p:spPr>
          <a:xfrm>
            <a:off x="4313" y="5691"/>
            <a:ext cx="10515600" cy="922997"/>
          </a:xfrm>
        </p:spPr>
        <p:txBody>
          <a:bodyPr/>
          <a:lstStyle/>
          <a:p>
            <a:r>
              <a:rPr lang="en-US" dirty="0">
                <a:cs typeface="Calibri Light"/>
              </a:rPr>
              <a:t>General idea of frequency statistics</a:t>
            </a:r>
            <a:endParaRPr lang="en-US" dirty="0"/>
          </a:p>
        </p:txBody>
      </p:sp>
      <p:sp>
        <p:nvSpPr>
          <p:cNvPr id="3" name="Content Placeholder 2">
            <a:extLst>
              <a:ext uri="{FF2B5EF4-FFF2-40B4-BE49-F238E27FC236}">
                <a16:creationId xmlns:a16="http://schemas.microsoft.com/office/drawing/2014/main" id="{72C73727-6949-E555-D10B-0FE6EB81FEDD}"/>
              </a:ext>
            </a:extLst>
          </p:cNvPr>
          <p:cNvSpPr>
            <a:spLocks noGrp="1"/>
          </p:cNvSpPr>
          <p:nvPr>
            <p:ph idx="1"/>
          </p:nvPr>
        </p:nvSpPr>
        <p:spPr>
          <a:xfrm>
            <a:off x="291860" y="1063625"/>
            <a:ext cx="11565147" cy="5616545"/>
          </a:xfrm>
        </p:spPr>
        <p:txBody>
          <a:bodyPr vert="horz" lIns="91440" tIns="45720" rIns="91440" bIns="45720" rtlCol="0" anchor="t">
            <a:normAutofit lnSpcReduction="10000"/>
          </a:bodyPr>
          <a:lstStyle/>
          <a:p>
            <a:pPr marL="0" indent="0">
              <a:buNone/>
            </a:pPr>
            <a:r>
              <a:rPr lang="en-US" sz="5400" dirty="0">
                <a:ea typeface="Calibri"/>
                <a:cs typeface="Calibri"/>
              </a:rPr>
              <a:t>Repeated re-sampling</a:t>
            </a:r>
          </a:p>
          <a:p>
            <a:pPr marL="685800" indent="-685800"/>
            <a:r>
              <a:rPr lang="en-US" sz="5400" dirty="0">
                <a:ea typeface="Calibri"/>
                <a:cs typeface="Calibri"/>
              </a:rPr>
              <a:t>What is our expectation?</a:t>
            </a:r>
          </a:p>
          <a:p>
            <a:pPr marL="685800" indent="-685800"/>
            <a:r>
              <a:rPr lang="en-US" sz="5400" dirty="0">
                <a:ea typeface="Calibri"/>
                <a:cs typeface="Calibri"/>
              </a:rPr>
              <a:t>What is our uncertainty?</a:t>
            </a:r>
          </a:p>
          <a:p>
            <a:pPr marL="685800" indent="-685800"/>
            <a:endParaRPr lang="en-US" sz="5400" dirty="0">
              <a:ea typeface="Calibri"/>
              <a:cs typeface="Calibri"/>
            </a:endParaRPr>
          </a:p>
          <a:p>
            <a:pPr marL="0" indent="0">
              <a:buNone/>
            </a:pPr>
            <a:r>
              <a:rPr lang="en-US" sz="5400" dirty="0">
                <a:ea typeface="Calibri"/>
                <a:cs typeface="Calibri"/>
              </a:rPr>
              <a:t>What is the distribution of the sample mean (</a:t>
            </a:r>
            <a:r>
              <a:rPr lang="en-US" sz="5400" dirty="0">
                <a:ea typeface="+mn-lt"/>
                <a:cs typeface="+mn-lt"/>
              </a:rPr>
              <a:t>x̄) around the population mean (µ</a:t>
            </a:r>
            <a:r>
              <a:rPr lang="en-US" sz="5400" baseline="-25000" dirty="0">
                <a:ea typeface="+mn-lt"/>
                <a:cs typeface="+mn-lt"/>
              </a:rPr>
              <a:t>x</a:t>
            </a:r>
            <a:r>
              <a:rPr lang="en-US" sz="5400" dirty="0">
                <a:ea typeface="+mn-lt"/>
                <a:cs typeface="+mn-lt"/>
              </a:rPr>
              <a:t>)?</a:t>
            </a:r>
          </a:p>
          <a:p>
            <a:pPr marL="685800" indent="-685800"/>
            <a:endParaRPr lang="en-US" sz="5400" dirty="0">
              <a:ea typeface="Calibri"/>
              <a:cs typeface="Calibri"/>
            </a:endParaRPr>
          </a:p>
          <a:p>
            <a:pPr marL="685800" indent="-685800"/>
            <a:endParaRPr lang="en-US" sz="5400" dirty="0">
              <a:ea typeface="Calibri"/>
              <a:cs typeface="Calibri"/>
            </a:endParaRPr>
          </a:p>
          <a:p>
            <a:pPr marL="685800" indent="-685800"/>
            <a:endParaRPr lang="en-US" sz="5400" dirty="0">
              <a:ea typeface="Calibri"/>
              <a:cs typeface="Calibri"/>
            </a:endParaRPr>
          </a:p>
        </p:txBody>
      </p:sp>
    </p:spTree>
    <p:extLst>
      <p:ext uri="{BB962C8B-B14F-4D97-AF65-F5344CB8AC3E}">
        <p14:creationId xmlns:p14="http://schemas.microsoft.com/office/powerpoint/2010/main" val="41625198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B52FC-C279-BC14-92D9-E109F8C210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3B122C-B86D-2019-7652-6425B60E6C78}"/>
              </a:ext>
            </a:extLst>
          </p:cNvPr>
          <p:cNvSpPr>
            <a:spLocks noGrp="1"/>
          </p:cNvSpPr>
          <p:nvPr>
            <p:ph type="title"/>
          </p:nvPr>
        </p:nvSpPr>
        <p:spPr>
          <a:xfrm>
            <a:off x="4313" y="5691"/>
            <a:ext cx="12168996" cy="922997"/>
          </a:xfrm>
        </p:spPr>
        <p:txBody>
          <a:bodyPr>
            <a:normAutofit fontScale="90000"/>
          </a:bodyPr>
          <a:lstStyle/>
          <a:p>
            <a:r>
              <a:rPr lang="en-US" dirty="0">
                <a:cs typeface="Calibri Light"/>
              </a:rPr>
              <a:t>The standard error: Sample means and population mean</a:t>
            </a:r>
            <a:endParaRPr lang="en-US" dirty="0"/>
          </a:p>
        </p:txBody>
      </p:sp>
      <p:pic>
        <p:nvPicPr>
          <p:cNvPr id="4" name="Picture 3" descr="Sparse histogram with 5 bars showing sample mean height (cm).">
            <a:extLst>
              <a:ext uri="{FF2B5EF4-FFF2-40B4-BE49-F238E27FC236}">
                <a16:creationId xmlns:a16="http://schemas.microsoft.com/office/drawing/2014/main" id="{30EB20FE-8821-3C60-D81E-8EBD9DE73AD7}"/>
              </a:ext>
            </a:extLst>
          </p:cNvPr>
          <p:cNvPicPr>
            <a:picLocks noChangeAspect="1"/>
          </p:cNvPicPr>
          <p:nvPr/>
        </p:nvPicPr>
        <p:blipFill>
          <a:blip r:embed="rId2"/>
          <a:stretch>
            <a:fillRect/>
          </a:stretch>
        </p:blipFill>
        <p:spPr>
          <a:xfrm>
            <a:off x="1476375" y="840806"/>
            <a:ext cx="9239250" cy="6010275"/>
          </a:xfrm>
          <a:prstGeom prst="rect">
            <a:avLst/>
          </a:prstGeom>
        </p:spPr>
      </p:pic>
    </p:spTree>
    <p:extLst>
      <p:ext uri="{BB962C8B-B14F-4D97-AF65-F5344CB8AC3E}">
        <p14:creationId xmlns:p14="http://schemas.microsoft.com/office/powerpoint/2010/main" val="12082103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16D04-F465-EA6F-4FA7-C7FCAD41A1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C5B83D-F607-F68D-9729-13A6FF84F039}"/>
              </a:ext>
            </a:extLst>
          </p:cNvPr>
          <p:cNvSpPr>
            <a:spLocks noGrp="1"/>
          </p:cNvSpPr>
          <p:nvPr>
            <p:ph type="title"/>
          </p:nvPr>
        </p:nvSpPr>
        <p:spPr>
          <a:xfrm>
            <a:off x="4313" y="5691"/>
            <a:ext cx="12168996" cy="922997"/>
          </a:xfrm>
        </p:spPr>
        <p:txBody>
          <a:bodyPr>
            <a:normAutofit fontScale="90000"/>
          </a:bodyPr>
          <a:lstStyle/>
          <a:p>
            <a:r>
              <a:rPr lang="en-US" dirty="0">
                <a:cs typeface="Calibri Light"/>
              </a:rPr>
              <a:t>The standard error: Sample means and population mean</a:t>
            </a:r>
            <a:endParaRPr lang="en-US" dirty="0"/>
          </a:p>
        </p:txBody>
      </p:sp>
      <p:pic>
        <p:nvPicPr>
          <p:cNvPr id="3" name="Picture 2" descr="Sparse histogram with 5 dark bars showing sample mean height (cm), then many lighter blue bars in the background showing a normal distribution.">
            <a:extLst>
              <a:ext uri="{FF2B5EF4-FFF2-40B4-BE49-F238E27FC236}">
                <a16:creationId xmlns:a16="http://schemas.microsoft.com/office/drawing/2014/main" id="{FDD9FB70-9571-1141-03DE-0BA13ACA8E1F}"/>
              </a:ext>
            </a:extLst>
          </p:cNvPr>
          <p:cNvPicPr>
            <a:picLocks noChangeAspect="1"/>
          </p:cNvPicPr>
          <p:nvPr/>
        </p:nvPicPr>
        <p:blipFill>
          <a:blip r:embed="rId2"/>
          <a:stretch>
            <a:fillRect/>
          </a:stretch>
        </p:blipFill>
        <p:spPr>
          <a:xfrm>
            <a:off x="1538288" y="692720"/>
            <a:ext cx="9115425" cy="6162675"/>
          </a:xfrm>
          <a:prstGeom prst="rect">
            <a:avLst/>
          </a:prstGeom>
        </p:spPr>
      </p:pic>
    </p:spTree>
    <p:extLst>
      <p:ext uri="{BB962C8B-B14F-4D97-AF65-F5344CB8AC3E}">
        <p14:creationId xmlns:p14="http://schemas.microsoft.com/office/powerpoint/2010/main" val="410779998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39BF8-030B-BED4-5432-FFBC88FBB7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95A3E7-3F79-74E6-438F-5727C9BD84B8}"/>
              </a:ext>
            </a:extLst>
          </p:cNvPr>
          <p:cNvSpPr>
            <a:spLocks noGrp="1"/>
          </p:cNvSpPr>
          <p:nvPr>
            <p:ph type="title"/>
          </p:nvPr>
        </p:nvSpPr>
        <p:spPr>
          <a:xfrm>
            <a:off x="4313" y="5691"/>
            <a:ext cx="12240883" cy="980506"/>
          </a:xfrm>
        </p:spPr>
        <p:txBody>
          <a:bodyPr>
            <a:normAutofit/>
          </a:bodyPr>
          <a:lstStyle/>
          <a:p>
            <a:r>
              <a:rPr lang="en-US" sz="4000" dirty="0">
                <a:cs typeface="Calibri Light"/>
              </a:rPr>
              <a:t>The standard error: Sample means and population mean</a:t>
            </a:r>
          </a:p>
        </p:txBody>
      </p:sp>
      <p:sp>
        <p:nvSpPr>
          <p:cNvPr id="3" name="Content Placeholder 2">
            <a:extLst>
              <a:ext uri="{FF2B5EF4-FFF2-40B4-BE49-F238E27FC236}">
                <a16:creationId xmlns:a16="http://schemas.microsoft.com/office/drawing/2014/main" id="{82717641-BD6F-C0E4-C55A-7413ECAFB2B7}"/>
              </a:ext>
            </a:extLst>
          </p:cNvPr>
          <p:cNvSpPr>
            <a:spLocks noGrp="1"/>
          </p:cNvSpPr>
          <p:nvPr>
            <p:ph idx="1"/>
          </p:nvPr>
        </p:nvSpPr>
        <p:spPr>
          <a:xfrm>
            <a:off x="291860" y="1063625"/>
            <a:ext cx="11565147" cy="5616545"/>
          </a:xfrm>
        </p:spPr>
        <p:txBody>
          <a:bodyPr vert="horz" lIns="91440" tIns="45720" rIns="91440" bIns="45720" rtlCol="0" anchor="t">
            <a:normAutofit/>
          </a:bodyPr>
          <a:lstStyle/>
          <a:p>
            <a:pPr marL="685800" indent="-685800"/>
            <a:r>
              <a:rPr lang="en-US" sz="5400" dirty="0">
                <a:ea typeface="Calibri"/>
                <a:cs typeface="Calibri"/>
              </a:rPr>
              <a:t>What is the distribution of the sample mean (x̄) around the population mean (µ</a:t>
            </a:r>
            <a:r>
              <a:rPr lang="en-US" sz="5400" baseline="-25000" dirty="0">
                <a:ea typeface="Calibri"/>
                <a:cs typeface="Calibri"/>
              </a:rPr>
              <a:t>x</a:t>
            </a:r>
            <a:r>
              <a:rPr lang="en-US" sz="5400" dirty="0">
                <a:ea typeface="Calibri"/>
                <a:cs typeface="Calibri"/>
              </a:rPr>
              <a:t>)?</a:t>
            </a:r>
            <a:endParaRPr lang="en-US">
              <a:ea typeface="Calibri" panose="020F0502020204030204"/>
              <a:cs typeface="Calibri" panose="020F0502020204030204"/>
            </a:endParaRPr>
          </a:p>
          <a:p>
            <a:pPr marL="685800" indent="-685800"/>
            <a:r>
              <a:rPr lang="en-US" sz="5400" b="1" dirty="0">
                <a:ea typeface="Calibri"/>
                <a:cs typeface="Calibri"/>
              </a:rPr>
              <a:t>Standard error</a:t>
            </a:r>
            <a:r>
              <a:rPr lang="en-US" sz="5400" dirty="0">
                <a:ea typeface="Calibri"/>
                <a:cs typeface="Calibri"/>
              </a:rPr>
              <a:t>: The standard deviation of sample means around the population mean</a:t>
            </a:r>
          </a:p>
          <a:p>
            <a:pPr marL="685800" indent="-685800"/>
            <a:endParaRPr lang="en-US" sz="5400" dirty="0">
              <a:ea typeface="Calibri"/>
              <a:cs typeface="Calibri"/>
            </a:endParaRPr>
          </a:p>
          <a:p>
            <a:pPr marL="685800" indent="-685800"/>
            <a:endParaRPr lang="en-US" sz="5400" dirty="0">
              <a:ea typeface="Calibri"/>
              <a:cs typeface="Calibri"/>
            </a:endParaRPr>
          </a:p>
        </p:txBody>
      </p:sp>
    </p:spTree>
    <p:extLst>
      <p:ext uri="{BB962C8B-B14F-4D97-AF65-F5344CB8AC3E}">
        <p14:creationId xmlns:p14="http://schemas.microsoft.com/office/powerpoint/2010/main" val="20656872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78A6D-CCC9-30B7-5023-98BFEE3DED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02EDED-0F3F-B6F6-CDE8-1217C5605645}"/>
              </a:ext>
            </a:extLst>
          </p:cNvPr>
          <p:cNvSpPr>
            <a:spLocks noGrp="1"/>
          </p:cNvSpPr>
          <p:nvPr>
            <p:ph type="title"/>
          </p:nvPr>
        </p:nvSpPr>
        <p:spPr>
          <a:xfrm>
            <a:off x="4313" y="5691"/>
            <a:ext cx="12240883" cy="980506"/>
          </a:xfrm>
        </p:spPr>
        <p:txBody>
          <a:bodyPr>
            <a:normAutofit/>
          </a:bodyPr>
          <a:lstStyle/>
          <a:p>
            <a:r>
              <a:rPr lang="en-US" sz="4000" dirty="0">
                <a:cs typeface="Calibri Light"/>
              </a:rPr>
              <a:t>The standard error: Estimation</a:t>
            </a:r>
          </a:p>
        </p:txBody>
      </p:sp>
      <p:pic>
        <p:nvPicPr>
          <p:cNvPr id="6" name="Content Placeholder 5" descr="Formula for the standard error: Sample standard deviation divided by the square root of the sample size.">
            <a:extLst>
              <a:ext uri="{FF2B5EF4-FFF2-40B4-BE49-F238E27FC236}">
                <a16:creationId xmlns:a16="http://schemas.microsoft.com/office/drawing/2014/main" id="{903A44B1-AC71-671D-EFDB-46D6368847EA}"/>
              </a:ext>
            </a:extLst>
          </p:cNvPr>
          <p:cNvPicPr>
            <a:picLocks noGrp="1" noChangeAspect="1"/>
          </p:cNvPicPr>
          <p:nvPr>
            <p:ph idx="1"/>
          </p:nvPr>
        </p:nvPicPr>
        <p:blipFill>
          <a:blip r:embed="rId2"/>
          <a:stretch>
            <a:fillRect/>
          </a:stretch>
        </p:blipFill>
        <p:spPr>
          <a:xfrm>
            <a:off x="488831" y="998776"/>
            <a:ext cx="11199961" cy="5846886"/>
          </a:xfrm>
          <a:prstGeom prst="rect">
            <a:avLst/>
          </a:prstGeom>
        </p:spPr>
      </p:pic>
    </p:spTree>
    <p:extLst>
      <p:ext uri="{BB962C8B-B14F-4D97-AF65-F5344CB8AC3E}">
        <p14:creationId xmlns:p14="http://schemas.microsoft.com/office/powerpoint/2010/main" val="1376585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71B73-3713-065C-36E4-E6E736E69E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1B93F6-501B-FEFE-E91A-A7F809404A2E}"/>
              </a:ext>
            </a:extLst>
          </p:cNvPr>
          <p:cNvSpPr>
            <a:spLocks noGrp="1"/>
          </p:cNvSpPr>
          <p:nvPr>
            <p:ph type="title"/>
          </p:nvPr>
        </p:nvSpPr>
        <p:spPr>
          <a:xfrm>
            <a:off x="4313" y="5691"/>
            <a:ext cx="12168996" cy="922997"/>
          </a:xfrm>
        </p:spPr>
        <p:txBody>
          <a:bodyPr>
            <a:normAutofit fontScale="90000"/>
          </a:bodyPr>
          <a:lstStyle/>
          <a:p>
            <a:r>
              <a:rPr lang="en-US" dirty="0">
                <a:cs typeface="Calibri Light"/>
              </a:rPr>
              <a:t>The standard error: Sample means and population mean</a:t>
            </a:r>
            <a:endParaRPr lang="en-US" dirty="0"/>
          </a:p>
        </p:txBody>
      </p:sp>
      <p:pic>
        <p:nvPicPr>
          <p:cNvPr id="4" name="Picture 3" descr="Sparse histogram with light blue bars showing normally distributed sample mean height (cm).">
            <a:extLst>
              <a:ext uri="{FF2B5EF4-FFF2-40B4-BE49-F238E27FC236}">
                <a16:creationId xmlns:a16="http://schemas.microsoft.com/office/drawing/2014/main" id="{71F8F404-C97E-2FBC-10A5-631DB32B9942}"/>
              </a:ext>
            </a:extLst>
          </p:cNvPr>
          <p:cNvPicPr>
            <a:picLocks noChangeAspect="1"/>
          </p:cNvPicPr>
          <p:nvPr/>
        </p:nvPicPr>
        <p:blipFill>
          <a:blip r:embed="rId2"/>
          <a:stretch>
            <a:fillRect/>
          </a:stretch>
        </p:blipFill>
        <p:spPr>
          <a:xfrm>
            <a:off x="1763383" y="947018"/>
            <a:ext cx="8578970" cy="5912869"/>
          </a:xfrm>
          <a:prstGeom prst="rect">
            <a:avLst/>
          </a:prstGeom>
        </p:spPr>
      </p:pic>
    </p:spTree>
    <p:extLst>
      <p:ext uri="{BB962C8B-B14F-4D97-AF65-F5344CB8AC3E}">
        <p14:creationId xmlns:p14="http://schemas.microsoft.com/office/powerpoint/2010/main" val="3292064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DC67C-E78A-3745-093F-0721A8C339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BA6E45-C22C-ECAE-8478-DC2E8313F043}"/>
              </a:ext>
            </a:extLst>
          </p:cNvPr>
          <p:cNvSpPr>
            <a:spLocks noGrp="1"/>
          </p:cNvSpPr>
          <p:nvPr>
            <p:ph type="title"/>
          </p:nvPr>
        </p:nvSpPr>
        <p:spPr>
          <a:xfrm>
            <a:off x="4313" y="5691"/>
            <a:ext cx="12168996" cy="922997"/>
          </a:xfrm>
        </p:spPr>
        <p:txBody>
          <a:bodyPr>
            <a:normAutofit fontScale="90000"/>
          </a:bodyPr>
          <a:lstStyle/>
          <a:p>
            <a:r>
              <a:rPr lang="en-US" dirty="0">
                <a:cs typeface="Calibri Light"/>
              </a:rPr>
              <a:t>The standard error: Sample means and population mean</a:t>
            </a:r>
            <a:endParaRPr lang="en-US" dirty="0"/>
          </a:p>
        </p:txBody>
      </p:sp>
      <p:pic>
        <p:nvPicPr>
          <p:cNvPr id="3" name="Picture 2" descr="Sparse histogram with light blue bars showing normally distributed sample mean height (cm). A normal distribution curve is shown overlapping.">
            <a:extLst>
              <a:ext uri="{FF2B5EF4-FFF2-40B4-BE49-F238E27FC236}">
                <a16:creationId xmlns:a16="http://schemas.microsoft.com/office/drawing/2014/main" id="{62573548-B94F-06F1-0831-CC11E5922026}"/>
              </a:ext>
            </a:extLst>
          </p:cNvPr>
          <p:cNvPicPr>
            <a:picLocks noChangeAspect="1"/>
          </p:cNvPicPr>
          <p:nvPr/>
        </p:nvPicPr>
        <p:blipFill>
          <a:blip r:embed="rId2"/>
          <a:stretch>
            <a:fillRect/>
          </a:stretch>
        </p:blipFill>
        <p:spPr>
          <a:xfrm>
            <a:off x="1476375" y="965799"/>
            <a:ext cx="8865439" cy="5889685"/>
          </a:xfrm>
          <a:prstGeom prst="rect">
            <a:avLst/>
          </a:prstGeom>
        </p:spPr>
      </p:pic>
    </p:spTree>
    <p:extLst>
      <p:ext uri="{BB962C8B-B14F-4D97-AF65-F5344CB8AC3E}">
        <p14:creationId xmlns:p14="http://schemas.microsoft.com/office/powerpoint/2010/main" val="195937940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7C932-C94C-AF56-A81F-0F64DB92D7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956556-57EE-1B88-BBAF-2A6507BB62ED}"/>
              </a:ext>
            </a:extLst>
          </p:cNvPr>
          <p:cNvSpPr>
            <a:spLocks noGrp="1"/>
          </p:cNvSpPr>
          <p:nvPr>
            <p:ph type="title"/>
          </p:nvPr>
        </p:nvSpPr>
        <p:spPr>
          <a:xfrm>
            <a:off x="4313" y="5691"/>
            <a:ext cx="12240883" cy="980506"/>
          </a:xfrm>
        </p:spPr>
        <p:txBody>
          <a:bodyPr>
            <a:normAutofit/>
          </a:bodyPr>
          <a:lstStyle/>
          <a:p>
            <a:r>
              <a:rPr lang="en-US" sz="4000" dirty="0">
                <a:cs typeface="Calibri Light"/>
              </a:rPr>
              <a:t>The standard error: Sample means and population mean</a:t>
            </a:r>
          </a:p>
        </p:txBody>
      </p:sp>
      <p:sp>
        <p:nvSpPr>
          <p:cNvPr id="3" name="Content Placeholder 2">
            <a:extLst>
              <a:ext uri="{FF2B5EF4-FFF2-40B4-BE49-F238E27FC236}">
                <a16:creationId xmlns:a16="http://schemas.microsoft.com/office/drawing/2014/main" id="{E1DA1BBB-7E68-346B-BCDD-F7BF2BFBE717}"/>
              </a:ext>
            </a:extLst>
          </p:cNvPr>
          <p:cNvSpPr>
            <a:spLocks noGrp="1"/>
          </p:cNvSpPr>
          <p:nvPr>
            <p:ph idx="1"/>
          </p:nvPr>
        </p:nvSpPr>
        <p:spPr>
          <a:xfrm>
            <a:off x="291860" y="1063625"/>
            <a:ext cx="11565147" cy="5616545"/>
          </a:xfrm>
        </p:spPr>
        <p:txBody>
          <a:bodyPr vert="horz" lIns="91440" tIns="45720" rIns="91440" bIns="45720" rtlCol="0" anchor="t">
            <a:normAutofit/>
          </a:bodyPr>
          <a:lstStyle/>
          <a:p>
            <a:pPr marL="685800" indent="-685800"/>
            <a:r>
              <a:rPr lang="en-US" sz="5400" b="1" dirty="0">
                <a:ea typeface="Calibri"/>
                <a:cs typeface="Calibri"/>
              </a:rPr>
              <a:t>Standard error</a:t>
            </a:r>
            <a:r>
              <a:rPr lang="en-US" sz="5400" dirty="0">
                <a:ea typeface="Calibri"/>
                <a:cs typeface="Calibri"/>
              </a:rPr>
              <a:t>: The standard deviation of sample means around the population mean</a:t>
            </a:r>
            <a:endParaRPr lang="en-US"/>
          </a:p>
          <a:p>
            <a:pPr marL="685800" indent="-685800"/>
            <a:r>
              <a:rPr lang="en-US" sz="5400" dirty="0">
                <a:ea typeface="Calibri"/>
                <a:cs typeface="Calibri"/>
              </a:rPr>
              <a:t>Standard error measures the uncertainty of the sample mean</a:t>
            </a:r>
          </a:p>
          <a:p>
            <a:pPr marL="685800" indent="-685800"/>
            <a:endParaRPr lang="en-US" sz="5400" dirty="0">
              <a:ea typeface="Calibri"/>
              <a:cs typeface="Calibri"/>
            </a:endParaRPr>
          </a:p>
          <a:p>
            <a:pPr marL="685800" indent="-685800"/>
            <a:endParaRPr lang="en-US" sz="5400" dirty="0">
              <a:ea typeface="Calibri"/>
              <a:cs typeface="Calibri"/>
            </a:endParaRPr>
          </a:p>
        </p:txBody>
      </p:sp>
    </p:spTree>
    <p:extLst>
      <p:ext uri="{BB962C8B-B14F-4D97-AF65-F5344CB8AC3E}">
        <p14:creationId xmlns:p14="http://schemas.microsoft.com/office/powerpoint/2010/main" val="152602625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8B2CC-053C-7973-8DCD-9DAE7A224E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CD5A8D-30C2-BAFC-0948-E9DF454456BA}"/>
              </a:ext>
            </a:extLst>
          </p:cNvPr>
          <p:cNvSpPr>
            <a:spLocks noGrp="1"/>
          </p:cNvSpPr>
          <p:nvPr>
            <p:ph type="title"/>
          </p:nvPr>
        </p:nvSpPr>
        <p:spPr>
          <a:xfrm>
            <a:off x="4313" y="5691"/>
            <a:ext cx="12168996" cy="922997"/>
          </a:xfrm>
        </p:spPr>
        <p:txBody>
          <a:bodyPr>
            <a:normAutofit/>
          </a:bodyPr>
          <a:lstStyle/>
          <a:p>
            <a:r>
              <a:rPr lang="en-US" dirty="0">
                <a:cs typeface="Calibri Light"/>
              </a:rPr>
              <a:t>The standard error</a:t>
            </a:r>
            <a:endParaRPr lang="en-US" dirty="0"/>
          </a:p>
        </p:txBody>
      </p:sp>
      <p:pic>
        <p:nvPicPr>
          <p:cNvPr id="4" name="Picture 3" descr="Sparse histogram with light blue bars showing normally distributed sample mean height (cm). A normal distribution curve is shown overlapping.">
            <a:extLst>
              <a:ext uri="{FF2B5EF4-FFF2-40B4-BE49-F238E27FC236}">
                <a16:creationId xmlns:a16="http://schemas.microsoft.com/office/drawing/2014/main" id="{767D92A3-F5EE-021C-6108-874DE1A17D66}"/>
              </a:ext>
            </a:extLst>
          </p:cNvPr>
          <p:cNvPicPr>
            <a:picLocks noChangeAspect="1"/>
          </p:cNvPicPr>
          <p:nvPr/>
        </p:nvPicPr>
        <p:blipFill>
          <a:blip r:embed="rId2"/>
          <a:stretch>
            <a:fillRect/>
          </a:stretch>
        </p:blipFill>
        <p:spPr>
          <a:xfrm>
            <a:off x="1438275" y="745286"/>
            <a:ext cx="9315450" cy="6115050"/>
          </a:xfrm>
          <a:prstGeom prst="rect">
            <a:avLst/>
          </a:prstGeom>
        </p:spPr>
      </p:pic>
    </p:spTree>
    <p:extLst>
      <p:ext uri="{BB962C8B-B14F-4D97-AF65-F5344CB8AC3E}">
        <p14:creationId xmlns:p14="http://schemas.microsoft.com/office/powerpoint/2010/main" val="6177585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45327-AD5E-0ADA-53E2-CFD08A135F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130C8E-3E31-2083-3863-2766F4974A67}"/>
              </a:ext>
            </a:extLst>
          </p:cNvPr>
          <p:cNvSpPr>
            <a:spLocks noGrp="1"/>
          </p:cNvSpPr>
          <p:nvPr>
            <p:ph type="title"/>
          </p:nvPr>
        </p:nvSpPr>
        <p:spPr>
          <a:xfrm>
            <a:off x="4313" y="5691"/>
            <a:ext cx="12168996" cy="922997"/>
          </a:xfrm>
        </p:spPr>
        <p:txBody>
          <a:bodyPr>
            <a:normAutofit/>
          </a:bodyPr>
          <a:lstStyle/>
          <a:p>
            <a:r>
              <a:rPr lang="en-US" dirty="0">
                <a:cs typeface="Calibri Light"/>
              </a:rPr>
              <a:t>The standard error</a:t>
            </a:r>
            <a:endParaRPr lang="en-US" dirty="0"/>
          </a:p>
        </p:txBody>
      </p:sp>
      <p:pic>
        <p:nvPicPr>
          <p:cNvPr id="3" name="Picture 2" descr="Sparse histogram with light blue bars showing normally distributed sample mean height (cm). A normal distribution curve is shown overlapping. A red distribution is shown over the top with lower variance.">
            <a:extLst>
              <a:ext uri="{FF2B5EF4-FFF2-40B4-BE49-F238E27FC236}">
                <a16:creationId xmlns:a16="http://schemas.microsoft.com/office/drawing/2014/main" id="{F0AA2FE5-A4B3-F194-5A86-F571D3F1462F}"/>
              </a:ext>
            </a:extLst>
          </p:cNvPr>
          <p:cNvPicPr>
            <a:picLocks noChangeAspect="1"/>
          </p:cNvPicPr>
          <p:nvPr/>
        </p:nvPicPr>
        <p:blipFill>
          <a:blip r:embed="rId2"/>
          <a:stretch>
            <a:fillRect/>
          </a:stretch>
        </p:blipFill>
        <p:spPr>
          <a:xfrm>
            <a:off x="1604963" y="683195"/>
            <a:ext cx="8982075" cy="6181725"/>
          </a:xfrm>
          <a:prstGeom prst="rect">
            <a:avLst/>
          </a:prstGeom>
        </p:spPr>
      </p:pic>
    </p:spTree>
    <p:extLst>
      <p:ext uri="{BB962C8B-B14F-4D97-AF65-F5344CB8AC3E}">
        <p14:creationId xmlns:p14="http://schemas.microsoft.com/office/powerpoint/2010/main" val="404601316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DEC1D-F2A0-C4B0-41A9-B38986705A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946AA1-558E-6BA1-FC0B-F8F7CE78EC77}"/>
              </a:ext>
            </a:extLst>
          </p:cNvPr>
          <p:cNvSpPr>
            <a:spLocks noGrp="1"/>
          </p:cNvSpPr>
          <p:nvPr>
            <p:ph type="title"/>
          </p:nvPr>
        </p:nvSpPr>
        <p:spPr>
          <a:xfrm>
            <a:off x="4313" y="5691"/>
            <a:ext cx="12168996" cy="922997"/>
          </a:xfrm>
        </p:spPr>
        <p:txBody>
          <a:bodyPr>
            <a:normAutofit/>
          </a:bodyPr>
          <a:lstStyle/>
          <a:p>
            <a:r>
              <a:rPr lang="en-US" dirty="0">
                <a:cs typeface="Calibri Light"/>
              </a:rPr>
              <a:t>The standard error in </a:t>
            </a:r>
            <a:r>
              <a:rPr lang="en-US" dirty="0" err="1">
                <a:cs typeface="Calibri Light"/>
              </a:rPr>
              <a:t>jamovi</a:t>
            </a:r>
            <a:endParaRPr lang="en-US" dirty="0" err="1"/>
          </a:p>
        </p:txBody>
      </p:sp>
      <p:pic>
        <p:nvPicPr>
          <p:cNvPr id="4" name="Picture 3" descr="Screenshot of jamovi interface for descriptive statistics with options on the left panel and output on the right panel. Standard error is highlighted in red.">
            <a:extLst>
              <a:ext uri="{FF2B5EF4-FFF2-40B4-BE49-F238E27FC236}">
                <a16:creationId xmlns:a16="http://schemas.microsoft.com/office/drawing/2014/main" id="{A4C2FD5D-BD90-B379-0F5E-A6C909E1713E}"/>
              </a:ext>
            </a:extLst>
          </p:cNvPr>
          <p:cNvPicPr>
            <a:picLocks noChangeAspect="1"/>
          </p:cNvPicPr>
          <p:nvPr/>
        </p:nvPicPr>
        <p:blipFill>
          <a:blip r:embed="rId2"/>
          <a:stretch>
            <a:fillRect/>
          </a:stretch>
        </p:blipFill>
        <p:spPr>
          <a:xfrm>
            <a:off x="1938760" y="934528"/>
            <a:ext cx="7782519" cy="5679057"/>
          </a:xfrm>
          <a:prstGeom prst="rect">
            <a:avLst/>
          </a:prstGeom>
        </p:spPr>
      </p:pic>
    </p:spTree>
    <p:extLst>
      <p:ext uri="{BB962C8B-B14F-4D97-AF65-F5344CB8AC3E}">
        <p14:creationId xmlns:p14="http://schemas.microsoft.com/office/powerpoint/2010/main" val="84987958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d6fa6db5-9f3a-4c93-9e38-61059ee07e95}" enabled="1" method="Standard" siteId="{4e8d09f7-cc79-4ccb-9149-a4238dd17422}" removed="0"/>
</clbl:labelList>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49</Slides>
  <Notes>0</Notes>
  <HiddenSlides>0</HiddenSlides>
  <MMClips>0</MMClips>
  <ScaleCrop>false</ScaleCrop>
  <HeadingPairs>
    <vt:vector size="4" baseType="variant">
      <vt:variant>
        <vt:lpstr>Theme</vt:lpstr>
      </vt:variant>
      <vt:variant>
        <vt:i4>1</vt:i4>
      </vt:variant>
      <vt:variant>
        <vt:lpstr>Slide Titles</vt:lpstr>
      </vt:variant>
      <vt:variant>
        <vt:i4>49</vt:i4>
      </vt:variant>
    </vt:vector>
  </HeadingPairs>
  <TitlesOfParts>
    <vt:vector size="50" baseType="lpstr">
      <vt:lpstr>office theme</vt:lpstr>
      <vt:lpstr>Central tendency and measures of spread</vt:lpstr>
      <vt:lpstr>Descriptive versus inferential statistics</vt:lpstr>
      <vt:lpstr>Descriptive statistics in jamovi</vt:lpstr>
      <vt:lpstr>Descriptive statistics</vt:lpstr>
      <vt:lpstr>Descriptive statistics: Central tendency</vt:lpstr>
      <vt:lpstr>Arithmetic mean</vt:lpstr>
      <vt:lpstr>Calculating the mean of 7 temperatures °C</vt:lpstr>
      <vt:lpstr>Arithmetic mean visualisation (histogram)</vt:lpstr>
      <vt:lpstr>General formula for arithmetic mean</vt:lpstr>
      <vt:lpstr>General formula for arithmetic mean</vt:lpstr>
      <vt:lpstr>The mode</vt:lpstr>
      <vt:lpstr>Visualising the mode</vt:lpstr>
      <vt:lpstr>The median</vt:lpstr>
      <vt:lpstr>The median</vt:lpstr>
      <vt:lpstr>The median</vt:lpstr>
      <vt:lpstr>The median</vt:lpstr>
      <vt:lpstr>The median</vt:lpstr>
      <vt:lpstr>Median more robust to outliers</vt:lpstr>
      <vt:lpstr>Measures of spread</vt:lpstr>
      <vt:lpstr>Measures of spread</vt:lpstr>
      <vt:lpstr>Measures of spread</vt:lpstr>
      <vt:lpstr>Measures of spread: Range</vt:lpstr>
      <vt:lpstr>Measures of spread: Range</vt:lpstr>
      <vt:lpstr>Measures of spread: Variance (s2)</vt:lpstr>
      <vt:lpstr>Measures of spread: Variance (s2)</vt:lpstr>
      <vt:lpstr>Measures of spread: Variance (s2)</vt:lpstr>
      <vt:lpstr>Measures of spread: Standard deviation (s)</vt:lpstr>
      <vt:lpstr>Arithmetic mean visualisation (histogram)</vt:lpstr>
      <vt:lpstr>Standard deviation of the mean</vt:lpstr>
      <vt:lpstr>Coefficient of variation (CV)</vt:lpstr>
      <vt:lpstr>Coefficient of variation (CV)</vt:lpstr>
      <vt:lpstr>Descriptive statistics: Skew and Kurtosis</vt:lpstr>
      <vt:lpstr>Skew is the asymmetry of a distribution</vt:lpstr>
      <vt:lpstr>Kurtosis is the flattness of a distribution</vt:lpstr>
      <vt:lpstr>Statistical moments</vt:lpstr>
      <vt:lpstr>Descriptive statistics in jamovi</vt:lpstr>
      <vt:lpstr>General idea of frequency statistics</vt:lpstr>
      <vt:lpstr>General idea of frequency statistics</vt:lpstr>
      <vt:lpstr>General idea of frequency statistics</vt:lpstr>
      <vt:lpstr>The standard error: Sample means and population mean</vt:lpstr>
      <vt:lpstr>The standard error: Sample means and population mean</vt:lpstr>
      <vt:lpstr>The standard error: Sample means and population mean</vt:lpstr>
      <vt:lpstr>The standard error: Estimation</vt:lpstr>
      <vt:lpstr>The standard error: Sample means and population mean</vt:lpstr>
      <vt:lpstr>The standard error: Sample means and population mean</vt:lpstr>
      <vt:lpstr>The standard error: Sample means and population mean</vt:lpstr>
      <vt:lpstr>The standard error</vt:lpstr>
      <vt:lpstr>The standard error</vt:lpstr>
      <vt:lpstr>The standard error in jamovi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1736</cp:revision>
  <dcterms:created xsi:type="dcterms:W3CDTF">2023-01-20T14:04:15Z</dcterms:created>
  <dcterms:modified xsi:type="dcterms:W3CDTF">2026-04-18T16:30:14Z</dcterms:modified>
</cp:coreProperties>
</file>