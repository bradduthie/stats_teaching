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6" r:id="rId3"/>
    <p:sldId id="295" r:id="rId4"/>
    <p:sldId id="296" r:id="rId5"/>
    <p:sldId id="294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5" r:id="rId14"/>
    <p:sldId id="304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292" r:id="rId35"/>
    <p:sldId id="325" r:id="rId36"/>
    <p:sldId id="326" r:id="rId37"/>
    <p:sldId id="32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DF5BB4-3FD7-6838-FA7D-EE6784139E69}" v="3" dt="2026-04-18T16:27:22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d Duthie" userId="S::ad78@stir.ac.uk::91f2dfe8-4ab1-472c-bdc2-755eae2f61cc" providerId="AD" clId="Web-{D4DF5BB4-3FD7-6838-FA7D-EE6784139E69}"/>
    <pc:docChg chg="modSld">
      <pc:chgData name="Brad Duthie" userId="S::ad78@stir.ac.uk::91f2dfe8-4ab1-472c-bdc2-755eae2f61cc" providerId="AD" clId="Web-{D4DF5BB4-3FD7-6838-FA7D-EE6784139E69}" dt="2026-04-18T16:27:22.831" v="2"/>
      <pc:docMkLst>
        <pc:docMk/>
      </pc:docMkLst>
      <pc:sldChg chg="addSp delSp modSp">
        <pc:chgData name="Brad Duthie" userId="S::ad78@stir.ac.uk::91f2dfe8-4ab1-472c-bdc2-755eae2f61cc" providerId="AD" clId="Web-{D4DF5BB4-3FD7-6838-FA7D-EE6784139E69}" dt="2026-04-18T16:27:22.831" v="2"/>
        <pc:sldMkLst>
          <pc:docMk/>
          <pc:sldMk cId="109857222" sldId="256"/>
        </pc:sldMkLst>
        <pc:spChg chg="mod">
          <ac:chgData name="Brad Duthie" userId="S::ad78@stir.ac.uk::91f2dfe8-4ab1-472c-bdc2-755eae2f61cc" providerId="AD" clId="Web-{D4DF5BB4-3FD7-6838-FA7D-EE6784139E69}" dt="2026-04-18T16:27:17.143" v="0" actId="20577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Brad Duthie" userId="S::ad78@stir.ac.uk::91f2dfe8-4ab1-472c-bdc2-755eae2f61cc" providerId="AD" clId="Web-{D4DF5BB4-3FD7-6838-FA7D-EE6784139E69}" dt="2026-04-18T16:27:19.846" v="1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Brad Duthie" userId="S::ad78@stir.ac.uk::91f2dfe8-4ab1-472c-bdc2-755eae2f61cc" providerId="AD" clId="Web-{D4DF5BB4-3FD7-6838-FA7D-EE6784139E69}" dt="2026-04-18T16:27:22.831" v="2"/>
          <ac:spMkLst>
            <pc:docMk/>
            <pc:sldMk cId="109857222" sldId="256"/>
            <ac:spMk id="5" creationId="{4DA1969E-1A8B-DA10-8080-928BCE630A5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bradduthie.github.io/stats/app/build_histogra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f2-FDS/fds-visualisation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Misleading_Pie_Chart.png" TargetMode="External"/><Relationship Id="rId2" Type="http://schemas.openxmlformats.org/officeDocument/2006/relationships/hyperlink" Target="https://github.com/Inf2-FDS/fds-visualisa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2-FDS/fds-visualisation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f2-FDS/fds-visualisa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567" y="1122363"/>
            <a:ext cx="10035395" cy="2301337"/>
          </a:xfrm>
        </p:spPr>
        <p:txBody>
          <a:bodyPr/>
          <a:lstStyle/>
          <a:p>
            <a:r>
              <a:rPr lang="en-US">
                <a:cs typeface="Calibri Light"/>
              </a:rPr>
              <a:t>Decimals, significant </a:t>
            </a:r>
            <a:r>
              <a:rPr lang="en-US" dirty="0">
                <a:cs typeface="Calibri Light"/>
              </a:rPr>
              <a:t>figures, and plots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548E0-1B90-456B-E73A-69E0C2922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75AE-2443-3373-B47D-6BF6FBEF2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Decimal places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4AAE3-E744-FB91-2C55-92F85FE3D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Digits after the decimal point (including 0s)</a:t>
            </a:r>
          </a:p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Value: </a:t>
            </a:r>
            <a:r>
              <a:rPr lang="en-US" sz="5400" b="1" dirty="0">
                <a:ea typeface="Calibri"/>
                <a:cs typeface="Calibri"/>
              </a:rPr>
              <a:t>1.23041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5 Decimals: 1.23041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4 Decimals: 1.2304</a:t>
            </a:r>
            <a:endParaRPr lang="en-US" dirty="0">
              <a:ea typeface="Calibri"/>
              <a:cs typeface="Calibri"/>
            </a:endParaRP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3 Decimals: 1.230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2 Decimals: 1.23</a:t>
            </a:r>
            <a:endParaRPr lang="en-US" dirty="0">
              <a:ea typeface="Calibri"/>
              <a:cs typeface="Calibri"/>
            </a:endParaRP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1 Decimals: 1.2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2980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6791A-729B-A539-D600-3538D42DF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C7EEA-22B2-04EF-057B-126DEA63A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Decimal places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920DB-ABC5-19F0-C258-4DB330EE4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Digits after the decimal point (including 0s)</a:t>
            </a:r>
          </a:p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Value: </a:t>
            </a:r>
            <a:r>
              <a:rPr lang="en-US" sz="5400" b="1" dirty="0">
                <a:ea typeface="Calibri"/>
                <a:cs typeface="Calibri"/>
              </a:rPr>
              <a:t>1430.02021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5 Decimals: 1430.02021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4 Decimals: 1430.0202</a:t>
            </a:r>
            <a:endParaRPr lang="en-US" dirty="0">
              <a:ea typeface="Calibri"/>
              <a:cs typeface="Calibri"/>
            </a:endParaRP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3 Decimals: 1430.020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2 Decimals: 1430.02</a:t>
            </a:r>
            <a:endParaRPr lang="en-US" dirty="0">
              <a:ea typeface="Calibri"/>
              <a:cs typeface="Calibri"/>
            </a:endParaRP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1 Decimals: 1430.0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85156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52801-21C1-891D-A0A5-11E0CF31A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D91A7-5011-24FC-17E9-DB5EC4145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Significant figures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34DAD-1CA5-E460-4254-4E26F313A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685800" indent="-685800"/>
            <a:r>
              <a:rPr lang="en-US" sz="5400" b="1" dirty="0">
                <a:ea typeface="Calibri"/>
                <a:cs typeface="Calibri"/>
              </a:rPr>
              <a:t>All </a:t>
            </a:r>
            <a:r>
              <a:rPr lang="en-US" sz="5400" dirty="0">
                <a:ea typeface="Calibri"/>
                <a:cs typeface="Calibri"/>
              </a:rPr>
              <a:t>digits of a number</a:t>
            </a:r>
            <a:endParaRPr lang="en-US" dirty="0">
              <a:ea typeface="Calibri"/>
              <a:cs typeface="Calibri"/>
            </a:endParaRP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Initial 0s don't count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Other 0s do count</a:t>
            </a:r>
          </a:p>
          <a:p>
            <a:pPr marL="685800" indent="-685800"/>
            <a:endParaRPr lang="en-US" sz="5400" dirty="0">
              <a:ea typeface="Calibri"/>
              <a:cs typeface="Calibri"/>
            </a:endParaRP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21.341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0.032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0.010230</a:t>
            </a:r>
          </a:p>
        </p:txBody>
      </p:sp>
    </p:spTree>
    <p:extLst>
      <p:ext uri="{BB962C8B-B14F-4D97-AF65-F5344CB8AC3E}">
        <p14:creationId xmlns:p14="http://schemas.microsoft.com/office/powerpoint/2010/main" val="100062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FFBC4-3A7D-AC9D-2683-E88575A45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A4ADD-77F5-38C1-A6F8-AAD8D8FDA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Significant figures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E6620-D0A1-21FE-BF6A-B1D2A0190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Digits needed to infer the accuracy of a value</a:t>
            </a:r>
            <a:r>
              <a:rPr lang="en-US" sz="5400" baseline="30000" dirty="0">
                <a:ea typeface="Calibri"/>
                <a:cs typeface="Calibri"/>
              </a:rPr>
              <a:t>1</a:t>
            </a:r>
            <a:endParaRPr lang="en-US" baseline="30000" dirty="0"/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240.23432 implies more accuracy than 240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1.324 implies more accuracy than 1.3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04459-8C81-5EFE-98B0-8F5F9C558034}"/>
              </a:ext>
            </a:extLst>
          </p:cNvPr>
          <p:cNvSpPr txBox="1"/>
          <p:nvPr/>
        </p:nvSpPr>
        <p:spPr>
          <a:xfrm>
            <a:off x="306912" y="5993667"/>
            <a:ext cx="1157089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ea typeface="+mn-lt"/>
                <a:cs typeface="+mn-lt"/>
              </a:rPr>
              <a:t>Rahman, N A. 1968. A Course in Theoretical Statistics. Charles Griffin &amp; Company, London.</a:t>
            </a:r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8589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6B1AC-D5BA-5EDD-F2F6-C1D282E19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59CA8-C763-3ECB-70C0-C8297EC7C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Significant figures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62F41-830E-8B70-4EFD-D9A731A3B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685800" indent="-685800"/>
            <a:r>
              <a:rPr lang="en-US" sz="5400" b="1" dirty="0">
                <a:ea typeface="Calibri"/>
                <a:cs typeface="Calibri"/>
              </a:rPr>
              <a:t>All </a:t>
            </a:r>
            <a:r>
              <a:rPr lang="en-US" sz="5400" dirty="0">
                <a:ea typeface="Calibri"/>
                <a:cs typeface="Calibri"/>
              </a:rPr>
              <a:t>digits of a number</a:t>
            </a:r>
            <a:endParaRPr lang="en-US" dirty="0">
              <a:ea typeface="Calibri"/>
              <a:cs typeface="Calibri"/>
            </a:endParaRP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Initial 0s don't count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Other 0s do count</a:t>
            </a:r>
          </a:p>
          <a:p>
            <a:pPr marL="685800" indent="-685800"/>
            <a:endParaRPr lang="en-US" sz="5400" dirty="0">
              <a:ea typeface="Calibri"/>
              <a:cs typeface="Calibri"/>
            </a:endParaRP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0.32400</a:t>
            </a:r>
            <a:endParaRPr lang="en-US" dirty="0">
              <a:ea typeface="Calibri"/>
              <a:cs typeface="Calibri"/>
            </a:endParaRP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0.00031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2000</a:t>
            </a:r>
          </a:p>
        </p:txBody>
      </p:sp>
    </p:spTree>
    <p:extLst>
      <p:ext uri="{BB962C8B-B14F-4D97-AF65-F5344CB8AC3E}">
        <p14:creationId xmlns:p14="http://schemas.microsoft.com/office/powerpoint/2010/main" val="573079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7F136-044D-5CC2-1658-340DA060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950B0-4A7E-8961-2FA6-F0CE792D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Rounding to specific digits or significant figures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4CA22-1EAC-65E4-94AB-595305AE0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5400" b="1" dirty="0">
                <a:ea typeface="Calibri"/>
                <a:cs typeface="Calibri"/>
              </a:rPr>
              <a:t>Rules for rounding:</a:t>
            </a:r>
            <a:endParaRPr lang="en-US" b="1" dirty="0">
              <a:ea typeface="Calibri"/>
              <a:cs typeface="Calibri"/>
            </a:endParaRPr>
          </a:p>
          <a:p>
            <a:r>
              <a:rPr lang="en-US" sz="5400">
                <a:ea typeface="Calibri"/>
                <a:cs typeface="Calibri"/>
              </a:rPr>
              <a:t>Round based on digit to the right</a:t>
            </a:r>
          </a:p>
          <a:p>
            <a:r>
              <a:rPr lang="en-US" sz="5400">
                <a:ea typeface="Calibri"/>
                <a:cs typeface="Calibri"/>
              </a:rPr>
              <a:t>If digit is [0, 1, 2, 3, 4] round down</a:t>
            </a:r>
            <a:endParaRPr lang="en-US" sz="5400" dirty="0">
              <a:ea typeface="Calibri"/>
              <a:cs typeface="Calibri"/>
            </a:endParaRPr>
          </a:p>
          <a:p>
            <a:r>
              <a:rPr lang="en-US" sz="5400" dirty="0">
                <a:ea typeface="Calibri"/>
                <a:cs typeface="Calibri"/>
              </a:rPr>
              <a:t>If digit is [5, 6, 7, 8, 9] round up</a:t>
            </a:r>
          </a:p>
          <a:p>
            <a:r>
              <a:rPr lang="en-US" sz="5400" dirty="0">
                <a:ea typeface="Calibri"/>
                <a:cs typeface="Calibri"/>
              </a:rPr>
              <a:t>Round </a:t>
            </a:r>
            <a:r>
              <a:rPr lang="en-US" sz="5400">
                <a:ea typeface="Calibri"/>
                <a:cs typeface="Calibri"/>
              </a:rPr>
              <a:t>down keeps digit the same</a:t>
            </a:r>
            <a:endParaRPr lang="en-US" sz="5400" dirty="0">
              <a:ea typeface="Calibri"/>
              <a:cs typeface="Calibri"/>
            </a:endParaRPr>
          </a:p>
          <a:p>
            <a:r>
              <a:rPr lang="en-US" sz="5400">
                <a:ea typeface="Calibri"/>
                <a:cs typeface="Calibri"/>
              </a:rPr>
              <a:t>Rounding up increases digit by 1</a:t>
            </a:r>
          </a:p>
          <a:p>
            <a:pPr marL="0" indent="0">
              <a:buNone/>
            </a:pPr>
            <a:r>
              <a:rPr lang="en-US" sz="5400" b="1">
                <a:ea typeface="Calibri"/>
                <a:cs typeface="Calibri"/>
              </a:rPr>
              <a:t>Round 0.1234 to 3 decimal places</a:t>
            </a:r>
          </a:p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0.1234 -&gt; 0.123</a:t>
            </a:r>
          </a:p>
        </p:txBody>
      </p:sp>
    </p:spTree>
    <p:extLst>
      <p:ext uri="{BB962C8B-B14F-4D97-AF65-F5344CB8AC3E}">
        <p14:creationId xmlns:p14="http://schemas.microsoft.com/office/powerpoint/2010/main" val="2132215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C8FDD-2C4E-52D1-36D6-131B71113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D64CE-8D10-74F0-FD93-1E9734037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Rounding to specific digits or significant figures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A83A4-9E08-3681-3A93-A0D46EA43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5400" b="1" dirty="0">
                <a:ea typeface="Calibri"/>
                <a:cs typeface="Calibri"/>
              </a:rPr>
              <a:t>Rules for rounding:</a:t>
            </a:r>
            <a:endParaRPr lang="en-US" b="1" dirty="0">
              <a:ea typeface="Calibri"/>
              <a:cs typeface="Calibri"/>
            </a:endParaRPr>
          </a:p>
          <a:p>
            <a:r>
              <a:rPr lang="en-US" sz="5400" dirty="0">
                <a:ea typeface="Calibri"/>
                <a:cs typeface="Calibri"/>
              </a:rPr>
              <a:t>Round based on digit to the right</a:t>
            </a:r>
          </a:p>
          <a:p>
            <a:r>
              <a:rPr lang="en-US" sz="5400" dirty="0">
                <a:ea typeface="Calibri"/>
                <a:cs typeface="Calibri"/>
              </a:rPr>
              <a:t>If digit is [0, 1, 2, 3, 4] round down</a:t>
            </a:r>
          </a:p>
          <a:p>
            <a:r>
              <a:rPr lang="en-US" sz="5400" dirty="0">
                <a:ea typeface="Calibri"/>
                <a:cs typeface="Calibri"/>
              </a:rPr>
              <a:t>If digit is [5, 6, 7, 8, 9] round up</a:t>
            </a:r>
          </a:p>
          <a:p>
            <a:r>
              <a:rPr lang="en-US" sz="5400" dirty="0">
                <a:ea typeface="Calibri"/>
                <a:cs typeface="Calibri"/>
              </a:rPr>
              <a:t>Round down keeps digit the same</a:t>
            </a:r>
          </a:p>
          <a:p>
            <a:r>
              <a:rPr lang="en-US" sz="5400" dirty="0">
                <a:ea typeface="Calibri"/>
                <a:cs typeface="Calibri"/>
              </a:rPr>
              <a:t>Rounding up increases digit by 1</a:t>
            </a:r>
          </a:p>
          <a:p>
            <a:pPr marL="0" indent="0">
              <a:buNone/>
            </a:pPr>
            <a:r>
              <a:rPr lang="en-US" sz="5400" b="1" dirty="0">
                <a:ea typeface="Calibri"/>
                <a:cs typeface="Calibri"/>
              </a:rPr>
              <a:t>Round 0.1235 to 3 decimal places</a:t>
            </a:r>
          </a:p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0.1235 -&gt; 0.124</a:t>
            </a:r>
          </a:p>
        </p:txBody>
      </p:sp>
    </p:spTree>
    <p:extLst>
      <p:ext uri="{BB962C8B-B14F-4D97-AF65-F5344CB8AC3E}">
        <p14:creationId xmlns:p14="http://schemas.microsoft.com/office/powerpoint/2010/main" val="3314995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E5546-4D22-A034-FED3-F6D454BB7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B365-6B5A-05B8-80FD-9FF462677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Rounding to specific digits or significant figures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D3F43-5B0E-B950-C3B8-6F391B581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5400" b="1" dirty="0">
                <a:ea typeface="Calibri"/>
                <a:cs typeface="Calibri"/>
              </a:rPr>
              <a:t>Rules for rounding:</a:t>
            </a:r>
            <a:endParaRPr lang="en-US" b="1" dirty="0">
              <a:ea typeface="Calibri"/>
              <a:cs typeface="Calibri"/>
            </a:endParaRPr>
          </a:p>
          <a:p>
            <a:r>
              <a:rPr lang="en-US" sz="5400" dirty="0">
                <a:ea typeface="Calibri"/>
                <a:cs typeface="Calibri"/>
              </a:rPr>
              <a:t>Round based on digit to the right</a:t>
            </a:r>
          </a:p>
          <a:p>
            <a:r>
              <a:rPr lang="en-US" sz="5400" dirty="0">
                <a:ea typeface="Calibri"/>
                <a:cs typeface="Calibri"/>
              </a:rPr>
              <a:t>If digit is [0, 1, 2, 3, 4] round down</a:t>
            </a:r>
          </a:p>
          <a:p>
            <a:r>
              <a:rPr lang="en-US" sz="5400" dirty="0">
                <a:ea typeface="Calibri"/>
                <a:cs typeface="Calibri"/>
              </a:rPr>
              <a:t>If digit is [5, 6, 7, 8, 9] round up</a:t>
            </a:r>
          </a:p>
          <a:p>
            <a:r>
              <a:rPr lang="en-US" sz="5400" dirty="0">
                <a:ea typeface="Calibri"/>
                <a:cs typeface="Calibri"/>
              </a:rPr>
              <a:t>Round down keeps digit the same</a:t>
            </a:r>
          </a:p>
          <a:p>
            <a:r>
              <a:rPr lang="en-US" sz="5400" dirty="0">
                <a:ea typeface="Calibri"/>
                <a:cs typeface="Calibri"/>
              </a:rPr>
              <a:t>Rounding up increases digit by 1</a:t>
            </a:r>
          </a:p>
          <a:p>
            <a:pPr marL="0" indent="0">
              <a:buNone/>
            </a:pPr>
            <a:r>
              <a:rPr lang="en-US" sz="5400" b="1" dirty="0">
                <a:ea typeface="Calibri"/>
                <a:cs typeface="Calibri"/>
              </a:rPr>
              <a:t>Round 3.184 to 3 significant figures</a:t>
            </a:r>
          </a:p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3.184 -&gt; 3.18</a:t>
            </a:r>
          </a:p>
        </p:txBody>
      </p:sp>
    </p:spTree>
    <p:extLst>
      <p:ext uri="{BB962C8B-B14F-4D97-AF65-F5344CB8AC3E}">
        <p14:creationId xmlns:p14="http://schemas.microsoft.com/office/powerpoint/2010/main" val="888232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25E3D-1E02-0498-30BB-BD0A30769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12C15-879C-D710-BE20-8EAEA42E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Rounding to specific digits or significant figures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1B8C8-0F0A-69CD-F06F-4BC568F1F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5400" b="1" dirty="0">
                <a:ea typeface="Calibri"/>
                <a:cs typeface="Calibri"/>
              </a:rPr>
              <a:t>Rules for rounding:</a:t>
            </a:r>
            <a:endParaRPr lang="en-US" b="1" dirty="0">
              <a:ea typeface="Calibri"/>
              <a:cs typeface="Calibri"/>
            </a:endParaRPr>
          </a:p>
          <a:p>
            <a:r>
              <a:rPr lang="en-US" sz="5400" dirty="0">
                <a:ea typeface="Calibri"/>
                <a:cs typeface="Calibri"/>
              </a:rPr>
              <a:t>Round based on digit to the right</a:t>
            </a:r>
          </a:p>
          <a:p>
            <a:r>
              <a:rPr lang="en-US" sz="5400" dirty="0">
                <a:ea typeface="Calibri"/>
                <a:cs typeface="Calibri"/>
              </a:rPr>
              <a:t>If digit is [0, 1, 2, 3, 4] round down</a:t>
            </a:r>
          </a:p>
          <a:p>
            <a:r>
              <a:rPr lang="en-US" sz="5400" dirty="0">
                <a:ea typeface="Calibri"/>
                <a:cs typeface="Calibri"/>
              </a:rPr>
              <a:t>If digit is [5, 6, 7, 8, 9] round up</a:t>
            </a:r>
          </a:p>
          <a:p>
            <a:r>
              <a:rPr lang="en-US" sz="5400" dirty="0">
                <a:ea typeface="Calibri"/>
                <a:cs typeface="Calibri"/>
              </a:rPr>
              <a:t>Round down keeps digit the same</a:t>
            </a:r>
          </a:p>
          <a:p>
            <a:r>
              <a:rPr lang="en-US" sz="5400" dirty="0">
                <a:ea typeface="Calibri"/>
                <a:cs typeface="Calibri"/>
              </a:rPr>
              <a:t>Rounding up increases digit by 1</a:t>
            </a:r>
          </a:p>
          <a:p>
            <a:pPr marL="0" indent="0">
              <a:buNone/>
            </a:pPr>
            <a:r>
              <a:rPr lang="en-US" sz="5400" b="1" dirty="0">
                <a:ea typeface="Calibri"/>
                <a:cs typeface="Calibri"/>
              </a:rPr>
              <a:t>Round 3.185 to 3 significant figures</a:t>
            </a:r>
          </a:p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3.185 -&gt; 3.19</a:t>
            </a:r>
          </a:p>
        </p:txBody>
      </p:sp>
    </p:spTree>
    <p:extLst>
      <p:ext uri="{BB962C8B-B14F-4D97-AF65-F5344CB8AC3E}">
        <p14:creationId xmlns:p14="http://schemas.microsoft.com/office/powerpoint/2010/main" val="1353962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740D5-81F2-0CD1-609F-0E696EEC7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34F5-B46C-57AE-7E09-BF7EEC167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Rounding to specific digits or significant figures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600E6-C2C5-2854-9F45-4F3949D50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5400" b="1" dirty="0">
                <a:ea typeface="Calibri"/>
                <a:cs typeface="Calibri"/>
              </a:rPr>
              <a:t>Rules for rounding:</a:t>
            </a:r>
            <a:endParaRPr lang="en-US" b="1" dirty="0">
              <a:ea typeface="Calibri"/>
              <a:cs typeface="Calibri"/>
            </a:endParaRPr>
          </a:p>
          <a:p>
            <a:r>
              <a:rPr lang="en-US" sz="5400" dirty="0">
                <a:ea typeface="Calibri"/>
                <a:cs typeface="Calibri"/>
              </a:rPr>
              <a:t>Round based on digit to the right</a:t>
            </a:r>
          </a:p>
          <a:p>
            <a:r>
              <a:rPr lang="en-US" sz="5400" dirty="0">
                <a:ea typeface="Calibri"/>
                <a:cs typeface="Calibri"/>
              </a:rPr>
              <a:t>If digit is [0, 1, 2, 3, 4] round down</a:t>
            </a:r>
          </a:p>
          <a:p>
            <a:r>
              <a:rPr lang="en-US" sz="5400" dirty="0">
                <a:ea typeface="Calibri"/>
                <a:cs typeface="Calibri"/>
              </a:rPr>
              <a:t>If digit is [5, 6, 7, 8, 9] round up</a:t>
            </a:r>
          </a:p>
          <a:p>
            <a:r>
              <a:rPr lang="en-US" sz="5400" dirty="0">
                <a:ea typeface="Calibri"/>
                <a:cs typeface="Calibri"/>
              </a:rPr>
              <a:t>Round down keeps digit the same</a:t>
            </a:r>
          </a:p>
          <a:p>
            <a:r>
              <a:rPr lang="en-US" sz="5400" dirty="0">
                <a:ea typeface="Calibri"/>
                <a:cs typeface="Calibri"/>
              </a:rPr>
              <a:t>Rounding up increases digit by 1</a:t>
            </a:r>
          </a:p>
          <a:p>
            <a:pPr marL="0" indent="0">
              <a:buNone/>
            </a:pPr>
            <a:r>
              <a:rPr lang="en-US" sz="5400" b="1" dirty="0">
                <a:ea typeface="Calibri"/>
                <a:cs typeface="Calibri"/>
              </a:rPr>
              <a:t>Round 3.195 to 3 significant figures</a:t>
            </a:r>
          </a:p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3.195 -&gt; 3.20</a:t>
            </a:r>
          </a:p>
        </p:txBody>
      </p:sp>
    </p:spTree>
    <p:extLst>
      <p:ext uri="{BB962C8B-B14F-4D97-AF65-F5344CB8AC3E}">
        <p14:creationId xmlns:p14="http://schemas.microsoft.com/office/powerpoint/2010/main" val="2574919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97776-AE95-7443-45A7-7C89D4143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8FF69-3250-BF15-94E5-9667462D6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Rounding to specific digits or significant figures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65A69-8464-FEF0-1D56-4470E2113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5400" b="1" dirty="0">
                <a:ea typeface="Calibri"/>
                <a:cs typeface="Calibri"/>
              </a:rPr>
              <a:t>Rules for rounding:</a:t>
            </a:r>
            <a:endParaRPr lang="en-US" b="1" dirty="0">
              <a:ea typeface="Calibri"/>
              <a:cs typeface="Calibri"/>
            </a:endParaRPr>
          </a:p>
          <a:p>
            <a:r>
              <a:rPr lang="en-US" sz="5400" dirty="0">
                <a:ea typeface="Calibri"/>
                <a:cs typeface="Calibri"/>
              </a:rPr>
              <a:t>Round based on digit to the right</a:t>
            </a:r>
          </a:p>
          <a:p>
            <a:r>
              <a:rPr lang="en-US" sz="5400" dirty="0">
                <a:ea typeface="Calibri"/>
                <a:cs typeface="Calibri"/>
              </a:rPr>
              <a:t>If digit is [0, 1, 2, 3, 4] round down</a:t>
            </a:r>
          </a:p>
          <a:p>
            <a:r>
              <a:rPr lang="en-US" sz="5400" dirty="0">
                <a:ea typeface="Calibri"/>
                <a:cs typeface="Calibri"/>
              </a:rPr>
              <a:t>If digit is [5, 6, 7, 8, 9] round up</a:t>
            </a:r>
          </a:p>
          <a:p>
            <a:r>
              <a:rPr lang="en-US" sz="5400" dirty="0">
                <a:ea typeface="Calibri"/>
                <a:cs typeface="Calibri"/>
              </a:rPr>
              <a:t>Round down keeps digit the same</a:t>
            </a:r>
          </a:p>
          <a:p>
            <a:r>
              <a:rPr lang="en-US" sz="5400" dirty="0">
                <a:ea typeface="Calibri"/>
                <a:cs typeface="Calibri"/>
              </a:rPr>
              <a:t>Rounding up increases digit by 1</a:t>
            </a:r>
          </a:p>
          <a:p>
            <a:pPr marL="0" indent="0">
              <a:buNone/>
            </a:pPr>
            <a:r>
              <a:rPr lang="en-US" sz="5400" b="1" dirty="0">
                <a:ea typeface="Calibri"/>
                <a:cs typeface="Calibri"/>
              </a:rPr>
              <a:t>Round 12.9806 to 3 significant figures</a:t>
            </a:r>
          </a:p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12.9806 -&gt; 13.0</a:t>
            </a:r>
          </a:p>
        </p:txBody>
      </p:sp>
    </p:spTree>
    <p:extLst>
      <p:ext uri="{BB962C8B-B14F-4D97-AF65-F5344CB8AC3E}">
        <p14:creationId xmlns:p14="http://schemas.microsoft.com/office/powerpoint/2010/main" val="3551401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0D151-AB45-C15A-DE12-83AA6CB51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2719-ABFC-F25C-1EF0-6D669D595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Rounding to specific digits or significant figures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7948F-AAF3-D4E9-8E3C-871E7BAE1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5400" b="1" dirty="0">
                <a:ea typeface="Calibri"/>
                <a:cs typeface="Calibri"/>
              </a:rPr>
              <a:t>Rules for rounding:</a:t>
            </a:r>
            <a:endParaRPr lang="en-US" b="1" dirty="0">
              <a:ea typeface="Calibri"/>
              <a:cs typeface="Calibri"/>
            </a:endParaRPr>
          </a:p>
          <a:p>
            <a:r>
              <a:rPr lang="en-US" sz="5400" dirty="0">
                <a:ea typeface="Calibri"/>
                <a:cs typeface="Calibri"/>
              </a:rPr>
              <a:t>Round based on digit to the right</a:t>
            </a:r>
          </a:p>
          <a:p>
            <a:r>
              <a:rPr lang="en-US" sz="5400" dirty="0">
                <a:ea typeface="Calibri"/>
                <a:cs typeface="Calibri"/>
              </a:rPr>
              <a:t>If digit is [0, 1, 2, 3, 4] round down</a:t>
            </a:r>
          </a:p>
          <a:p>
            <a:r>
              <a:rPr lang="en-US" sz="5400" dirty="0">
                <a:ea typeface="Calibri"/>
                <a:cs typeface="Calibri"/>
              </a:rPr>
              <a:t>If digit is [5, 6, 7, 8, 9] round up</a:t>
            </a:r>
          </a:p>
          <a:p>
            <a:r>
              <a:rPr lang="en-US" sz="5400" dirty="0">
                <a:ea typeface="Calibri"/>
                <a:cs typeface="Calibri"/>
              </a:rPr>
              <a:t>Round down keeps digit the same</a:t>
            </a:r>
          </a:p>
          <a:p>
            <a:r>
              <a:rPr lang="en-US" sz="5400" dirty="0">
                <a:ea typeface="Calibri"/>
                <a:cs typeface="Calibri"/>
              </a:rPr>
              <a:t>Rounding up increases digit by 1</a:t>
            </a:r>
          </a:p>
          <a:p>
            <a:pPr marL="0" indent="0">
              <a:buNone/>
            </a:pPr>
            <a:r>
              <a:rPr lang="en-US" sz="5400" b="1" dirty="0">
                <a:ea typeface="Calibri"/>
                <a:cs typeface="Calibri"/>
              </a:rPr>
              <a:t>Round 12.9806 to 1 significant figure</a:t>
            </a:r>
          </a:p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12.9806 -&gt; 10</a:t>
            </a:r>
          </a:p>
        </p:txBody>
      </p:sp>
    </p:spTree>
    <p:extLst>
      <p:ext uri="{BB962C8B-B14F-4D97-AF65-F5344CB8AC3E}">
        <p14:creationId xmlns:p14="http://schemas.microsoft.com/office/powerpoint/2010/main" val="3703293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CE4C0-5D20-7222-9B07-D55F1469F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46D8E-3FE7-953F-D9F3-5F477295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Rounding to specific digits or significant figures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198C4-83AA-AE35-CD09-A23E97E68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5400" b="1" dirty="0">
                <a:ea typeface="Calibri"/>
                <a:cs typeface="Calibri"/>
              </a:rPr>
              <a:t>Rules for rounding:</a:t>
            </a:r>
            <a:endParaRPr lang="en-US" b="1" dirty="0">
              <a:ea typeface="Calibri"/>
              <a:cs typeface="Calibri"/>
            </a:endParaRPr>
          </a:p>
          <a:p>
            <a:r>
              <a:rPr lang="en-US" sz="5400" dirty="0">
                <a:ea typeface="Calibri"/>
                <a:cs typeface="Calibri"/>
              </a:rPr>
              <a:t>Round based on digit to the right</a:t>
            </a:r>
          </a:p>
          <a:p>
            <a:r>
              <a:rPr lang="en-US" sz="5400" dirty="0">
                <a:ea typeface="Calibri"/>
                <a:cs typeface="Calibri"/>
              </a:rPr>
              <a:t>If digit is [0, 1, 2, 3, 4] round down</a:t>
            </a:r>
          </a:p>
          <a:p>
            <a:r>
              <a:rPr lang="en-US" sz="5400" dirty="0">
                <a:ea typeface="Calibri"/>
                <a:cs typeface="Calibri"/>
              </a:rPr>
              <a:t>If digit is [5, 6, 7, 8, 9] round up</a:t>
            </a:r>
          </a:p>
          <a:p>
            <a:r>
              <a:rPr lang="en-US" sz="5400" dirty="0">
                <a:ea typeface="Calibri"/>
                <a:cs typeface="Calibri"/>
              </a:rPr>
              <a:t>Round down keeps digit the same</a:t>
            </a:r>
          </a:p>
          <a:p>
            <a:r>
              <a:rPr lang="en-US" sz="5400" dirty="0">
                <a:ea typeface="Calibri"/>
                <a:cs typeface="Calibri"/>
              </a:rPr>
              <a:t>Rounding up increases digit by 1</a:t>
            </a:r>
          </a:p>
          <a:p>
            <a:pPr marL="0" indent="0">
              <a:buNone/>
            </a:pPr>
            <a:r>
              <a:rPr lang="en-US" sz="5400" b="1" dirty="0">
                <a:ea typeface="Calibri"/>
                <a:cs typeface="Calibri"/>
              </a:rPr>
              <a:t>Round 10.023 to 2 significant figures</a:t>
            </a:r>
          </a:p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10.023 -&gt; 10.</a:t>
            </a:r>
          </a:p>
        </p:txBody>
      </p:sp>
    </p:spTree>
    <p:extLst>
      <p:ext uri="{BB962C8B-B14F-4D97-AF65-F5344CB8AC3E}">
        <p14:creationId xmlns:p14="http://schemas.microsoft.com/office/powerpoint/2010/main" val="2974448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DF510-0479-AA62-7AB7-E0196FCAC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7B796-F172-279F-C586-497567448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Rounding to specific digits or significant figures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F1C29-3E8D-C7E4-E8EF-7BC83D23F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5400" b="1" dirty="0">
                <a:ea typeface="Calibri"/>
                <a:cs typeface="Calibri"/>
              </a:rPr>
              <a:t>2000 in significant figures</a:t>
            </a:r>
            <a:endParaRPr lang="en-US" sz="5400" dirty="0">
              <a:ea typeface="Calibri"/>
              <a:cs typeface="Calibri"/>
            </a:endParaRPr>
          </a:p>
          <a:p>
            <a:pPr marL="914400" indent="-914400">
              <a:buAutoNum type="arabicPeriod"/>
            </a:pPr>
            <a:r>
              <a:rPr lang="en-US" sz="5400" dirty="0">
                <a:ea typeface="Calibri"/>
                <a:cs typeface="Calibri"/>
              </a:rPr>
              <a:t>2 × 10</a:t>
            </a:r>
            <a:r>
              <a:rPr lang="en-US" sz="5400" baseline="30000" dirty="0">
                <a:ea typeface="Calibri"/>
                <a:cs typeface="Calibri"/>
              </a:rPr>
              <a:t>3</a:t>
            </a:r>
          </a:p>
          <a:p>
            <a:pPr marL="914400" indent="-914400">
              <a:buAutoNum type="arabicPeriod"/>
            </a:pPr>
            <a:r>
              <a:rPr lang="en-US" sz="5400">
                <a:ea typeface="Calibri"/>
                <a:cs typeface="Calibri"/>
              </a:rPr>
              <a:t>2.0 × 10</a:t>
            </a:r>
            <a:r>
              <a:rPr lang="en-US" sz="5400" baseline="30000" dirty="0">
                <a:ea typeface="Calibri"/>
                <a:cs typeface="Calibri"/>
              </a:rPr>
              <a:t>3</a:t>
            </a:r>
            <a:endParaRPr lang="en-US" baseline="30000" dirty="0">
              <a:ea typeface="Calibri"/>
              <a:cs typeface="Calibri"/>
            </a:endParaRPr>
          </a:p>
          <a:p>
            <a:pPr marL="914400" indent="-914400">
              <a:buAutoNum type="arabicPeriod"/>
            </a:pPr>
            <a:r>
              <a:rPr lang="en-US" sz="5400">
                <a:ea typeface="Calibri"/>
                <a:cs typeface="Calibri"/>
              </a:rPr>
              <a:t>2.00 × 10</a:t>
            </a:r>
            <a:r>
              <a:rPr lang="en-US" sz="5400" baseline="30000" dirty="0">
                <a:ea typeface="Calibri"/>
                <a:cs typeface="Calibri"/>
              </a:rPr>
              <a:t>3</a:t>
            </a:r>
            <a:endParaRPr lang="en-US" baseline="30000" dirty="0">
              <a:ea typeface="Calibri"/>
              <a:cs typeface="Calibri"/>
            </a:endParaRPr>
          </a:p>
          <a:p>
            <a:pPr marL="914400" indent="-914400">
              <a:buAutoNum type="arabicPeriod"/>
            </a:pPr>
            <a:r>
              <a:rPr lang="en-US" sz="5400">
                <a:ea typeface="Calibri"/>
                <a:cs typeface="Calibri"/>
              </a:rPr>
              <a:t>2.000 × 10</a:t>
            </a:r>
            <a:r>
              <a:rPr lang="en-US" sz="5400" baseline="30000" dirty="0">
                <a:ea typeface="Calibri"/>
                <a:cs typeface="Calibri"/>
              </a:rPr>
              <a:t>3</a:t>
            </a:r>
            <a:endParaRPr lang="en-US" baseline="30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7380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5B3BD-C124-3663-4530-E75BD037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1B786-8539-BBDE-D115-7E175A194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Data </a:t>
            </a:r>
            <a:r>
              <a:rPr lang="en-US" dirty="0" err="1">
                <a:cs typeface="Calibri Light"/>
              </a:rPr>
              <a:t>visualisation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19255-6285-51BD-580A-80526BE7E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685800" indent="-685800"/>
            <a:r>
              <a:rPr lang="en-US" sz="5400">
                <a:ea typeface="Calibri"/>
                <a:cs typeface="Calibri"/>
              </a:rPr>
              <a:t>Histograms</a:t>
            </a:r>
            <a:endParaRPr lang="en-US"/>
          </a:p>
          <a:p>
            <a:pPr marL="685800" indent="-685800"/>
            <a:r>
              <a:rPr lang="en-US" sz="5400" err="1">
                <a:ea typeface="Calibri"/>
                <a:cs typeface="Calibri"/>
              </a:rPr>
              <a:t>Barplots</a:t>
            </a:r>
            <a:endParaRPr lang="en-US" sz="5400" dirty="0" err="1">
              <a:ea typeface="Calibri"/>
              <a:cs typeface="Calibri"/>
            </a:endParaRPr>
          </a:p>
          <a:p>
            <a:pPr marL="685800" indent="-685800"/>
            <a:r>
              <a:rPr lang="en-US" sz="5400">
                <a:ea typeface="Calibri"/>
                <a:cs typeface="Calibri"/>
              </a:rPr>
              <a:t>Pie Charts</a:t>
            </a:r>
            <a:endParaRPr lang="en-US" sz="5400" dirty="0">
              <a:ea typeface="Calibri"/>
              <a:cs typeface="Calibri"/>
            </a:endParaRPr>
          </a:p>
          <a:p>
            <a:pPr marL="685800" indent="-685800"/>
            <a:r>
              <a:rPr lang="en-US" sz="5400">
                <a:ea typeface="Calibri"/>
                <a:cs typeface="Calibri"/>
              </a:rPr>
              <a:t>Box-whisker plots</a:t>
            </a:r>
            <a:endParaRPr lang="en-US" sz="5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2053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77561-AEFF-17C5-12B0-48FB0B40D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45CFA-4B2A-4A24-61D4-15979E77F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Histogram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79B29-BB47-08E1-73FF-85E7039F0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685800" indent="-685800"/>
            <a:r>
              <a:rPr lang="en-US" sz="5400" dirty="0">
                <a:ea typeface="Calibri"/>
                <a:cs typeface="Calibri"/>
              </a:rPr>
              <a:t>Important </a:t>
            </a:r>
            <a:r>
              <a:rPr lang="en-US" sz="5400" dirty="0" err="1">
                <a:ea typeface="Calibri"/>
                <a:cs typeface="Calibri"/>
              </a:rPr>
              <a:t>visualisation</a:t>
            </a:r>
            <a:r>
              <a:rPr lang="en-US" sz="5400" dirty="0">
                <a:ea typeface="Calibri"/>
                <a:cs typeface="Calibri"/>
              </a:rPr>
              <a:t> tool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Show </a:t>
            </a:r>
            <a:r>
              <a:rPr lang="en-US" sz="5400" b="1" dirty="0">
                <a:ea typeface="Calibri"/>
                <a:cs typeface="Calibri"/>
              </a:rPr>
              <a:t>distribution </a:t>
            </a:r>
            <a:r>
              <a:rPr lang="en-US" sz="5400" dirty="0">
                <a:ea typeface="Calibri"/>
                <a:cs typeface="Calibri"/>
              </a:rPr>
              <a:t>of </a:t>
            </a:r>
            <a:r>
              <a:rPr lang="en-US" sz="5400" i="1" dirty="0">
                <a:ea typeface="Calibri"/>
                <a:cs typeface="Calibri"/>
              </a:rPr>
              <a:t>continuous </a:t>
            </a:r>
            <a:r>
              <a:rPr lang="en-US" sz="5400" dirty="0">
                <a:ea typeface="Calibri"/>
                <a:cs typeface="Calibri"/>
              </a:rPr>
              <a:t>data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Need for statistical decision-making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How to </a:t>
            </a:r>
            <a:r>
              <a:rPr lang="en-US" sz="5400" dirty="0">
                <a:ea typeface="Calibri"/>
                <a:cs typeface="Calibri"/>
                <a:hlinkClick r:id="rId2"/>
              </a:rPr>
              <a:t>build a histogram</a:t>
            </a:r>
            <a:endParaRPr lang="en-US" sz="5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9128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ACB12-475B-C745-E79F-80E9B4960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F407B-0952-1FEC-B32B-F742FF204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Histogram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4DCD4-1083-41BF-B4FE-CB7A844DC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6304950"/>
            <a:ext cx="11780806" cy="55027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Figure 1: Fig fruit width (cm) using data from 78 fig fruits</a:t>
            </a:r>
            <a:endParaRPr lang="en-US" dirty="0"/>
          </a:p>
        </p:txBody>
      </p:sp>
      <p:pic>
        <p:nvPicPr>
          <p:cNvPr id="6" name="Picture 5" descr="A blue histogram of fig fruit widths with bin widths of 0.2.">
            <a:extLst>
              <a:ext uri="{FF2B5EF4-FFF2-40B4-BE49-F238E27FC236}">
                <a16:creationId xmlns:a16="http://schemas.microsoft.com/office/drawing/2014/main" id="{BED0281C-EDD0-CB21-FB6E-4243D8E49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349" y="201282"/>
            <a:ext cx="8954698" cy="573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81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9CBF0-4C4A-8940-CCEA-3868BB2D1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670E0-1DBD-C062-CA07-A1F0217E5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Histogram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FAE0F-C8F6-4D27-A07B-4668A9F1D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6304950"/>
            <a:ext cx="11780806" cy="55027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Figure 2: Fig fruit width (cm) using data from 78 fig fruits</a:t>
            </a:r>
            <a:endParaRPr lang="en-US" dirty="0"/>
          </a:p>
        </p:txBody>
      </p:sp>
      <p:pic>
        <p:nvPicPr>
          <p:cNvPr id="4" name="Picture 3" descr="A blue histogram of fig fruit widths with bin widths of 0.1.">
            <a:extLst>
              <a:ext uri="{FF2B5EF4-FFF2-40B4-BE49-F238E27FC236}">
                <a16:creationId xmlns:a16="http://schemas.microsoft.com/office/drawing/2014/main" id="{DBBB2D9E-9834-1657-B769-9F610B1BC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393" y="225380"/>
            <a:ext cx="8926567" cy="573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7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CD8F4-063D-91E5-07BA-AE90BEB0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54B22-F3FD-DF58-4AC0-75D3EA7AE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Histogram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B0365-9E2E-F560-6F48-7AFA153C7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6304950"/>
            <a:ext cx="11780806" cy="55027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Figure 3: Fig fruit width (cm) using data from 78 fig fruits</a:t>
            </a:r>
            <a:endParaRPr lang="en-US" dirty="0"/>
          </a:p>
        </p:txBody>
      </p:sp>
      <p:pic>
        <p:nvPicPr>
          <p:cNvPr id="5" name="Picture 4" descr="A blue histogram of fig fruit widths with uneven bin widths.">
            <a:extLst>
              <a:ext uri="{FF2B5EF4-FFF2-40B4-BE49-F238E27FC236}">
                <a16:creationId xmlns:a16="http://schemas.microsoft.com/office/drawing/2014/main" id="{1485AE0F-9D94-67EF-308B-6A1AEDAAB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973" y="150253"/>
            <a:ext cx="8886193" cy="590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58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B7500-911C-02AF-7D2B-BAD05E591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D6CE2-A3F9-EDBE-D8F5-4DD6BB55B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 err="1">
                <a:cs typeface="Calibri Light"/>
              </a:rPr>
              <a:t>Barplots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3BE02-385B-2C45-5F59-4D67DA624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err="1">
                <a:ea typeface="Calibri"/>
                <a:cs typeface="Calibri"/>
              </a:rPr>
              <a:t>Visualise</a:t>
            </a:r>
            <a:r>
              <a:rPr lang="en-US" sz="5400" dirty="0">
                <a:ea typeface="Calibri"/>
                <a:cs typeface="Calibri"/>
              </a:rPr>
              <a:t> </a:t>
            </a:r>
            <a:r>
              <a:rPr lang="en-US" sz="5400" i="1" dirty="0">
                <a:ea typeface="Calibri"/>
                <a:cs typeface="Calibri"/>
              </a:rPr>
              <a:t>categorical </a:t>
            </a:r>
            <a:r>
              <a:rPr lang="en-US" sz="5400" dirty="0">
                <a:ea typeface="Calibri"/>
                <a:cs typeface="Calibri"/>
              </a:rPr>
              <a:t>data</a:t>
            </a:r>
            <a:endParaRPr lang="en-US" dirty="0"/>
          </a:p>
          <a:p>
            <a:r>
              <a:rPr lang="en-US" sz="5400" dirty="0">
                <a:ea typeface="Calibri"/>
                <a:cs typeface="Calibri"/>
              </a:rPr>
              <a:t>Categories separated in bars</a:t>
            </a:r>
          </a:p>
          <a:p>
            <a:r>
              <a:rPr lang="en-US" sz="5400" dirty="0">
                <a:ea typeface="Calibri"/>
                <a:cs typeface="Calibri"/>
              </a:rPr>
              <a:t>Heights indicate magnitudes</a:t>
            </a:r>
          </a:p>
          <a:p>
            <a:r>
              <a:rPr lang="en-US" sz="5400" dirty="0">
                <a:ea typeface="Calibri"/>
                <a:cs typeface="Calibri"/>
              </a:rPr>
              <a:t>Different from histograms</a:t>
            </a:r>
          </a:p>
        </p:txBody>
      </p:sp>
    </p:spTree>
    <p:extLst>
      <p:ext uri="{BB962C8B-B14F-4D97-AF65-F5344CB8AC3E}">
        <p14:creationId xmlns:p14="http://schemas.microsoft.com/office/powerpoint/2010/main" val="4263008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29BDD-635E-E4ED-0C00-F848946F5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B4005-61D3-7BD2-1C3B-4F54DC2FD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 err="1">
                <a:cs typeface="Calibri Light"/>
              </a:rPr>
              <a:t>Barplots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5C94B-4085-5077-505E-F30109F4C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6304950"/>
            <a:ext cx="11780806" cy="55027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Figure 4: Fruits from each of four trees (78 total)</a:t>
            </a:r>
          </a:p>
        </p:txBody>
      </p:sp>
      <p:pic>
        <p:nvPicPr>
          <p:cNvPr id="4" name="Picture 3" descr="Bar plot showing fruits sampled from four different trees.">
            <a:extLst>
              <a:ext uri="{FF2B5EF4-FFF2-40B4-BE49-F238E27FC236}">
                <a16:creationId xmlns:a16="http://schemas.microsoft.com/office/drawing/2014/main" id="{5D7BA39E-D479-E207-14D7-07BD0E993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827" y="359434"/>
            <a:ext cx="7815591" cy="531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422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82078-124F-B2EE-1F1A-A00FA0268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23F62-D742-CECC-7696-93A36F51D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Pie charts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5A482-7DEF-B27D-21CD-6CA076E30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>
                <a:ea typeface="Calibri"/>
                <a:cs typeface="Calibri"/>
              </a:rPr>
              <a:t> </a:t>
            </a:r>
            <a:r>
              <a:rPr lang="en-US" sz="5400" err="1">
                <a:ea typeface="Calibri"/>
                <a:cs typeface="Calibri"/>
              </a:rPr>
              <a:t>Visualise</a:t>
            </a:r>
            <a:r>
              <a:rPr lang="en-US" sz="5400" dirty="0">
                <a:ea typeface="Calibri"/>
                <a:cs typeface="Calibri"/>
              </a:rPr>
              <a:t> </a:t>
            </a:r>
            <a:r>
              <a:rPr lang="en-US" sz="5400" i="1" dirty="0">
                <a:ea typeface="Calibri"/>
                <a:cs typeface="Calibri"/>
              </a:rPr>
              <a:t>categorical </a:t>
            </a:r>
            <a:r>
              <a:rPr lang="en-US" sz="5400" dirty="0">
                <a:ea typeface="Calibri"/>
                <a:cs typeface="Calibri"/>
              </a:rPr>
              <a:t>data</a:t>
            </a:r>
            <a:endParaRPr lang="en-US" dirty="0"/>
          </a:p>
          <a:p>
            <a:r>
              <a:rPr lang="en-US" sz="5400" dirty="0">
                <a:ea typeface="Calibri"/>
                <a:cs typeface="Calibri"/>
              </a:rPr>
              <a:t> Show percentage of categories</a:t>
            </a:r>
            <a:endParaRPr lang="en-US" dirty="0">
              <a:ea typeface="Calibri"/>
              <a:cs typeface="Calibri"/>
            </a:endParaRPr>
          </a:p>
          <a:p>
            <a:r>
              <a:rPr lang="en-US" sz="5400" dirty="0">
                <a:ea typeface="Calibri"/>
                <a:cs typeface="Calibri"/>
              </a:rPr>
              <a:t> Used less often than </a:t>
            </a:r>
            <a:r>
              <a:rPr lang="en-US" sz="5400" err="1">
                <a:ea typeface="Calibri"/>
                <a:cs typeface="Calibri"/>
              </a:rPr>
              <a:t>barplots</a:t>
            </a:r>
            <a:endParaRPr lang="en-US" sz="5400">
              <a:ea typeface="Calibri"/>
              <a:cs typeface="Calibri"/>
            </a:endParaRPr>
          </a:p>
          <a:p>
            <a:r>
              <a:rPr lang="en-US" sz="5400" dirty="0">
                <a:ea typeface="Calibri"/>
                <a:cs typeface="Calibri"/>
              </a:rPr>
              <a:t> Do not show absolute magnitudes</a:t>
            </a:r>
          </a:p>
        </p:txBody>
      </p:sp>
    </p:spTree>
    <p:extLst>
      <p:ext uri="{BB962C8B-B14F-4D97-AF65-F5344CB8AC3E}">
        <p14:creationId xmlns:p14="http://schemas.microsoft.com/office/powerpoint/2010/main" val="16178333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2E4EF-C712-BA1C-7028-080564910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2202-AD6A-5F32-BF73-EE200E291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Pie charts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753D1-F4CC-7C00-5679-B752F026A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6304950"/>
            <a:ext cx="11780806" cy="55027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Figure 5: Pie chart of fruits from 4 trees.</a:t>
            </a:r>
          </a:p>
        </p:txBody>
      </p:sp>
      <p:pic>
        <p:nvPicPr>
          <p:cNvPr id="5" name="Picture 4" descr="Pie chart showing counts from 4 different trees.">
            <a:extLst>
              <a:ext uri="{FF2B5EF4-FFF2-40B4-BE49-F238E27FC236}">
                <a16:creationId xmlns:a16="http://schemas.microsoft.com/office/drawing/2014/main" id="{A66ADEE3-081D-D01D-C4D0-1F90E7BE1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059" y="172528"/>
            <a:ext cx="7512824" cy="589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68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4D032-B4D3-2D49-4F9A-B1048BD7C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4825F-1641-AD22-DEDB-3B31309AC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 err="1">
                <a:ea typeface="Calibri Light"/>
                <a:cs typeface="Calibri Light"/>
              </a:rPr>
              <a:t>Barplot</a:t>
            </a:r>
            <a:r>
              <a:rPr lang="en-US" dirty="0">
                <a:ea typeface="Calibri Light"/>
                <a:cs typeface="Calibri Light"/>
              </a:rPr>
              <a:t> versus pie 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F128D-A534-0822-0D76-3D1E790FD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6304950"/>
            <a:ext cx="11780806" cy="55027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Figure 6: </a:t>
            </a:r>
            <a:r>
              <a:rPr lang="en-US" sz="5400" dirty="0" err="1">
                <a:ea typeface="Calibri"/>
                <a:cs typeface="Calibri"/>
              </a:rPr>
              <a:t>Barplot</a:t>
            </a:r>
            <a:r>
              <a:rPr lang="en-US" sz="5400" dirty="0">
                <a:ea typeface="Calibri"/>
                <a:cs typeface="Calibri"/>
              </a:rPr>
              <a:t> and pie chart of fruits from 4 trees.</a:t>
            </a:r>
          </a:p>
        </p:txBody>
      </p:sp>
      <p:pic>
        <p:nvPicPr>
          <p:cNvPr id="4" name="Picture 3" descr="Barplot showing fruits sampled for four different trees next to a pie chart that shows the same information.">
            <a:extLst>
              <a:ext uri="{FF2B5EF4-FFF2-40B4-BE49-F238E27FC236}">
                <a16:creationId xmlns:a16="http://schemas.microsoft.com/office/drawing/2014/main" id="{2B19D52E-A7E8-A0A7-2493-519DABFEF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763" y="955183"/>
            <a:ext cx="7623151" cy="503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30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3EE89-F919-DA52-5776-14FA99B0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28B5B-2AD7-3050-EADE-95653EDFC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Box-whisker plots (boxplots)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58A7C-1B8B-160A-EAA9-F3A77CA8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56165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>
                <a:ea typeface="Calibri"/>
                <a:cs typeface="Calibri"/>
              </a:rPr>
              <a:t> Show distributions</a:t>
            </a:r>
            <a:endParaRPr lang="en-US" dirty="0">
              <a:ea typeface="Calibri"/>
              <a:cs typeface="Calibri"/>
            </a:endParaRPr>
          </a:p>
          <a:p>
            <a:r>
              <a:rPr lang="en-US" sz="5400" dirty="0">
                <a:ea typeface="Calibri"/>
                <a:cs typeface="Calibri"/>
              </a:rPr>
              <a:t> </a:t>
            </a:r>
            <a:r>
              <a:rPr lang="en-US" sz="5400" dirty="0" err="1">
                <a:ea typeface="Calibri"/>
                <a:cs typeface="Calibri"/>
              </a:rPr>
              <a:t>Visualise</a:t>
            </a:r>
            <a:r>
              <a:rPr lang="en-US" sz="5400" dirty="0">
                <a:ea typeface="Calibri"/>
                <a:cs typeface="Calibri"/>
              </a:rPr>
              <a:t> summary statistics</a:t>
            </a:r>
          </a:p>
          <a:p>
            <a:r>
              <a:rPr lang="en-US" sz="5400" dirty="0">
                <a:ea typeface="Calibri"/>
                <a:cs typeface="Calibri"/>
              </a:rPr>
              <a:t> Can compare distributions</a:t>
            </a:r>
          </a:p>
          <a:p>
            <a:r>
              <a:rPr lang="en-US" sz="5400" dirty="0">
                <a:ea typeface="Calibri"/>
                <a:cs typeface="Calibri"/>
              </a:rPr>
              <a:t> More compact than a histogram (but a bit less information)</a:t>
            </a:r>
          </a:p>
        </p:txBody>
      </p:sp>
    </p:spTree>
    <p:extLst>
      <p:ext uri="{BB962C8B-B14F-4D97-AF65-F5344CB8AC3E}">
        <p14:creationId xmlns:p14="http://schemas.microsoft.com/office/powerpoint/2010/main" val="6903184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BF692-6514-1CE4-455B-95CE61CB6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FF033-735E-48A9-8EE5-FB3992B7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Box-whisker plots (boxplots)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219D9-BFA7-6648-34DD-824ABD7E6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6304950"/>
            <a:ext cx="11780806" cy="550276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Figure 7: Boxplot of fig fruit widths (cm) collected from 4 trees</a:t>
            </a:r>
          </a:p>
        </p:txBody>
      </p:sp>
      <p:pic>
        <p:nvPicPr>
          <p:cNvPr id="5" name="Picture 4" descr="A box-whisker plot showing fig fruit width (cm) for four trees.">
            <a:extLst>
              <a:ext uri="{FF2B5EF4-FFF2-40B4-BE49-F238E27FC236}">
                <a16:creationId xmlns:a16="http://schemas.microsoft.com/office/drawing/2014/main" id="{3C77E56E-9299-7A6C-A3BC-180321C75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233" y="955183"/>
            <a:ext cx="7795110" cy="523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14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3A4D3-9A4A-0BBB-B4E2-826083F44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29909-EAE6-ABDB-1006-B752E4E9B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Boxplot versus histogram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A7304-7182-5EC7-6E11-E3068A8FD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6304950"/>
            <a:ext cx="11780806" cy="550276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Figure 8: Boxplot (A) vs Histogram (B) of fig fruit widths (cm)</a:t>
            </a:r>
          </a:p>
        </p:txBody>
      </p:sp>
      <p:pic>
        <p:nvPicPr>
          <p:cNvPr id="4" name="Picture 3" descr="Boxplot of fig fruit widths (cm) of trees next to a histogram showing the same information with equivalent summary statistics indicated by colours and shapes.">
            <a:extLst>
              <a:ext uri="{FF2B5EF4-FFF2-40B4-BE49-F238E27FC236}">
                <a16:creationId xmlns:a16="http://schemas.microsoft.com/office/drawing/2014/main" id="{41B15DD1-C3B0-8C87-9FE7-7A62C168D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444" y="955183"/>
            <a:ext cx="7707703" cy="514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7451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24D9E-BE6C-1861-FAAB-A4F2DBB04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FD2CD-CAF2-EE26-07B5-01C7C274B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Data </a:t>
            </a:r>
            <a:r>
              <a:rPr lang="en-US" dirty="0" err="1">
                <a:cs typeface="Calibri Light"/>
              </a:rPr>
              <a:t>visualisation</a:t>
            </a:r>
            <a:r>
              <a:rPr lang="en-US" dirty="0">
                <a:cs typeface="Calibri Light"/>
              </a:rPr>
              <a:t> principles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D403A-2B96-EC13-E36C-A7F813649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3824236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914400" indent="-914400">
              <a:buAutoNum type="arabicPeriod"/>
            </a:pPr>
            <a:r>
              <a:rPr lang="en-US" sz="5400">
                <a:ea typeface="Calibri"/>
                <a:cs typeface="Calibri"/>
              </a:rPr>
              <a:t>Show the data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914400" indent="-914400">
              <a:buAutoNum type="arabicPeriod"/>
            </a:pPr>
            <a:r>
              <a:rPr lang="en-US" sz="5400">
                <a:ea typeface="Calibri"/>
                <a:cs typeface="Calibri"/>
              </a:rPr>
              <a:t>Make the meaning clear</a:t>
            </a:r>
          </a:p>
          <a:p>
            <a:pPr marL="914400" indent="-914400">
              <a:buAutoNum type="arabicPeriod"/>
            </a:pPr>
            <a:r>
              <a:rPr lang="en-US" sz="5400" dirty="0">
                <a:ea typeface="Calibri"/>
                <a:cs typeface="Calibri"/>
              </a:rPr>
              <a:t>Avoid distorting what the data have to </a:t>
            </a:r>
            <a:r>
              <a:rPr lang="en-US" sz="5400">
                <a:ea typeface="Calibri"/>
                <a:cs typeface="Calibri"/>
              </a:rPr>
              <a:t>say</a:t>
            </a:r>
          </a:p>
          <a:p>
            <a:pPr marL="914400" indent="-914400">
              <a:buAutoNum type="arabicPeriod"/>
            </a:pPr>
            <a:r>
              <a:rPr lang="en-US" sz="5400">
                <a:ea typeface="Calibri"/>
                <a:cs typeface="Calibri"/>
              </a:rPr>
              <a:t>Make the data accessible</a:t>
            </a:r>
            <a:endParaRPr lang="en-US" sz="5400" dirty="0">
              <a:ea typeface="Calibri"/>
              <a:cs typeface="Calibri"/>
            </a:endParaRPr>
          </a:p>
          <a:p>
            <a:pPr marL="914400" indent="-914400">
              <a:buAutoNum type="arabicPeriod"/>
            </a:pPr>
            <a:r>
              <a:rPr lang="en-US" sz="5400">
                <a:ea typeface="Calibri"/>
                <a:cs typeface="Calibri"/>
              </a:rPr>
              <a:t>Focus on the content</a:t>
            </a:r>
            <a:endParaRPr lang="en-US" sz="5400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B8210-C34A-C4C9-CC6C-85ABFE043AB1}"/>
              </a:ext>
            </a:extLst>
          </p:cNvPr>
          <p:cNvSpPr txBox="1"/>
          <p:nvPr/>
        </p:nvSpPr>
        <p:spPr>
          <a:xfrm>
            <a:off x="306912" y="6401498"/>
            <a:ext cx="1157089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ea typeface="+mn-lt"/>
                <a:cs typeface="+mn-lt"/>
              </a:rPr>
              <a:t>David </a:t>
            </a:r>
            <a:r>
              <a:rPr lang="en-US" sz="2400" dirty="0" err="1">
                <a:ea typeface="+mn-lt"/>
                <a:cs typeface="+mn-lt"/>
              </a:rPr>
              <a:t>Sterratt</a:t>
            </a:r>
            <a:r>
              <a:rPr lang="en-US" sz="2400" dirty="0">
                <a:ea typeface="+mn-lt"/>
                <a:cs typeface="+mn-lt"/>
              </a:rPr>
              <a:t>. 2025. CC BY-SA 4.0 Source: </a:t>
            </a:r>
            <a:r>
              <a:rPr lang="en-US" sz="2400" dirty="0">
                <a:ea typeface="+mn-lt"/>
                <a:cs typeface="+mn-lt"/>
                <a:hlinkClick r:id="rId2"/>
              </a:rPr>
              <a:t>https://github.com/Inf2-FDS/fds-visualisation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18049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42BDF-4C2E-3C59-A982-0A7713B02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AEC18-0943-8F2E-32CC-AAD457C2B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Data </a:t>
            </a:r>
            <a:r>
              <a:rPr lang="en-US" dirty="0" err="1">
                <a:cs typeface="Calibri Light"/>
              </a:rPr>
              <a:t>visualisation</a:t>
            </a:r>
            <a:r>
              <a:rPr lang="en-US" dirty="0">
                <a:cs typeface="Calibri Light"/>
              </a:rPr>
              <a:t> principles: Show the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F9830-F64E-77AE-686D-CAF86242A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382423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685800" indent="-685800"/>
            <a:r>
              <a:rPr lang="en-US" sz="5400" dirty="0">
                <a:ea typeface="Calibri"/>
                <a:cs typeface="Calibri"/>
              </a:rPr>
              <a:t>Show as much as possible</a:t>
            </a:r>
            <a:endParaRPr lang="en-US" dirty="0"/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Try to avoid a confusion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No one "right" </a:t>
            </a:r>
            <a:r>
              <a:rPr lang="en-US" sz="5400" dirty="0" err="1">
                <a:ea typeface="Calibri"/>
                <a:cs typeface="Calibri"/>
              </a:rPr>
              <a:t>visualisation</a:t>
            </a:r>
            <a:endParaRPr lang="en-US" sz="5400" dirty="0">
              <a:ea typeface="Calibri"/>
              <a:cs typeface="Calibri"/>
            </a:endParaRP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Help reader compare several pieces of data</a:t>
            </a:r>
          </a:p>
        </p:txBody>
      </p:sp>
    </p:spTree>
    <p:extLst>
      <p:ext uri="{BB962C8B-B14F-4D97-AF65-F5344CB8AC3E}">
        <p14:creationId xmlns:p14="http://schemas.microsoft.com/office/powerpoint/2010/main" val="16860880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2C88E-5120-C81D-CFE9-08C9CAB8B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32F4-6515-E42D-A3BF-8CA97EC8C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Data </a:t>
            </a:r>
            <a:r>
              <a:rPr lang="en-US" dirty="0" err="1">
                <a:ea typeface="Calibri Light"/>
                <a:cs typeface="Calibri Light"/>
              </a:rPr>
              <a:t>visualisation</a:t>
            </a:r>
            <a:r>
              <a:rPr lang="en-US" dirty="0">
                <a:ea typeface="Calibri Light"/>
                <a:cs typeface="Calibri Light"/>
              </a:rPr>
              <a:t> principles: Show the data</a:t>
            </a:r>
            <a:endParaRPr lang="en-US" dirty="0"/>
          </a:p>
        </p:txBody>
      </p:sp>
      <p:pic>
        <p:nvPicPr>
          <p:cNvPr id="7" name="Picture 6" descr="Complex figure integrating two bar plots and a scatterplot, integrating a measurement of inbreeding adjustment, number of mates, and cost of polyandry.">
            <a:extLst>
              <a:ext uri="{FF2B5EF4-FFF2-40B4-BE49-F238E27FC236}">
                <a16:creationId xmlns:a16="http://schemas.microsoft.com/office/drawing/2014/main" id="{F249062D-B6CA-9F4C-21FD-532E174F2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939" y="1094704"/>
            <a:ext cx="6271389" cy="576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86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FEB2E-F53E-4D52-C66E-059581B8D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EDA4C-AAC9-6E90-ADF1-9D09ABC7C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Data </a:t>
            </a:r>
            <a:r>
              <a:rPr lang="en-US" dirty="0" err="1">
                <a:ea typeface="Calibri Light"/>
                <a:cs typeface="Calibri Light"/>
              </a:rPr>
              <a:t>visualisation</a:t>
            </a:r>
            <a:r>
              <a:rPr lang="en-US" dirty="0">
                <a:ea typeface="Calibri Light"/>
                <a:cs typeface="Calibri Light"/>
              </a:rPr>
              <a:t> principles: Show the data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1EE5A-FB14-416E-6B9D-903FE875FC65}"/>
              </a:ext>
            </a:extLst>
          </p:cNvPr>
          <p:cNvSpPr txBox="1"/>
          <p:nvPr/>
        </p:nvSpPr>
        <p:spPr>
          <a:xfrm>
            <a:off x="306912" y="6025864"/>
            <a:ext cx="1157089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ea typeface="+mn-lt"/>
                <a:cs typeface="+mn-lt"/>
              </a:rPr>
              <a:t>Figure 9: Sparrow length (mm) for different survival outcomes following an unusually large storm at Brown University in 1898 (N = 136).</a:t>
            </a:r>
            <a:endParaRPr lang="en-US" sz="2400" dirty="0">
              <a:ea typeface="Calibri"/>
              <a:cs typeface="Calibri"/>
            </a:endParaRPr>
          </a:p>
        </p:txBody>
      </p:sp>
      <p:pic>
        <p:nvPicPr>
          <p:cNvPr id="5" name="Picture 4" descr="A boxplot showing sparrow length (mm) for alive versus dead sparrows, as made in jamovi with jittered data points over them.">
            <a:extLst>
              <a:ext uri="{FF2B5EF4-FFF2-40B4-BE49-F238E27FC236}">
                <a16:creationId xmlns:a16="http://schemas.microsoft.com/office/drawing/2014/main" id="{047D5B10-8E3C-8715-A73D-1DD94CC5A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087" y="955182"/>
            <a:ext cx="8499177" cy="4936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896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F076E-FC39-EC68-20BE-A2BD4A02E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F2202-17A0-C954-53AF-CDC081012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Making the meaning clear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FF198-AD04-6DB3-954A-0F634715A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1063625"/>
            <a:ext cx="11780806" cy="38242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685800" indent="-685800"/>
            <a:r>
              <a:rPr lang="en-US" sz="5400" dirty="0">
                <a:ea typeface="Calibri"/>
                <a:cs typeface="Calibri"/>
              </a:rPr>
              <a:t>Informative captions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Meaningful axis labels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Relevant units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Describe error bars</a:t>
            </a:r>
          </a:p>
        </p:txBody>
      </p:sp>
    </p:spTree>
    <p:extLst>
      <p:ext uri="{BB962C8B-B14F-4D97-AF65-F5344CB8AC3E}">
        <p14:creationId xmlns:p14="http://schemas.microsoft.com/office/powerpoint/2010/main" val="1592263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2A596-AF87-6595-BC2F-CC774DECC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35A94-1819-9711-D387-819939F4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Avoid distorting what the data have to say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B9C7C-6F74-0EE4-B62C-1C561A2E999D}"/>
              </a:ext>
            </a:extLst>
          </p:cNvPr>
          <p:cNvSpPr txBox="1"/>
          <p:nvPr/>
        </p:nvSpPr>
        <p:spPr>
          <a:xfrm>
            <a:off x="306912" y="6021638"/>
            <a:ext cx="1157089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David </a:t>
            </a:r>
            <a:r>
              <a:rPr lang="en-US" sz="2400" dirty="0" err="1">
                <a:ea typeface="+mn-lt"/>
                <a:cs typeface="+mn-lt"/>
              </a:rPr>
              <a:t>Sterratt</a:t>
            </a:r>
            <a:r>
              <a:rPr lang="en-US" sz="2400" dirty="0">
                <a:ea typeface="+mn-lt"/>
                <a:cs typeface="+mn-lt"/>
              </a:rPr>
              <a:t>. 2025. CC BY-SA 4.0 Source: </a:t>
            </a:r>
            <a:r>
              <a:rPr lang="en-US" sz="2400" dirty="0">
                <a:ea typeface="+mn-lt"/>
                <a:cs typeface="+mn-lt"/>
                <a:hlinkClick r:id="rId2"/>
              </a:rPr>
              <a:t>https://github.com/Inf2-FDS/fds-visualisation</a:t>
            </a:r>
            <a:endParaRPr lang="en-US" sz="2400" dirty="0"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Image: </a:t>
            </a:r>
            <a:r>
              <a:rPr lang="en-US" sz="2400" dirty="0">
                <a:ea typeface="+mn-lt"/>
                <a:cs typeface="+mn-lt"/>
                <a:hlinkClick r:id="rId3"/>
              </a:rPr>
              <a:t>Public domain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8286EF0-0484-34A2-695D-7652DB2E689A}"/>
              </a:ext>
            </a:extLst>
          </p:cNvPr>
          <p:cNvSpPr txBox="1">
            <a:spLocks/>
          </p:cNvSpPr>
          <p:nvPr/>
        </p:nvSpPr>
        <p:spPr>
          <a:xfrm>
            <a:off x="205597" y="3713764"/>
            <a:ext cx="11780806" cy="212859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indent="-685800"/>
            <a:r>
              <a:rPr lang="en-US" sz="5400" dirty="0">
                <a:ea typeface="Calibri"/>
                <a:cs typeface="Calibri"/>
              </a:rPr>
              <a:t>Need to clearly see patterns in data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Avoid the use of 3D if possible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Easier to compare lengths than areas</a:t>
            </a:r>
            <a:r>
              <a:rPr lang="en-US" sz="5400" baseline="30000" dirty="0">
                <a:ea typeface="Calibri"/>
                <a:cs typeface="Calibri"/>
              </a:rPr>
              <a:t>1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Easier to compare lengths than angles</a:t>
            </a:r>
            <a:r>
              <a:rPr lang="en-US" sz="5400" baseline="30000" dirty="0">
                <a:ea typeface="Calibri"/>
                <a:cs typeface="Calibri"/>
              </a:rPr>
              <a:t>1</a:t>
            </a:r>
          </a:p>
        </p:txBody>
      </p:sp>
      <p:pic>
        <p:nvPicPr>
          <p:cNvPr id="9" name="Picture 8" descr="The same pie chart shown in 2D vs 3D, with the distortion from the 3D plot clear.">
            <a:extLst>
              <a:ext uri="{FF2B5EF4-FFF2-40B4-BE49-F238E27FC236}">
                <a16:creationId xmlns:a16="http://schemas.microsoft.com/office/drawing/2014/main" id="{9E67BE5E-B0DC-C352-21CA-9D3BEF52B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704" y="779765"/>
            <a:ext cx="7298029" cy="249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3810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6F11F-0EB7-11BA-1255-6F5E12D59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F6719-6470-B2A4-1398-97DE3A646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Avoid distorting what the data have to say</a:t>
            </a:r>
            <a:endParaRPr lang="en-US" dirty="0"/>
          </a:p>
        </p:txBody>
      </p:sp>
      <p:pic>
        <p:nvPicPr>
          <p:cNvPr id="3" name="Picture 2" descr="Two barplots showing the same information side-by-side, with the plot on the left having a y-axis that starts at 36 and the plot on the right having a y-axis that starts at 0.">
            <a:extLst>
              <a:ext uri="{FF2B5EF4-FFF2-40B4-BE49-F238E27FC236}">
                <a16:creationId xmlns:a16="http://schemas.microsoft.com/office/drawing/2014/main" id="{76D096C1-90F7-5D54-73A3-E1CC6678A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129" y="934528"/>
            <a:ext cx="6691365" cy="576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7188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DA94-6D72-7D8B-C596-5C72579DE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72001-5049-057F-13D5-663801FA8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26286"/>
            <a:ext cx="11308491" cy="933294"/>
          </a:xfrm>
        </p:spPr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Make the data accessible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F3CE8-390A-C4AC-757A-BFDE1D85D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570" y="1166598"/>
            <a:ext cx="7507428" cy="183743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Ensure text is legible</a:t>
            </a:r>
          </a:p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Avoid </a:t>
            </a:r>
            <a:r>
              <a:rPr lang="en-US" sz="5400" dirty="0" err="1">
                <a:ea typeface="Calibri"/>
                <a:cs typeface="Calibri"/>
              </a:rPr>
              <a:t>unncessary</a:t>
            </a:r>
            <a:r>
              <a:rPr lang="en-US" sz="5400" dirty="0">
                <a:ea typeface="Calibri"/>
                <a:cs typeface="Calibri"/>
              </a:rPr>
              <a:t> </a:t>
            </a:r>
            <a:r>
              <a:rPr lang="en-US" sz="5400" dirty="0" err="1">
                <a:ea typeface="Calibri"/>
                <a:cs typeface="Calibri"/>
              </a:rPr>
              <a:t>colours</a:t>
            </a:r>
            <a:endParaRPr lang="en-US" sz="54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5400" dirty="0">
                <a:ea typeface="Calibri"/>
                <a:cs typeface="Calibri"/>
              </a:rPr>
              <a:t>Select </a:t>
            </a:r>
            <a:r>
              <a:rPr lang="en-US" sz="5400" err="1">
                <a:ea typeface="Calibri"/>
                <a:cs typeface="Calibri"/>
              </a:rPr>
              <a:t>colours</a:t>
            </a:r>
            <a:r>
              <a:rPr lang="en-US" sz="5400" dirty="0">
                <a:ea typeface="Calibri"/>
                <a:cs typeface="Calibri"/>
              </a:rPr>
              <a:t> carefully</a:t>
            </a:r>
            <a:r>
              <a:rPr lang="en-US" sz="5400" baseline="30000" dirty="0">
                <a:ea typeface="Calibri"/>
                <a:cs typeface="Calibri"/>
              </a:rPr>
              <a:t>1</a:t>
            </a:r>
          </a:p>
        </p:txBody>
      </p:sp>
      <p:pic>
        <p:nvPicPr>
          <p:cNvPr id="4" name="Picture 3" descr="Barplot showing fruits sampled for four different trees next to a pie chart that shows the same information.">
            <a:extLst>
              <a:ext uri="{FF2B5EF4-FFF2-40B4-BE49-F238E27FC236}">
                <a16:creationId xmlns:a16="http://schemas.microsoft.com/office/drawing/2014/main" id="{5660C814-107D-75CD-2C9C-FBE0DEC0D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249" y="1171425"/>
            <a:ext cx="5934394" cy="39110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24D93C-529B-DD4C-B613-9FC0490C1A98}"/>
              </a:ext>
            </a:extLst>
          </p:cNvPr>
          <p:cNvSpPr txBox="1"/>
          <p:nvPr/>
        </p:nvSpPr>
        <p:spPr>
          <a:xfrm>
            <a:off x="306912" y="6021638"/>
            <a:ext cx="1157089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David </a:t>
            </a:r>
            <a:r>
              <a:rPr lang="en-US" sz="2400" dirty="0" err="1">
                <a:ea typeface="+mn-lt"/>
                <a:cs typeface="+mn-lt"/>
              </a:rPr>
              <a:t>Sterratt</a:t>
            </a:r>
            <a:r>
              <a:rPr lang="en-US" sz="2400" dirty="0">
                <a:ea typeface="+mn-lt"/>
                <a:cs typeface="+mn-lt"/>
              </a:rPr>
              <a:t>. 2025. CC BY-SA 4.0 Source: </a:t>
            </a:r>
            <a:r>
              <a:rPr lang="en-US" sz="2400" dirty="0">
                <a:ea typeface="+mn-lt"/>
                <a:cs typeface="+mn-lt"/>
                <a:hlinkClick r:id="rId3"/>
              </a:rPr>
              <a:t>https://github.com/Inf2-FDS/fds-visualisation</a:t>
            </a:r>
            <a:endParaRPr lang="en-US" sz="2400" dirty="0"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Wexler, S, et al. 2017. The Big Book of Dashboards: Visualizing Your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3945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BC61C-42E9-54EB-2DB3-666DD58C4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E25E4-8D90-54F9-3A97-5E74210B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922997"/>
          </a:xfrm>
        </p:spPr>
        <p:txBody>
          <a:bodyPr/>
          <a:lstStyle/>
          <a:p>
            <a:r>
              <a:rPr lang="en-US" dirty="0">
                <a:cs typeface="Calibri Light"/>
              </a:rPr>
              <a:t>Focus on the content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B41C-2D09-B34E-617C-67D3CE181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97" y="934229"/>
            <a:ext cx="11780806" cy="4888160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685800" indent="-685800"/>
            <a:r>
              <a:rPr lang="en-US" sz="5400" dirty="0">
                <a:ea typeface="Calibri"/>
                <a:cs typeface="Calibri"/>
              </a:rPr>
              <a:t>Avoid </a:t>
            </a:r>
            <a:r>
              <a:rPr lang="en-US" sz="5400" dirty="0" err="1">
                <a:ea typeface="Calibri"/>
                <a:cs typeface="Calibri"/>
              </a:rPr>
              <a:t>colours</a:t>
            </a:r>
            <a:r>
              <a:rPr lang="en-US" sz="5400" dirty="0">
                <a:ea typeface="Calibri"/>
                <a:cs typeface="Calibri"/>
              </a:rPr>
              <a:t> or 3D with no meaning1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Avoid vertical grid lines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Use consistent </a:t>
            </a:r>
            <a:r>
              <a:rPr lang="en-US" sz="5400" dirty="0" err="1">
                <a:ea typeface="Calibri"/>
                <a:cs typeface="Calibri"/>
              </a:rPr>
              <a:t>colours</a:t>
            </a:r>
            <a:r>
              <a:rPr lang="en-US" sz="5400" dirty="0">
                <a:ea typeface="Calibri"/>
                <a:cs typeface="Calibri"/>
              </a:rPr>
              <a:t> across a report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Use an appropriate number of decimals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Check wording and spelling</a:t>
            </a:r>
          </a:p>
          <a:p>
            <a:pPr marL="685800" indent="-685800"/>
            <a:r>
              <a:rPr lang="en-US" sz="5400" dirty="0">
                <a:ea typeface="Calibri"/>
                <a:cs typeface="Calibri"/>
              </a:rPr>
              <a:t>Consider plotting modules in </a:t>
            </a:r>
            <a:r>
              <a:rPr lang="en-US" sz="5400" dirty="0" err="1">
                <a:ea typeface="Calibri"/>
                <a:cs typeface="Calibri"/>
              </a:rPr>
              <a:t>jamovi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A79F77-9F6B-FD67-3578-7048D9AA9C33}"/>
              </a:ext>
            </a:extLst>
          </p:cNvPr>
          <p:cNvSpPr txBox="1"/>
          <p:nvPr/>
        </p:nvSpPr>
        <p:spPr>
          <a:xfrm>
            <a:off x="306912" y="6294808"/>
            <a:ext cx="1157089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David </a:t>
            </a:r>
            <a:r>
              <a:rPr lang="en-US" sz="2400" dirty="0" err="1">
                <a:ea typeface="+mn-lt"/>
                <a:cs typeface="+mn-lt"/>
              </a:rPr>
              <a:t>Sterratt</a:t>
            </a:r>
            <a:r>
              <a:rPr lang="en-US" sz="2400" dirty="0">
                <a:ea typeface="+mn-lt"/>
                <a:cs typeface="+mn-lt"/>
              </a:rPr>
              <a:t>. 2025. CC BY-SA 4.0 Source: </a:t>
            </a:r>
            <a:r>
              <a:rPr lang="en-US" sz="2400" dirty="0">
                <a:ea typeface="+mn-lt"/>
                <a:cs typeface="+mn-lt"/>
                <a:hlinkClick r:id="rId2"/>
              </a:rPr>
              <a:t>https://github.com/Inf2-FDS/fds-visualisation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075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6fa6db5-9f3a-4c93-9e38-61059ee07e95}" enabled="1" method="Standard" siteId="{4e8d09f7-cc79-4ccb-9149-a4238dd1742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Decimals, significant figures, and plots</vt:lpstr>
      <vt:lpstr>Decimal places</vt:lpstr>
      <vt:lpstr>Decimal places</vt:lpstr>
      <vt:lpstr>Significant figures</vt:lpstr>
      <vt:lpstr>Significant figures</vt:lpstr>
      <vt:lpstr>Significant figures</vt:lpstr>
      <vt:lpstr>Rounding to specific digits or significant figures</vt:lpstr>
      <vt:lpstr>Rounding to specific digits or significant figures</vt:lpstr>
      <vt:lpstr>Rounding to specific digits or significant figures</vt:lpstr>
      <vt:lpstr>Rounding to specific digits or significant figures</vt:lpstr>
      <vt:lpstr>Rounding to specific digits or significant figures</vt:lpstr>
      <vt:lpstr>Rounding to specific digits or significant figures</vt:lpstr>
      <vt:lpstr>Rounding to specific digits or significant figures</vt:lpstr>
      <vt:lpstr>Rounding to specific digits or significant figures</vt:lpstr>
      <vt:lpstr>Rounding to specific digits or significant figures</vt:lpstr>
      <vt:lpstr>Data visualisation</vt:lpstr>
      <vt:lpstr>Histogram</vt:lpstr>
      <vt:lpstr>Histogram</vt:lpstr>
      <vt:lpstr>Histogram</vt:lpstr>
      <vt:lpstr>Histogram</vt:lpstr>
      <vt:lpstr>Barplots</vt:lpstr>
      <vt:lpstr>Barplots</vt:lpstr>
      <vt:lpstr>Pie charts</vt:lpstr>
      <vt:lpstr>Pie charts</vt:lpstr>
      <vt:lpstr>Barplot versus pie charts</vt:lpstr>
      <vt:lpstr>Box-whisker plots (boxplots)</vt:lpstr>
      <vt:lpstr>Box-whisker plots (boxplots)</vt:lpstr>
      <vt:lpstr>Boxplot versus histogram</vt:lpstr>
      <vt:lpstr>Data visualisation principles</vt:lpstr>
      <vt:lpstr>Data visualisation principles: Show the data</vt:lpstr>
      <vt:lpstr>Data visualisation principles: Show the data</vt:lpstr>
      <vt:lpstr>Data visualisation principles: Show the data</vt:lpstr>
      <vt:lpstr>Making the meaning clear</vt:lpstr>
      <vt:lpstr>Avoid distorting what the data have to say</vt:lpstr>
      <vt:lpstr>Avoid distorting what the data have to say</vt:lpstr>
      <vt:lpstr>Make the data accessible</vt:lpstr>
      <vt:lpstr>Focus on the content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1219</cp:revision>
  <dcterms:created xsi:type="dcterms:W3CDTF">2023-01-20T14:04:15Z</dcterms:created>
  <dcterms:modified xsi:type="dcterms:W3CDTF">2026-04-18T16:27:27Z</dcterms:modified>
</cp:coreProperties>
</file>