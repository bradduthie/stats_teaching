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97" r:id="rId3"/>
    <p:sldId id="273" r:id="rId4"/>
    <p:sldId id="336" r:id="rId5"/>
    <p:sldId id="295" r:id="rId6"/>
    <p:sldId id="337" r:id="rId7"/>
    <p:sldId id="278" r:id="rId8"/>
    <p:sldId id="338" r:id="rId9"/>
    <p:sldId id="339" r:id="rId10"/>
    <p:sldId id="340" r:id="rId11"/>
    <p:sldId id="286" r:id="rId12"/>
    <p:sldId id="293" r:id="rId13"/>
    <p:sldId id="341" r:id="rId14"/>
    <p:sldId id="342" r:id="rId15"/>
    <p:sldId id="343" r:id="rId16"/>
    <p:sldId id="294" r:id="rId17"/>
    <p:sldId id="344" r:id="rId18"/>
    <p:sldId id="296" r:id="rId19"/>
    <p:sldId id="345" r:id="rId20"/>
    <p:sldId id="301" r:id="rId21"/>
    <p:sldId id="346" r:id="rId22"/>
    <p:sldId id="347" r:id="rId23"/>
    <p:sldId id="348" r:id="rId24"/>
    <p:sldId id="349" r:id="rId25"/>
    <p:sldId id="350" r:id="rId26"/>
    <p:sldId id="335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A39F51B-6C03-8670-FC86-5C6AC7BD6A4B}" v="3" dt="2026-04-18T16:35:10.60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ad Duthie" userId="S::ad78@stir.ac.uk::91f2dfe8-4ab1-472c-bdc2-755eae2f61cc" providerId="AD" clId="Web-{0A39F51B-6C03-8670-FC86-5C6AC7BD6A4B}"/>
    <pc:docChg chg="modSld">
      <pc:chgData name="Brad Duthie" userId="S::ad78@stir.ac.uk::91f2dfe8-4ab1-472c-bdc2-755eae2f61cc" providerId="AD" clId="Web-{0A39F51B-6C03-8670-FC86-5C6AC7BD6A4B}" dt="2026-04-18T16:35:10.602" v="2"/>
      <pc:docMkLst>
        <pc:docMk/>
      </pc:docMkLst>
      <pc:sldChg chg="addSp delSp modSp">
        <pc:chgData name="Brad Duthie" userId="S::ad78@stir.ac.uk::91f2dfe8-4ab1-472c-bdc2-755eae2f61cc" providerId="AD" clId="Web-{0A39F51B-6C03-8670-FC86-5C6AC7BD6A4B}" dt="2026-04-18T16:35:10.602" v="2"/>
        <pc:sldMkLst>
          <pc:docMk/>
          <pc:sldMk cId="109857222" sldId="256"/>
        </pc:sldMkLst>
        <pc:spChg chg="mod">
          <ac:chgData name="Brad Duthie" userId="S::ad78@stir.ac.uk::91f2dfe8-4ab1-472c-bdc2-755eae2f61cc" providerId="AD" clId="Web-{0A39F51B-6C03-8670-FC86-5C6AC7BD6A4B}" dt="2026-04-18T16:35:03.445" v="0" actId="20577"/>
          <ac:spMkLst>
            <pc:docMk/>
            <pc:sldMk cId="109857222" sldId="256"/>
            <ac:spMk id="2" creationId="{00000000-0000-0000-0000-000000000000}"/>
          </ac:spMkLst>
        </pc:spChg>
        <pc:spChg chg="del">
          <ac:chgData name="Brad Duthie" userId="S::ad78@stir.ac.uk::91f2dfe8-4ab1-472c-bdc2-755eae2f61cc" providerId="AD" clId="Web-{0A39F51B-6C03-8670-FC86-5C6AC7BD6A4B}" dt="2026-04-18T16:35:06.836" v="1"/>
          <ac:spMkLst>
            <pc:docMk/>
            <pc:sldMk cId="109857222" sldId="256"/>
            <ac:spMk id="3" creationId="{00000000-0000-0000-0000-000000000000}"/>
          </ac:spMkLst>
        </pc:spChg>
        <pc:spChg chg="add del mod">
          <ac:chgData name="Brad Duthie" userId="S::ad78@stir.ac.uk::91f2dfe8-4ab1-472c-bdc2-755eae2f61cc" providerId="AD" clId="Web-{0A39F51B-6C03-8670-FC86-5C6AC7BD6A4B}" dt="2026-04-18T16:35:10.602" v="2"/>
          <ac:spMkLst>
            <pc:docMk/>
            <pc:sldMk cId="109857222" sldId="256"/>
            <ac:spMk id="5" creationId="{33FE67FA-3407-B914-919C-F70CB8F4A0C8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bradduthie.github.io/stats/app/zandp/" TargetMode="Externa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tatista.com/statistics/367853/scotland-average-temperature/" TargetMode="Externa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tatista.com/statistics/367853/scotland-average-temperature/" TargetMode="Externa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64567" y="1122363"/>
            <a:ext cx="10035395" cy="2301337"/>
          </a:xfrm>
        </p:spPr>
        <p:txBody>
          <a:bodyPr/>
          <a:lstStyle/>
          <a:p>
            <a:r>
              <a:rPr lang="en-US">
                <a:ea typeface="+mj-lt"/>
                <a:cs typeface="+mj-lt"/>
              </a:rPr>
              <a:t>The Central Limit </a:t>
            </a:r>
            <a:r>
              <a:rPr lang="en-US" dirty="0">
                <a:ea typeface="+mj-lt"/>
                <a:cs typeface="+mj-lt"/>
              </a:rPr>
              <a:t>Theorem (CLT)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D9C73C-0105-9023-8A9D-DE88F439D8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5A91C3-6CBB-32B9-EA4D-EF9C4B588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3" y="5691"/>
            <a:ext cx="10515600" cy="922997"/>
          </a:xfrm>
        </p:spPr>
        <p:txBody>
          <a:bodyPr/>
          <a:lstStyle/>
          <a:p>
            <a:r>
              <a:rPr lang="en-US" dirty="0">
                <a:cs typeface="Calibri Light"/>
              </a:rPr>
              <a:t>Normal distribution</a:t>
            </a:r>
            <a:endParaRPr lang="en-US" dirty="0"/>
          </a:p>
        </p:txBody>
      </p:sp>
      <p:pic>
        <p:nvPicPr>
          <p:cNvPr id="7" name="Picture 6" descr="Normal distribution shaded blue centred at 7.">
            <a:extLst>
              <a:ext uri="{FF2B5EF4-FFF2-40B4-BE49-F238E27FC236}">
                <a16:creationId xmlns:a16="http://schemas.microsoft.com/office/drawing/2014/main" id="{B0552FF4-AAD1-36EA-442C-68C433613D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8795" y="725674"/>
            <a:ext cx="8896081" cy="6126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55009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0B8040-4AC8-BEE9-7DF1-8174F619D3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A42F05-69CF-8E47-CBEA-C74294C54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3" y="5691"/>
            <a:ext cx="12168996" cy="908620"/>
          </a:xfrm>
        </p:spPr>
        <p:txBody>
          <a:bodyPr>
            <a:normAutofit/>
          </a:bodyPr>
          <a:lstStyle/>
          <a:p>
            <a:r>
              <a:rPr lang="en-US" dirty="0">
                <a:cs typeface="Calibri Light"/>
              </a:rPr>
              <a:t>Sampling from a population (distribution)</a:t>
            </a:r>
            <a:endParaRPr lang="en-US" dirty="0"/>
          </a:p>
        </p:txBody>
      </p:sp>
      <p:pic>
        <p:nvPicPr>
          <p:cNvPr id="4" name="Picture 3" descr="30+ bird silhouettes in a dotted box called 'population'. Within this, four birds are in a grey box called 'sample'.">
            <a:extLst>
              <a:ext uri="{FF2B5EF4-FFF2-40B4-BE49-F238E27FC236}">
                <a16:creationId xmlns:a16="http://schemas.microsoft.com/office/drawing/2014/main" id="{698ABBFE-BC3A-50C9-075F-CD110AAF14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0621" y="646981"/>
            <a:ext cx="8132533" cy="5750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43369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CBF764-7B4A-DB0A-4F3B-5BABC709D5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CF4A7-D94B-EDC6-5331-9A3733B4E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3" y="5691"/>
            <a:ext cx="12168996" cy="908620"/>
          </a:xfrm>
        </p:spPr>
        <p:txBody>
          <a:bodyPr>
            <a:normAutofit/>
          </a:bodyPr>
          <a:lstStyle/>
          <a:p>
            <a:r>
              <a:rPr lang="en-US" dirty="0">
                <a:cs typeface="Calibri Light"/>
              </a:rPr>
              <a:t>Consider the distribution of a sample of N = 40</a:t>
            </a:r>
            <a:endParaRPr lang="en-US" dirty="0"/>
          </a:p>
        </p:txBody>
      </p:sp>
      <p:pic>
        <p:nvPicPr>
          <p:cNvPr id="4" name="Picture 3" descr="40 bird silhouettes in a grey box called 'sample'.">
            <a:extLst>
              <a:ext uri="{FF2B5EF4-FFF2-40B4-BE49-F238E27FC236}">
                <a16:creationId xmlns:a16="http://schemas.microsoft.com/office/drawing/2014/main" id="{7109D6F1-7516-1A01-2A96-D5EA90B1C4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0621" y="856049"/>
            <a:ext cx="8132533" cy="5332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4622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60EAB7-90B5-AA9D-7B36-0B35DDAAD5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9F9E3E-FF7B-55BD-FD9A-D6F1601444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3" y="5691"/>
            <a:ext cx="12154618" cy="922997"/>
          </a:xfrm>
        </p:spPr>
        <p:txBody>
          <a:bodyPr>
            <a:normAutofit/>
          </a:bodyPr>
          <a:lstStyle/>
          <a:p>
            <a:r>
              <a:rPr lang="en-US" dirty="0">
                <a:cs typeface="Calibri Light"/>
              </a:rPr>
              <a:t>Consider the distribution of a sample of N = 40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48C63F-09E6-85C7-9EF2-D4E05E7C04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4" y="6124455"/>
            <a:ext cx="11780806" cy="713867"/>
          </a:xfrm>
        </p:spPr>
        <p:txBody>
          <a:bodyPr vert="horz" lIns="91440" tIns="45720" rIns="91440" bIns="45720" rtlCol="0" anchor="t">
            <a:normAutofit fontScale="70000" lnSpcReduction="20000"/>
          </a:bodyPr>
          <a:lstStyle/>
          <a:p>
            <a:pPr marL="0" indent="0">
              <a:buNone/>
            </a:pPr>
            <a:r>
              <a:rPr lang="en-US" sz="5400">
                <a:ea typeface="+mn-lt"/>
                <a:cs typeface="+mn-lt"/>
              </a:rPr>
              <a:t>Figure 1: Distribution of a sample of bird wing length (cm)</a:t>
            </a:r>
            <a:endParaRPr lang="en-US"/>
          </a:p>
        </p:txBody>
      </p:sp>
      <p:pic>
        <p:nvPicPr>
          <p:cNvPr id="4" name="Picture 3" descr="Histogram of wing length (cm) with peaks at 5.5 and 8.5.">
            <a:extLst>
              <a:ext uri="{FF2B5EF4-FFF2-40B4-BE49-F238E27FC236}">
                <a16:creationId xmlns:a16="http://schemas.microsoft.com/office/drawing/2014/main" id="{7E65F4ED-79C9-591E-5BD4-2EE9EA66CE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5099" y="1143939"/>
            <a:ext cx="6833613" cy="4555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40994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19F3CD-499D-96D9-ED4A-D013739989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05862E-D9A7-3921-FDA7-A5E862D29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3" y="5691"/>
            <a:ext cx="12182850" cy="700802"/>
          </a:xfrm>
        </p:spPr>
        <p:txBody>
          <a:bodyPr>
            <a:noAutofit/>
          </a:bodyPr>
          <a:lstStyle/>
          <a:p>
            <a:r>
              <a:rPr lang="en-US" sz="3600" dirty="0">
                <a:cs typeface="Calibri Light"/>
              </a:rPr>
              <a:t>Sample means always distributed normally around true mean</a:t>
            </a:r>
            <a:endParaRPr lang="en-US" sz="3600" dirty="0"/>
          </a:p>
        </p:txBody>
      </p:sp>
      <p:pic>
        <p:nvPicPr>
          <p:cNvPr id="4" name="Picture 3" descr="Four grey boxes with 40 bird silhouettes each, and boxes indicating a sample mean for each of 6.59, 7.45, 7.03, and 6.5.">
            <a:extLst>
              <a:ext uri="{FF2B5EF4-FFF2-40B4-BE49-F238E27FC236}">
                <a16:creationId xmlns:a16="http://schemas.microsoft.com/office/drawing/2014/main" id="{78577237-11F6-6AD6-EF57-8FD0B5CA66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7666" y="717504"/>
            <a:ext cx="7630296" cy="6136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57833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B206EB-E7CB-597C-A03B-CCB5EDA1FF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60D7F4-9D2F-890C-0B1F-E3A432A05B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3" y="5691"/>
            <a:ext cx="12168996" cy="908620"/>
          </a:xfrm>
        </p:spPr>
        <p:txBody>
          <a:bodyPr>
            <a:normAutofit/>
          </a:bodyPr>
          <a:lstStyle/>
          <a:p>
            <a:r>
              <a:rPr lang="en-US" sz="3600" dirty="0">
                <a:cs typeface="Calibri Light"/>
              </a:rPr>
              <a:t>Sample means always distributed normally around true mean</a:t>
            </a:r>
          </a:p>
        </p:txBody>
      </p:sp>
      <p:pic>
        <p:nvPicPr>
          <p:cNvPr id="3" name="Picture 2" descr="Grey boxes each with 4 birds representing samples with different mean wing lengths (cm)">
            <a:extLst>
              <a:ext uri="{FF2B5EF4-FFF2-40B4-BE49-F238E27FC236}">
                <a16:creationId xmlns:a16="http://schemas.microsoft.com/office/drawing/2014/main" id="{E9134F1A-BFBC-E431-B3D0-C01937CE16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5801" y="811080"/>
            <a:ext cx="8117031" cy="4703617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E591DF8-FF7A-6EB8-88AF-6DD58BDD8E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4" y="6124455"/>
            <a:ext cx="11780806" cy="713867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en-US" sz="5400" dirty="0">
                <a:ea typeface="+mn-lt"/>
                <a:cs typeface="+mn-lt"/>
              </a:rPr>
              <a:t>What if we had 1000 sample means?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00081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276EF8-C4FE-3B09-78F8-970560C889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59C04B-3359-2962-3DE2-A1B15D1E3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3" y="5691"/>
            <a:ext cx="12168996" cy="908620"/>
          </a:xfrm>
        </p:spPr>
        <p:txBody>
          <a:bodyPr>
            <a:normAutofit/>
          </a:bodyPr>
          <a:lstStyle/>
          <a:p>
            <a:r>
              <a:rPr lang="en-US" sz="3600" dirty="0">
                <a:cs typeface="Calibri Light"/>
              </a:rPr>
              <a:t>Sample means always distributed normally around true mean</a:t>
            </a:r>
          </a:p>
        </p:txBody>
      </p:sp>
      <p:pic>
        <p:nvPicPr>
          <p:cNvPr id="3" name="Picture 2" descr="Blue histogram (frequency) with normally distributed sample mean of wing length (cm) and population mean indicated at 7 with an arrow.">
            <a:extLst>
              <a:ext uri="{FF2B5EF4-FFF2-40B4-BE49-F238E27FC236}">
                <a16:creationId xmlns:a16="http://schemas.microsoft.com/office/drawing/2014/main" id="{24767776-8690-63AD-752C-F7A25E60A7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9604" y="811080"/>
            <a:ext cx="6829425" cy="4703617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BC2F192-6722-5A16-58E5-296C583055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4" y="6124455"/>
            <a:ext cx="11780806" cy="713867"/>
          </a:xfrm>
        </p:spPr>
        <p:txBody>
          <a:bodyPr vert="horz" lIns="91440" tIns="45720" rIns="91440" bIns="45720" rtlCol="0" anchor="t">
            <a:normAutofit fontScale="47500" lnSpcReduction="20000"/>
          </a:bodyPr>
          <a:lstStyle/>
          <a:p>
            <a:pPr marL="0" indent="0">
              <a:buNone/>
            </a:pPr>
            <a:r>
              <a:rPr lang="en-US" sz="5400" dirty="0">
                <a:ea typeface="+mn-lt"/>
                <a:cs typeface="+mn-lt"/>
              </a:rPr>
              <a:t>Figure 2: Distribution of the mean of bird wing length (cm) samples (N = 40), with sampling repeated 1000 times.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48483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043C6E-015A-5FCF-736C-364181290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A62F5-4024-EC10-0363-424008D38F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3" y="5691"/>
            <a:ext cx="12168996" cy="908620"/>
          </a:xfrm>
        </p:spPr>
        <p:txBody>
          <a:bodyPr>
            <a:normAutofit/>
          </a:bodyPr>
          <a:lstStyle/>
          <a:p>
            <a:r>
              <a:rPr lang="en-US" sz="3600" dirty="0">
                <a:cs typeface="Calibri Light"/>
              </a:rPr>
              <a:t>Sample means always distributed normally around true mean</a:t>
            </a:r>
          </a:p>
        </p:txBody>
      </p:sp>
      <p:pic>
        <p:nvPicPr>
          <p:cNvPr id="3" name="Picture 2" descr="Blue histogram (density) with normally distributed sample mean of wing length (cm) and population mean indicated at 7 with an arrow.">
            <a:extLst>
              <a:ext uri="{FF2B5EF4-FFF2-40B4-BE49-F238E27FC236}">
                <a16:creationId xmlns:a16="http://schemas.microsoft.com/office/drawing/2014/main" id="{6A1C3260-0AA5-01A8-157B-ADDE498F5F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9604" y="924910"/>
            <a:ext cx="7189643" cy="4669920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BE1924E-01DB-900C-8274-C1FBE439C4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4" y="6124455"/>
            <a:ext cx="11780806" cy="713867"/>
          </a:xfrm>
        </p:spPr>
        <p:txBody>
          <a:bodyPr vert="horz" lIns="91440" tIns="45720" rIns="91440" bIns="45720" rtlCol="0" anchor="t">
            <a:normAutofit fontScale="47500" lnSpcReduction="20000"/>
          </a:bodyPr>
          <a:lstStyle/>
          <a:p>
            <a:pPr marL="0" indent="0">
              <a:buNone/>
            </a:pPr>
            <a:r>
              <a:rPr lang="en-US" sz="5400" dirty="0">
                <a:ea typeface="+mn-lt"/>
                <a:cs typeface="+mn-lt"/>
              </a:rPr>
              <a:t>Figure 3: Distribution of the mean of bird wing length (cm) samples (N = 40), with sampling repeated 1000 times.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51625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26179F-E143-7C61-F59E-06132052CE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081390-3846-35D1-577C-54B6FDA0B6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3" y="5691"/>
            <a:ext cx="12168996" cy="908620"/>
          </a:xfrm>
        </p:spPr>
        <p:txBody>
          <a:bodyPr>
            <a:normAutofit/>
          </a:bodyPr>
          <a:lstStyle/>
          <a:p>
            <a:r>
              <a:rPr lang="en-US" sz="3600" dirty="0">
                <a:cs typeface="Calibri Light"/>
              </a:rPr>
              <a:t>Sample means always distributed normally around true mean</a:t>
            </a:r>
          </a:p>
        </p:txBody>
      </p:sp>
      <p:pic>
        <p:nvPicPr>
          <p:cNvPr id="3" name="Picture 2" descr="Blue histogram (density) with normally distributed sample mean of wing length (cm) and population mean indicated at 7 with an arrow. A red curve follows a normal distribution.">
            <a:extLst>
              <a:ext uri="{FF2B5EF4-FFF2-40B4-BE49-F238E27FC236}">
                <a16:creationId xmlns:a16="http://schemas.microsoft.com/office/drawing/2014/main" id="{0D2CE1A4-D056-76C7-B949-33D21408C7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7385" y="924910"/>
            <a:ext cx="7174080" cy="4669920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A842391-7E04-F80D-C097-239AF87E41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4" y="6124455"/>
            <a:ext cx="11780806" cy="713867"/>
          </a:xfrm>
        </p:spPr>
        <p:txBody>
          <a:bodyPr vert="horz" lIns="91440" tIns="45720" rIns="91440" bIns="45720" rtlCol="0" anchor="t">
            <a:normAutofit fontScale="47500" lnSpcReduction="20000"/>
          </a:bodyPr>
          <a:lstStyle/>
          <a:p>
            <a:pPr marL="0" indent="0">
              <a:buNone/>
            </a:pPr>
            <a:r>
              <a:rPr lang="en-US" sz="5400" dirty="0">
                <a:ea typeface="+mn-lt"/>
                <a:cs typeface="+mn-lt"/>
              </a:rPr>
              <a:t>Figure 4: Distribution of the mean of bird wing length (cm) samples (N = 40), with sampling repeated 1000 times.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19209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F548E0-1B90-456B-E73A-69E0C2922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A075AE-2443-3373-B47D-6BF6FBEF2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3" y="5691"/>
            <a:ext cx="12192000" cy="922997"/>
          </a:xfrm>
        </p:spPr>
        <p:txBody>
          <a:bodyPr>
            <a:normAutofit/>
          </a:bodyPr>
          <a:lstStyle/>
          <a:p>
            <a:r>
              <a:rPr lang="en-US" sz="3600" dirty="0">
                <a:cs typeface="Calibri Light"/>
              </a:rPr>
              <a:t>Sample means always distributed normally around true mean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A4AAE3-E744-FB91-2C55-92F85FE3D0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5597" y="1063625"/>
            <a:ext cx="11780806" cy="5616545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685800" indent="-685800"/>
            <a:r>
              <a:rPr lang="en-US" sz="6600" dirty="0">
                <a:ea typeface="Calibri"/>
                <a:cs typeface="Calibri"/>
              </a:rPr>
              <a:t>Distribution of sample means gets closer to the population mean with increasing N</a:t>
            </a:r>
          </a:p>
          <a:p>
            <a:pPr marL="685800" indent="-685800"/>
            <a:r>
              <a:rPr lang="en-US" sz="6600" dirty="0">
                <a:ea typeface="Calibri"/>
                <a:cs typeface="Calibri"/>
              </a:rPr>
              <a:t>Can demonstrate this ourselves with simulated data</a:t>
            </a:r>
          </a:p>
        </p:txBody>
      </p:sp>
    </p:spTree>
    <p:extLst>
      <p:ext uri="{BB962C8B-B14F-4D97-AF65-F5344CB8AC3E}">
        <p14:creationId xmlns:p14="http://schemas.microsoft.com/office/powerpoint/2010/main" val="2529808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FA8167-683F-E739-4CCC-D375698FF2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7FA41F-C19B-A66D-817E-195BF0A5F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3" y="5691"/>
            <a:ext cx="12192000" cy="922997"/>
          </a:xfrm>
        </p:spPr>
        <p:txBody>
          <a:bodyPr>
            <a:normAutofit/>
          </a:bodyPr>
          <a:lstStyle/>
          <a:p>
            <a:r>
              <a:rPr lang="en-US" sz="3600" dirty="0">
                <a:cs typeface="Calibri Light"/>
              </a:rPr>
              <a:t>Sample means always distributed normally around true mean</a:t>
            </a:r>
          </a:p>
        </p:txBody>
      </p:sp>
      <p:pic>
        <p:nvPicPr>
          <p:cNvPr id="3" name="Picture 2" descr="A two panel figure, the first shows a barplot is shown with 11 bars corresponding to the probability of sampling 0-10 from a Poisson distribution with a rate parameter of 1. The second panel shows a normal distribution with data comprised of means sampled from the first panel.">
            <a:extLst>
              <a:ext uri="{FF2B5EF4-FFF2-40B4-BE49-F238E27FC236}">
                <a16:creationId xmlns:a16="http://schemas.microsoft.com/office/drawing/2014/main" id="{834F2EF2-17C7-2FD4-9326-EAD13A95A3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5046" y="928254"/>
            <a:ext cx="8539691" cy="5929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07081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25F728-931B-1277-6134-70AD858122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BD7B81-0C7A-1710-7F6F-83FFD6D214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3" y="5691"/>
            <a:ext cx="12192000" cy="922997"/>
          </a:xfrm>
        </p:spPr>
        <p:txBody>
          <a:bodyPr>
            <a:normAutofit/>
          </a:bodyPr>
          <a:lstStyle/>
          <a:p>
            <a:r>
              <a:rPr lang="en-US" sz="3600" dirty="0">
                <a:cs typeface="Calibri Light"/>
              </a:rPr>
              <a:t>Sample means always distributed normally around true mean</a:t>
            </a:r>
          </a:p>
        </p:txBody>
      </p:sp>
      <p:pic>
        <p:nvPicPr>
          <p:cNvPr id="3" name="Picture 2" descr="A two panel figure, the first shows a uniform probability distribution with a minimum of 1 and a maximum of 2.5. The second panel shows a normal distribution with data comprised of means sampled from the first panel">
            <a:extLst>
              <a:ext uri="{FF2B5EF4-FFF2-40B4-BE49-F238E27FC236}">
                <a16:creationId xmlns:a16="http://schemas.microsoft.com/office/drawing/2014/main" id="{C3FA6DDF-89BB-8886-4BDA-78F090EF3D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5046" y="959169"/>
            <a:ext cx="8539691" cy="5867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21841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6D8164-B983-86C0-2A42-BE40F81C10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EB0134-E6B5-F176-ED9D-28008430C2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3" y="5691"/>
            <a:ext cx="12192000" cy="922997"/>
          </a:xfrm>
        </p:spPr>
        <p:txBody>
          <a:bodyPr>
            <a:normAutofit/>
          </a:bodyPr>
          <a:lstStyle/>
          <a:p>
            <a:r>
              <a:rPr lang="en-US" sz="3600" dirty="0">
                <a:cs typeface="Calibri Light"/>
              </a:rPr>
              <a:t>Probability density and the normal distribution</a:t>
            </a:r>
            <a:endParaRPr lang="en-US" dirty="0"/>
          </a:p>
        </p:txBody>
      </p:sp>
      <p:pic>
        <p:nvPicPr>
          <p:cNvPr id="3" name="Picture 2" descr="A plot of a bell curve, with a range of the curve shaded in blue between negative sigma and positive sigma, symmetrical around the peak of the curve.">
            <a:extLst>
              <a:ext uri="{FF2B5EF4-FFF2-40B4-BE49-F238E27FC236}">
                <a16:creationId xmlns:a16="http://schemas.microsoft.com/office/drawing/2014/main" id="{E90C44FC-8930-D1E2-FB98-7688F9BB27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5046" y="1052085"/>
            <a:ext cx="8539691" cy="5682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37027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E270C8-52FD-1FE7-4D95-BF41D1BD96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44B2E-3E8F-4544-CE6D-EFEACEA744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3" y="5691"/>
            <a:ext cx="12192000" cy="922997"/>
          </a:xfrm>
        </p:spPr>
        <p:txBody>
          <a:bodyPr>
            <a:normAutofit/>
          </a:bodyPr>
          <a:lstStyle/>
          <a:p>
            <a:r>
              <a:rPr lang="en-US" sz="3600" dirty="0">
                <a:cs typeface="Calibri Light"/>
              </a:rPr>
              <a:t>Probability density and the normal distribution</a:t>
            </a:r>
            <a:endParaRPr lang="en-US" dirty="0"/>
          </a:p>
        </p:txBody>
      </p:sp>
      <p:pic>
        <p:nvPicPr>
          <p:cNvPr id="3" name="Picture 2" descr="A plot of a bell curve, with the curve shaded in blue from the left to a value of 1.5 standard deviations greater than the mean.">
            <a:extLst>
              <a:ext uri="{FF2B5EF4-FFF2-40B4-BE49-F238E27FC236}">
                <a16:creationId xmlns:a16="http://schemas.microsoft.com/office/drawing/2014/main" id="{CF1BE2B9-02B3-975E-838E-2F39AEC4C2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5991" y="1071440"/>
            <a:ext cx="8539691" cy="5671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21660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584F86-C7C0-E811-FFEA-4CBAB680DA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842290-2314-DD36-B116-C4FC9D7A23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3" y="5691"/>
            <a:ext cx="10515600" cy="922997"/>
          </a:xfrm>
        </p:spPr>
        <p:txBody>
          <a:bodyPr/>
          <a:lstStyle/>
          <a:p>
            <a:r>
              <a:rPr lang="en-US" dirty="0">
                <a:cs typeface="Calibri Light"/>
              </a:rPr>
              <a:t>Standard normal distribution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418E28-CBFA-4F50-8A62-18495B2474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5597" y="1063625"/>
            <a:ext cx="11780806" cy="561654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685800" indent="-685800"/>
            <a:r>
              <a:rPr lang="en-US" sz="5400" dirty="0">
                <a:ea typeface="Calibri"/>
                <a:cs typeface="Calibri"/>
              </a:rPr>
              <a:t>Need some standard values of x to work </a:t>
            </a:r>
            <a:r>
              <a:rPr lang="en-US" sz="5400">
                <a:ea typeface="Calibri"/>
                <a:cs typeface="Calibri"/>
              </a:rPr>
              <a:t>out probability</a:t>
            </a:r>
            <a:endParaRPr lang="en-US" sz="5400" dirty="0">
              <a:ea typeface="Calibri"/>
              <a:cs typeface="Calibri"/>
            </a:endParaRPr>
          </a:p>
          <a:p>
            <a:pPr marL="685800" indent="-685800"/>
            <a:r>
              <a:rPr lang="en-US" sz="5400">
                <a:ea typeface="Calibri"/>
                <a:cs typeface="Calibri"/>
              </a:rPr>
              <a:t>Standard normal distribution</a:t>
            </a:r>
          </a:p>
          <a:p>
            <a:pPr marL="1143000" lvl="1" indent="-685800">
              <a:buFont typeface="Courier New" panose="020B0604020202020204" pitchFamily="34" charset="0"/>
              <a:buChar char="o"/>
            </a:pPr>
            <a:r>
              <a:rPr lang="en-US" sz="5000" dirty="0">
                <a:ea typeface="Calibri"/>
                <a:cs typeface="Calibri"/>
              </a:rPr>
              <a:t>Mean (</a:t>
            </a:r>
            <a:r>
              <a:rPr lang="en-US" sz="5000">
                <a:ea typeface="+mn-lt"/>
                <a:cs typeface="+mn-lt"/>
              </a:rPr>
              <a:t>x̄) = 0</a:t>
            </a:r>
          </a:p>
          <a:p>
            <a:pPr marL="1143000" lvl="1" indent="-685800">
              <a:buFont typeface="Courier New" panose="020B0604020202020204" pitchFamily="34" charset="0"/>
              <a:buChar char="o"/>
            </a:pPr>
            <a:r>
              <a:rPr lang="en-US" sz="5000">
                <a:ea typeface="Calibri"/>
                <a:cs typeface="Calibri"/>
              </a:rPr>
              <a:t>Standard deviation (s) = 1</a:t>
            </a:r>
            <a:endParaRPr lang="en-US" sz="5000" dirty="0">
              <a:ea typeface="Calibri"/>
              <a:cs typeface="Calibri"/>
            </a:endParaRPr>
          </a:p>
          <a:p>
            <a:pPr marL="685800" indent="-685800"/>
            <a:r>
              <a:rPr lang="en-US" sz="5400">
                <a:ea typeface="Calibri"/>
                <a:cs typeface="Calibri"/>
              </a:rPr>
              <a:t>Baseline for comparison</a:t>
            </a:r>
            <a:endParaRPr lang="en-US" sz="540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840443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F796EE-1379-92DA-A95E-F6D356FA51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B9EA47-7D1A-D057-3789-CD3F614489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3" y="5691"/>
            <a:ext cx="12192000" cy="922997"/>
          </a:xfrm>
        </p:spPr>
        <p:txBody>
          <a:bodyPr>
            <a:normAutofit/>
          </a:bodyPr>
          <a:lstStyle/>
          <a:p>
            <a:r>
              <a:rPr lang="en-US" sz="3600" dirty="0">
                <a:cs typeface="Calibri Light"/>
              </a:rPr>
              <a:t>Standard normal distribution</a:t>
            </a:r>
            <a:endParaRPr lang="en-US" dirty="0"/>
          </a:p>
        </p:txBody>
      </p:sp>
      <p:pic>
        <p:nvPicPr>
          <p:cNvPr id="3" name="Picture 2" descr="A plot of a bell curve, with the curve shaded in blue with 'z-score' on the x-axis.">
            <a:extLst>
              <a:ext uri="{FF2B5EF4-FFF2-40B4-BE49-F238E27FC236}">
                <a16:creationId xmlns:a16="http://schemas.microsoft.com/office/drawing/2014/main" id="{185F8FC1-5B74-3D2E-9846-72F3C17213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2136" y="792787"/>
            <a:ext cx="8539691" cy="5563369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01B90AD-A4DB-A4EE-A861-0E8018EFDD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4" y="6455134"/>
            <a:ext cx="11708920" cy="397565"/>
          </a:xfrm>
        </p:spPr>
        <p:txBody>
          <a:bodyPr vert="horz" lIns="91440" tIns="45720" rIns="91440" bIns="45720" rtlCol="0" anchor="t">
            <a:normAutofit fontScale="47500" lnSpcReduction="20000"/>
          </a:bodyPr>
          <a:lstStyle/>
          <a:p>
            <a:pPr marL="0" indent="0">
              <a:buNone/>
            </a:pPr>
            <a:r>
              <a:rPr lang="en-US" sz="5400" dirty="0">
                <a:ea typeface="+mn-lt"/>
                <a:cs typeface="+mn-lt"/>
                <a:hlinkClick r:id="rId3"/>
              </a:rPr>
              <a:t>https://bradduthie.github.io/stats/app/zandp/</a:t>
            </a:r>
            <a:r>
              <a:rPr lang="en-US" sz="5400" dirty="0">
                <a:ea typeface="+mn-lt"/>
                <a:cs typeface="+mn-lt"/>
              </a:rPr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10560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CC6738-B05A-CFB5-D548-0398CA12D1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32E055-EC4E-680A-C7BC-EAC235D31C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3" y="5691"/>
            <a:ext cx="10515600" cy="922997"/>
          </a:xfrm>
        </p:spPr>
        <p:txBody>
          <a:bodyPr/>
          <a:lstStyle/>
          <a:p>
            <a:r>
              <a:rPr lang="en-US" dirty="0">
                <a:cs typeface="Calibri Light"/>
              </a:rPr>
              <a:t>Standard normal distribution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B9ECA8-1CA1-424F-17B9-8B15813247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5597" y="1237414"/>
            <a:ext cx="11780806" cy="561654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685800" indent="-685800"/>
            <a:r>
              <a:rPr lang="en-US" sz="7200" dirty="0">
                <a:ea typeface="Calibri"/>
                <a:cs typeface="Calibri"/>
              </a:rPr>
              <a:t>z-score: deviation from 0</a:t>
            </a:r>
          </a:p>
          <a:p>
            <a:pPr marL="685800" indent="-685800"/>
            <a:r>
              <a:rPr lang="en-US" sz="7200">
                <a:ea typeface="Calibri"/>
                <a:cs typeface="Calibri"/>
              </a:rPr>
              <a:t>Work out probability density</a:t>
            </a:r>
            <a:endParaRPr lang="en-US" sz="7200" dirty="0">
              <a:ea typeface="Calibri"/>
              <a:cs typeface="Calibri"/>
            </a:endParaRPr>
          </a:p>
          <a:p>
            <a:pPr marL="685800" indent="-685800"/>
            <a:r>
              <a:rPr lang="en-US" sz="7200" dirty="0">
                <a:ea typeface="Calibri"/>
                <a:cs typeface="Calibri"/>
              </a:rPr>
              <a:t>Basis for confidence intervals</a:t>
            </a:r>
          </a:p>
          <a:p>
            <a:pPr marL="685800" indent="-685800"/>
            <a:r>
              <a:rPr lang="en-US" sz="7200" dirty="0">
                <a:ea typeface="Calibri"/>
                <a:cs typeface="Calibri"/>
              </a:rPr>
              <a:t>Critical for hypothesis testing</a:t>
            </a:r>
          </a:p>
        </p:txBody>
      </p:sp>
    </p:spTree>
    <p:extLst>
      <p:ext uri="{BB962C8B-B14F-4D97-AF65-F5344CB8AC3E}">
        <p14:creationId xmlns:p14="http://schemas.microsoft.com/office/powerpoint/2010/main" val="42521993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09D99B-3E4A-E068-C125-C0A46BFF70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BB1B0F-D9F0-B12F-85DD-2109DB7C23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3" y="5691"/>
            <a:ext cx="12173284" cy="922997"/>
          </a:xfrm>
        </p:spPr>
        <p:txBody>
          <a:bodyPr>
            <a:normAutofit fontScale="90000"/>
          </a:bodyPr>
          <a:lstStyle/>
          <a:p>
            <a:r>
              <a:rPr lang="en-US" dirty="0">
                <a:cs typeface="Calibri Light"/>
              </a:rPr>
              <a:t>Translating a variable into a standard normal distribution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145098-38EE-B7AA-44C0-5E4E3474CB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5597" y="1237414"/>
            <a:ext cx="11780806" cy="561654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685800" indent="-685800"/>
            <a:r>
              <a:rPr lang="en-US" sz="7200" dirty="0">
                <a:ea typeface="Calibri"/>
                <a:cs typeface="Calibri"/>
              </a:rPr>
              <a:t>Subtract mean</a:t>
            </a:r>
          </a:p>
          <a:p>
            <a:pPr marL="685800" indent="-685800"/>
            <a:r>
              <a:rPr lang="en-US" sz="7200" dirty="0">
                <a:ea typeface="Calibri"/>
                <a:cs typeface="Calibri"/>
              </a:rPr>
              <a:t>Divide by standard deviation</a:t>
            </a:r>
          </a:p>
          <a:p>
            <a:pPr marL="685800" indent="-685800"/>
            <a:endParaRPr lang="en-US" sz="7200" dirty="0">
              <a:ea typeface="Calibri"/>
              <a:cs typeface="Calibri"/>
            </a:endParaRPr>
          </a:p>
          <a:p>
            <a:pPr marL="685800" indent="-685800"/>
            <a:endParaRPr lang="en-US" sz="7200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7200" dirty="0">
                <a:ea typeface="Calibri"/>
                <a:cs typeface="Calibri"/>
              </a:rPr>
              <a:t>Can turn x-values into z-scores</a:t>
            </a:r>
          </a:p>
          <a:p>
            <a:pPr marL="685800" indent="-685800"/>
            <a:endParaRPr lang="en-US" sz="7200" dirty="0">
              <a:ea typeface="Calibri"/>
              <a:cs typeface="Calibri"/>
            </a:endParaRPr>
          </a:p>
        </p:txBody>
      </p:sp>
      <p:pic>
        <p:nvPicPr>
          <p:cNvPr id="4" name="Picture 3" descr="Equation z equals x minu xbar divided by s.">
            <a:extLst>
              <a:ext uri="{FF2B5EF4-FFF2-40B4-BE49-F238E27FC236}">
                <a16:creationId xmlns:a16="http://schemas.microsoft.com/office/drawing/2014/main" id="{70F4180C-B817-E019-45D6-9EE24F0BDF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4516" y="3525420"/>
            <a:ext cx="3708233" cy="2106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45441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AFA552-98BF-31EA-AB74-4D82A84CF2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B2DACF-2DBA-72DE-23D8-F3F1A565B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3" y="5691"/>
            <a:ext cx="10515600" cy="922997"/>
          </a:xfrm>
        </p:spPr>
        <p:txBody>
          <a:bodyPr/>
          <a:lstStyle/>
          <a:p>
            <a:r>
              <a:rPr lang="en-US" dirty="0">
                <a:cs typeface="Calibri Light"/>
              </a:rPr>
              <a:t>Turning a value into z-score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D0E6C4-91CF-87D1-55D5-D092279C1A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4840" y="5616455"/>
            <a:ext cx="11780806" cy="728244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US" sz="5400" dirty="0">
                <a:ea typeface="+mn-lt"/>
                <a:cs typeface="+mn-lt"/>
              </a:rPr>
              <a:t>N = 26              x̄ = 7.789             s = 0.4124844</a:t>
            </a:r>
            <a:endParaRPr lang="en-US" dirty="0"/>
          </a:p>
        </p:txBody>
      </p:sp>
      <p:pic>
        <p:nvPicPr>
          <p:cNvPr id="5" name="Picture 4" descr="Histogram showing annual mean temperature in Scotland (degrees C), a mostly normal distribution.">
            <a:extLst>
              <a:ext uri="{FF2B5EF4-FFF2-40B4-BE49-F238E27FC236}">
                <a16:creationId xmlns:a16="http://schemas.microsoft.com/office/drawing/2014/main" id="{538E3935-2B03-9E17-13DD-355AB4354A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1908" y="811791"/>
            <a:ext cx="7539427" cy="4524877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63E2060-9E39-B03C-7673-12EAEA9AD3C9}"/>
              </a:ext>
            </a:extLst>
          </p:cNvPr>
          <p:cNvSpPr txBox="1">
            <a:spLocks/>
          </p:cNvSpPr>
          <p:nvPr/>
        </p:nvSpPr>
        <p:spPr>
          <a:xfrm>
            <a:off x="9661" y="6357066"/>
            <a:ext cx="11794174" cy="500981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3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5400">
                <a:ea typeface="+mn-lt"/>
                <a:cs typeface="+mn-lt"/>
              </a:rPr>
              <a:t>Met Office. (July 1, 2021). Annual mean temperature in Scotland from 1995 to 2020. In Statista. Retrieved February 10, 2026, from </a:t>
            </a:r>
            <a:r>
              <a:rPr lang="en-US" sz="5400" dirty="0">
                <a:ea typeface="+mn-lt"/>
                <a:cs typeface="+mn-lt"/>
                <a:hlinkClick r:id="rId3"/>
              </a:rPr>
              <a:t>https://www.statista.com/statistics/367853/scotland-average-temperature/</a:t>
            </a:r>
            <a:r>
              <a:rPr lang="en-US" sz="5400" dirty="0">
                <a:ea typeface="+mn-lt"/>
                <a:cs typeface="+mn-lt"/>
              </a:rPr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41730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D3702C-6D3A-E15F-C6F0-500D7D47A1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75795B-ED7C-2F50-4203-2B83E46CA9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3" y="5691"/>
            <a:ext cx="10515600" cy="922997"/>
          </a:xfrm>
        </p:spPr>
        <p:txBody>
          <a:bodyPr/>
          <a:lstStyle/>
          <a:p>
            <a:r>
              <a:rPr lang="en-US" dirty="0">
                <a:cs typeface="Calibri Light"/>
              </a:rPr>
              <a:t>Turning a value into z-score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E72F43-D734-4043-8591-E2BDD45B29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4840" y="5616455"/>
            <a:ext cx="11780806" cy="728244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US" sz="5400" dirty="0">
                <a:ea typeface="+mn-lt"/>
                <a:cs typeface="+mn-lt"/>
              </a:rPr>
              <a:t>N = 26              x̄ = 7.789             s = 0.4124844</a:t>
            </a:r>
            <a:endParaRPr lang="en-US" dirty="0"/>
          </a:p>
        </p:txBody>
      </p:sp>
      <p:pic>
        <p:nvPicPr>
          <p:cNvPr id="5" name="Picture 4" descr="Histogram showing annual mean temperature in Scotland (degrees C), a mostly normal distribution. Value 6.54 is pointed out with an arrow.">
            <a:extLst>
              <a:ext uri="{FF2B5EF4-FFF2-40B4-BE49-F238E27FC236}">
                <a16:creationId xmlns:a16="http://schemas.microsoft.com/office/drawing/2014/main" id="{767F08FC-B21A-F2AB-4471-DDDBE8D088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1908" y="815566"/>
            <a:ext cx="7539427" cy="4517327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976DF3E-7186-6A9D-66B7-0B9BA3FC456E}"/>
              </a:ext>
            </a:extLst>
          </p:cNvPr>
          <p:cNvSpPr txBox="1">
            <a:spLocks/>
          </p:cNvSpPr>
          <p:nvPr/>
        </p:nvSpPr>
        <p:spPr>
          <a:xfrm>
            <a:off x="9661" y="6357066"/>
            <a:ext cx="11794174" cy="500981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3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5400">
                <a:ea typeface="+mn-lt"/>
                <a:cs typeface="+mn-lt"/>
              </a:rPr>
              <a:t>Met Office. (July 1, 2021). Annual mean temperature in Scotland from 1995 to 2020. In Statista. Retrieved February 10, 2026, from </a:t>
            </a:r>
            <a:r>
              <a:rPr lang="en-US" sz="5400" dirty="0">
                <a:ea typeface="+mn-lt"/>
                <a:cs typeface="+mn-lt"/>
                <a:hlinkClick r:id="rId3"/>
              </a:rPr>
              <a:t>https://www.statista.com/statistics/367853/scotland-average-temperature/</a:t>
            </a:r>
            <a:r>
              <a:rPr lang="en-US" sz="5400" dirty="0">
                <a:ea typeface="+mn-lt"/>
                <a:cs typeface="+mn-lt"/>
              </a:rPr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96142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A387F4-E320-E539-5125-37EBC0A2CE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E08A36-57BF-EF16-5AA7-B05A37A0D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3" y="5691"/>
            <a:ext cx="12173284" cy="922997"/>
          </a:xfrm>
        </p:spPr>
        <p:txBody>
          <a:bodyPr>
            <a:normAutofit fontScale="90000"/>
          </a:bodyPr>
          <a:lstStyle/>
          <a:p>
            <a:r>
              <a:rPr lang="en-US" dirty="0">
                <a:cs typeface="Calibri Light"/>
              </a:rPr>
              <a:t>Translating a variable into a standard normal distribution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F1AF5F-AAB2-CE81-5A22-7E9A3E75B9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5597" y="1237414"/>
            <a:ext cx="11780806" cy="5616545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685800" indent="-685800"/>
            <a:r>
              <a:rPr lang="en-US" sz="4800" dirty="0">
                <a:ea typeface="Calibri"/>
                <a:cs typeface="Calibri"/>
              </a:rPr>
              <a:t>Subtract mean</a:t>
            </a:r>
          </a:p>
          <a:p>
            <a:pPr marL="685800" indent="-685800"/>
            <a:r>
              <a:rPr lang="en-US" sz="4800" dirty="0">
                <a:ea typeface="Calibri"/>
                <a:cs typeface="Calibri"/>
              </a:rPr>
              <a:t>Divide by standard deviation</a:t>
            </a:r>
          </a:p>
          <a:p>
            <a:pPr marL="0" indent="0">
              <a:buNone/>
            </a:pPr>
            <a:endParaRPr lang="en-US" sz="4800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4800" dirty="0">
                <a:ea typeface="Calibri"/>
                <a:cs typeface="Calibri"/>
              </a:rPr>
              <a:t>z = (6.54 - 7.789)/0.4124844 = -3.03</a:t>
            </a:r>
          </a:p>
          <a:p>
            <a:pPr marL="0" indent="0">
              <a:buNone/>
            </a:pPr>
            <a:endParaRPr lang="en-US" sz="4800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4800" dirty="0">
                <a:ea typeface="Calibri"/>
                <a:cs typeface="Calibri"/>
              </a:rPr>
              <a:t>Over 3 standard deviations below the mean</a:t>
            </a:r>
            <a:endParaRPr lang="en-US" sz="4800"/>
          </a:p>
          <a:p>
            <a:pPr marL="685800" indent="-685800"/>
            <a:endParaRPr lang="en-US" sz="720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752530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A413AB-186F-2A31-35B3-75C1D9DCD0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4C5F92-89A4-FC50-E93C-02F4EB09A7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3" y="5691"/>
            <a:ext cx="10515600" cy="922997"/>
          </a:xfrm>
        </p:spPr>
        <p:txBody>
          <a:bodyPr/>
          <a:lstStyle/>
          <a:p>
            <a:r>
              <a:rPr lang="en-US" dirty="0">
                <a:cs typeface="Calibri Light"/>
              </a:rPr>
              <a:t>Turning a value into z-score</a:t>
            </a:r>
            <a:endParaRPr lang="en-US" dirty="0"/>
          </a:p>
        </p:txBody>
      </p:sp>
      <p:pic>
        <p:nvPicPr>
          <p:cNvPr id="5" name="Picture 4" descr="Histogram centered around 7 showing annual mean temperature in Scotland with an arrow pointing to a curve of a standard normal distribution centered at 0.">
            <a:extLst>
              <a:ext uri="{FF2B5EF4-FFF2-40B4-BE49-F238E27FC236}">
                <a16:creationId xmlns:a16="http://schemas.microsoft.com/office/drawing/2014/main" id="{D13CC2C2-6326-F9C6-E8C4-E574707776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787" y="922513"/>
            <a:ext cx="9569876" cy="5934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69289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4F61B4-A222-088F-F17D-C440D1BCF8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F64461-1929-7BB5-FC95-0C9365152E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3" y="5691"/>
            <a:ext cx="10515600" cy="922997"/>
          </a:xfrm>
        </p:spPr>
        <p:txBody>
          <a:bodyPr/>
          <a:lstStyle/>
          <a:p>
            <a:r>
              <a:rPr lang="en-US" dirty="0">
                <a:cs typeface="Calibri Light"/>
              </a:rPr>
              <a:t>Turning a value into z-score</a:t>
            </a:r>
            <a:endParaRPr lang="en-US" dirty="0"/>
          </a:p>
        </p:txBody>
      </p:sp>
      <p:pic>
        <p:nvPicPr>
          <p:cNvPr id="5" name="Picture 4" descr="Annual mean temperature in Scotland translated into a standard normal distribution with a value (z score) pointed out at -3.03.">
            <a:extLst>
              <a:ext uri="{FF2B5EF4-FFF2-40B4-BE49-F238E27FC236}">
                <a16:creationId xmlns:a16="http://schemas.microsoft.com/office/drawing/2014/main" id="{9DED1CC3-E96E-183C-E9EF-8313F01027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787" y="980678"/>
            <a:ext cx="9569876" cy="5818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864624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46C6DC-8451-2F9B-306E-556359C07E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56E903-9D9E-81B5-D74F-F2B62A0CAC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3" y="5691"/>
            <a:ext cx="10515600" cy="922997"/>
          </a:xfrm>
        </p:spPr>
        <p:txBody>
          <a:bodyPr/>
          <a:lstStyle/>
          <a:p>
            <a:r>
              <a:rPr lang="en-US" dirty="0">
                <a:cs typeface="Calibri Light"/>
              </a:rPr>
              <a:t>Turning a value into z-score</a:t>
            </a:r>
            <a:endParaRPr lang="en-US" dirty="0"/>
          </a:p>
        </p:txBody>
      </p:sp>
      <p:pic>
        <p:nvPicPr>
          <p:cNvPr id="5" name="Picture 4" descr="Two panels, left showing a standard normal distribution in a dotted curve with a normal distribution next to it in blue centered at 5. Right panel shows the blue histogram under the curve of the standard normal distribution.">
            <a:extLst>
              <a:ext uri="{FF2B5EF4-FFF2-40B4-BE49-F238E27FC236}">
                <a16:creationId xmlns:a16="http://schemas.microsoft.com/office/drawing/2014/main" id="{D161428D-1B8A-86A6-3AF0-BD7A2FF55B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3136" y="980678"/>
            <a:ext cx="9123177" cy="5818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535655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3DEC1D-F2A0-C4B0-41A9-B38986705A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946AA1-558E-6BA1-FC0B-F8F7CE78EC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3" y="5691"/>
            <a:ext cx="12168996" cy="922997"/>
          </a:xfrm>
        </p:spPr>
        <p:txBody>
          <a:bodyPr>
            <a:normAutofit fontScale="90000"/>
          </a:bodyPr>
          <a:lstStyle/>
          <a:p>
            <a:r>
              <a:rPr lang="en-US" dirty="0">
                <a:cs typeface="Calibri Light"/>
              </a:rPr>
              <a:t>Exploring distributions in </a:t>
            </a:r>
            <a:r>
              <a:rPr lang="en-US" dirty="0" err="1">
                <a:cs typeface="Calibri Light"/>
              </a:rPr>
              <a:t>jamovi</a:t>
            </a:r>
            <a:r>
              <a:rPr lang="en-US" dirty="0">
                <a:cs typeface="Calibri Light"/>
              </a:rPr>
              <a:t> with </a:t>
            </a:r>
            <a:r>
              <a:rPr lang="en-US" dirty="0" err="1">
                <a:cs typeface="Calibri Light"/>
              </a:rPr>
              <a:t>distrACTION</a:t>
            </a:r>
            <a:r>
              <a:rPr lang="en-US" dirty="0">
                <a:cs typeface="Calibri Light"/>
              </a:rPr>
              <a:t> module</a:t>
            </a:r>
            <a:endParaRPr lang="en-US" dirty="0"/>
          </a:p>
        </p:txBody>
      </p:sp>
      <p:pic>
        <p:nvPicPr>
          <p:cNvPr id="4" name="Picture 3" descr="Screenshot of jamovi interface for the distrACTION module for investigating a standard normal distribution.">
            <a:extLst>
              <a:ext uri="{FF2B5EF4-FFF2-40B4-BE49-F238E27FC236}">
                <a16:creationId xmlns:a16="http://schemas.microsoft.com/office/drawing/2014/main" id="{A4C2FD5D-BD90-B379-0F5E-A6C909E171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92" y="924838"/>
            <a:ext cx="8811887" cy="5698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98795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d6fa6db5-9f3a-4c93-9e38-61059ee07e95}" enabled="1" method="Standard" siteId="{4e8d09f7-cc79-4ccb-9149-a4238dd17422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26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7" baseType="lpstr">
      <vt:lpstr>office theme</vt:lpstr>
      <vt:lpstr>The Central Limit Theorem (CLT)</vt:lpstr>
      <vt:lpstr>Normal distribution</vt:lpstr>
      <vt:lpstr>Sampling from a population (distribution)</vt:lpstr>
      <vt:lpstr>Consider the distribution of a sample of N = 40</vt:lpstr>
      <vt:lpstr>Consider the distribution of a sample of N = 40</vt:lpstr>
      <vt:lpstr>Sample means always distributed normally around true mean</vt:lpstr>
      <vt:lpstr>Sample means always distributed normally around true mean</vt:lpstr>
      <vt:lpstr>Sample means always distributed normally around true mean</vt:lpstr>
      <vt:lpstr>Sample means always distributed normally around true mean</vt:lpstr>
      <vt:lpstr>Sample means always distributed normally around true mean</vt:lpstr>
      <vt:lpstr>Sample means always distributed normally around true mean</vt:lpstr>
      <vt:lpstr>Sample means always distributed normally around true mean</vt:lpstr>
      <vt:lpstr>Sample means always distributed normally around true mean</vt:lpstr>
      <vt:lpstr>Probability density and the normal distribution</vt:lpstr>
      <vt:lpstr>Probability density and the normal distribution</vt:lpstr>
      <vt:lpstr>Standard normal distribution</vt:lpstr>
      <vt:lpstr>Standard normal distribution</vt:lpstr>
      <vt:lpstr>Standard normal distribution</vt:lpstr>
      <vt:lpstr>Translating a variable into a standard normal distribution</vt:lpstr>
      <vt:lpstr>Turning a value into z-score</vt:lpstr>
      <vt:lpstr>Turning a value into z-score</vt:lpstr>
      <vt:lpstr>Translating a variable into a standard normal distribution</vt:lpstr>
      <vt:lpstr>Turning a value into z-score</vt:lpstr>
      <vt:lpstr>Turning a value into z-score</vt:lpstr>
      <vt:lpstr>Turning a value into z-score</vt:lpstr>
      <vt:lpstr>Exploring distributions in jamovi with distrACTION module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/>
  <cp:revision>1951</cp:revision>
  <dcterms:created xsi:type="dcterms:W3CDTF">2023-01-20T14:04:15Z</dcterms:created>
  <dcterms:modified xsi:type="dcterms:W3CDTF">2026-04-18T16:35:13Z</dcterms:modified>
</cp:coreProperties>
</file>